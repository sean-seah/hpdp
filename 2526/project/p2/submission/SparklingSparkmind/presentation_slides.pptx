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Sentiment</c:v>
                </c:pt>
              </c:strCache>
            </c:strRef>
          </c:tx>
          <c:spPr>
            <a:solidFill>
              <a:schemeClr val="accent1"/>
            </a:solidFill>
            <a:ln w="9525" cap="flat">
              <a:solidFill>
                <a:srgbClr val="F9F9F9"/>
              </a:solidFill>
              <a:prstDash val="solid"/>
              <a:round/>
            </a:ln>
            <a:effectLst/>
          </c:spPr>
          <c:dPt>
            <c:idx val="0"/>
            <c:bubble3D val="0"/>
            <c:spPr>
              <a:solidFill>
                <a:srgbClr val="3F9142"/>
              </a:solidFill>
              <a:effectLst/>
            </c:spPr>
          </c:dPt>
          <c:dPt>
            <c:idx val="1"/>
            <c:bubble3D val="0"/>
            <c:spPr>
              <a:solidFill>
                <a:srgbClr val="C0392B"/>
              </a:solidFill>
              <a:effectLst/>
            </c:spPr>
          </c:dPt>
          <c:dPt>
            <c:idx val="2"/>
            <c:bubble3D val="0"/>
            <c:spPr>
              <a:solidFill>
                <a:srgbClr val="8A8F98"/>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Positive (51.49%)</c:v>
                </c:pt>
                <c:pt idx="1">
                  <c:v>Negative (38.66%)</c:v>
                </c:pt>
                <c:pt idx="2">
                  <c:v>Neutral (9.84%)</c:v>
                </c:pt>
              </c:strCache>
            </c:strRef>
          </c:cat>
          <c:val>
            <c:numRef>
              <c:f>Sheet1!$B$2:$B$4</c:f>
              <c:numCache>
                <c:ptCount val="3"/>
                <c:pt idx="0">
                  <c:v>51.49</c:v>
                </c:pt>
                <c:pt idx="1">
                  <c:v>38.66</c:v>
                </c:pt>
                <c:pt idx="2">
                  <c:v>9.84</c:v>
                </c:pt>
              </c:numCache>
            </c:numRef>
          </c:val>
        </c:ser>
        <c:firstSliceAng val="0"/>
      </c:pieChart>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We are Sparkling Sparkmind, and today we're presenting our Project 2 for High Performance Data Processing: a real-time sentiment analysis pipeline built on Apache Kafka and Apache Spark, using Shopee app reviews as our Malaysian-relevant data source. Quick introductions of each member here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the next ten minutes: motivation and objectives, our data and preprocessing, the two sentiment models and how they compared, the Kafka-to-Spark-to-Elasticsearch architecture we built, our results and optimizations, and finally conclusions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Businesses today can't afford to wait days to know how customers feel. We wanted to build a pipeline that classifies sentiment the moment feedback comes in. Our five objectives, shown here, map directly onto the assignment's requirements: build the streaming pipeline, train and compare two models, integrate the model live, store and visualize results, and compare batch versus streaming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1,707 labelled Shopee app reviews as our Malaysian-relevant source, classified into three sentiment classes, split 70-20-10 into training, testing, and validation. Our scope covers the full lifecycle: cleaning, model training and comparison, streaming ingestion and inference, storage, and the batch versus streaming comparison the brief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modelling, every review went through this five-step cleaning pipeline: lowercasing, removing noise like URLs and mentions, tokenizing, removing stopwords, and stemming or lemmatizing. After cleaning, our final dataset broke down to 949 positive, 691 negative, and only 67 neutral reviews out of 1,707 total. That neutral class being under 4 percent turns out to matter a lot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model is a Naive Bayes classifier on TF-IDF features, capped at 5,000 terms, with balanced sample weights to try to help the minority neutral class. It trained almost instantly and hit 76.9 percent accuracy overall, strong on positive and negative, but it completely failed on neutral, 0.00 F1, because there just wasn't enough neutral data for it to learn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model is an LSTM, which reads reviews token by token instead of as a bag of words. We applied class weighting here too, but it overcorrected: neutral recall hit a perfect 1.00, meaning it caught every true neutral review, but precision collapsed to 0.08, meaning it was also calling a lot of negative and positive reviews neutral by mistake. That trade-off dragged overall accuracy down to 50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them side by side, Naive Bayes wins on every metric except neutral F1. That's why we deployed Naive Bayes into our live streaming pipeline, which we'll show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pipeline: Shopee reviews are published to a Kafka topic, Spark Structured Streaming consumes and classifies them in real time using our broadcast Naive Bayes model, results are written to Elasticsearch, and a dashboard surfaces the sentiment trends. All 1,707 reviews moved through this pipeline across 14 micro-batches with zero data loss, which we verified directly against the Elasticsearch document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configuration details worth calling out: on the Kafka side we used acks='all' and retries=3 for reliability, with a small delay between messages to simulate a live stream. On the Spark side we enforced a static schema and capped the ingestion rate to avoid overload. On storage, since the native Elasticsearch connector wasn't compatible with our Spark version on Windows, we built a lightweight custom sink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sentiment split from our deployed Naive Bayes model, pulled straight from the Kibana dashboard, not the ground truth labels. Positive still leads at just over half, negative sits around 39 percent, but neutral came in at almost 10 percent here, noticeably higher than its true 3.9 percent share in the labelled data. That gap is the model reaching for the neutral label more than it should, which ties back to the class imbalance problem we flagged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dashboard also tracks average prediction confidence per class. Positive predictions were the most confident at around 0.70, negative around 0.55, and neutral the least confident at around 0.50, which makes sense since neutral had the least training data. One honest note: because our entire dataset streamed through in about 34 seconds, all the points landed in a single time bucket, so this isn't really a multi-hour trend yet. It would become one if we ran the pipeline continuously instead of as a single replay.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actual Kibana dashboard, combining the sentiment split, the confidence trend, and a live review log that lists individual reviews next to their true label and the model's prediction. One example stood out: a review that roughly translates to cheap can't be used at the shop was actually negative but predicted positive, because the word murah, meaning cheap, is a strong positive signal on its own, and Naive Bayes has no way to see the negative context wrapped around it. Reviews with clear, unambiguous wording were classified correctly, which is consistent with the model's known weakness: it does well on obvious sentiment and struggles when one strong word overrides the real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hit a few real engineering issues along the way. The Elasticsearch connector JAR wasn't compatible with Spark on Windows, so we replaced it with a custom Python sink. Windows also broke our checkpoint path, fixed with an absolute path. We added broadcast variables so the model wasn't re-serialized every micro-batch, and we locked down a static schema to avoid runtime inference overhead.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comparing batch and streaming modes directly: batch is simpler and lower overhead, but you only get results after the whole dataset loads, and any failure means starting over. Streaming costs more infrastructure, but gives per-batch output and checkpoint-based recovery, which is what real-time monitoring actually needs. That's why we chose streaming as our primary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we built and verified a complete real-time pipeline with zero data loss. Naive Bayes was our better-performing model overall, though both models struggled with the neutral class due to severe imbalance in our data, which we see as a data limitation rather than a modelling failure. Going forward, we'd want more neutral-class data, a transformer-based model like DistilBERT, and a true distributed deployment.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7040880" y="-1188720"/>
            <a:ext cx="3840480" cy="3840480"/>
          </a:xfrm>
          <a:prstGeom prst="ellipse">
            <a:avLst/>
          </a:prstGeom>
          <a:solidFill>
            <a:srgbClr val="065A82">
              <a:alpha val="60000"/>
            </a:srgbClr>
          </a:solidFill>
          <a:ln/>
        </p:spPr>
      </p:sp>
      <p:sp>
        <p:nvSpPr>
          <p:cNvPr id="3" name="Shape 1"/>
          <p:cNvSpPr/>
          <p:nvPr/>
        </p:nvSpPr>
        <p:spPr>
          <a:xfrm>
            <a:off x="7863840" y="3291840"/>
            <a:ext cx="2926080" cy="2926080"/>
          </a:xfrm>
          <a:prstGeom prst="ellipse">
            <a:avLst/>
          </a:prstGeom>
          <a:solidFill>
            <a:srgbClr val="1C7293">
              <a:alpha val="45000"/>
            </a:srgbClr>
          </a:solidFill>
          <a:ln/>
        </p:spPr>
      </p:sp>
      <p:sp>
        <p:nvSpPr>
          <p:cNvPr id="4" name="Text 2"/>
          <p:cNvSpPr/>
          <p:nvPr/>
        </p:nvSpPr>
        <p:spPr>
          <a:xfrm>
            <a:off x="640080" y="1051560"/>
            <a:ext cx="7315200" cy="320040"/>
          </a:xfrm>
          <a:prstGeom prst="rect">
            <a:avLst/>
          </a:prstGeom>
          <a:noFill/>
          <a:ln/>
        </p:spPr>
        <p:txBody>
          <a:bodyPr wrap="square" lIns="0" tIns="0" rIns="0" bIns="0" rtlCol="0" anchor="ctr"/>
          <a:lstStyle/>
          <a:p>
            <a:pPr indent="0" marL="0">
              <a:buNone/>
            </a:pPr>
            <a:r>
              <a:rPr lang="en-US" sz="1200" spc="200" kern="0" dirty="0">
                <a:solidFill>
                  <a:srgbClr val="9FB8CE"/>
                </a:solidFill>
                <a:latin typeface="Calibri" pitchFamily="34" charset="0"/>
                <a:ea typeface="Calibri" pitchFamily="34" charset="-122"/>
                <a:cs typeface="Calibri" pitchFamily="34" charset="-120"/>
              </a:rPr>
              <a:t>PROJECT 2  |  SECP3133-02 HIGH PERFORMANCE DATA PROCESSING</a:t>
            </a:r>
            <a:endParaRPr lang="en-US" sz="1200" dirty="0"/>
          </a:p>
        </p:txBody>
      </p:sp>
      <p:sp>
        <p:nvSpPr>
          <p:cNvPr id="5" name="Text 3"/>
          <p:cNvSpPr/>
          <p:nvPr/>
        </p:nvSpPr>
        <p:spPr>
          <a:xfrm>
            <a:off x="640080" y="1463040"/>
            <a:ext cx="77724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Real-Time Sentiment Analysis</a:t>
            </a:r>
            <a:endParaRPr lang="en-US" sz="4000" dirty="0"/>
          </a:p>
        </p:txBody>
      </p:sp>
      <p:sp>
        <p:nvSpPr>
          <p:cNvPr id="6" name="Text 4"/>
          <p:cNvSpPr/>
          <p:nvPr/>
        </p:nvSpPr>
        <p:spPr>
          <a:xfrm>
            <a:off x="640080" y="2148840"/>
            <a:ext cx="7772400" cy="640080"/>
          </a:xfrm>
          <a:prstGeom prst="rect">
            <a:avLst/>
          </a:prstGeom>
          <a:noFill/>
          <a:ln/>
        </p:spPr>
        <p:txBody>
          <a:bodyPr wrap="square" lIns="0" tIns="0" rIns="0" bIns="0" rtlCol="0" anchor="ctr"/>
          <a:lstStyle/>
          <a:p>
            <a:pPr indent="0" marL="0">
              <a:buNone/>
            </a:pPr>
            <a:r>
              <a:rPr lang="en-US" sz="2600" dirty="0">
                <a:solidFill>
                  <a:srgbClr val="CADCFC"/>
                </a:solidFill>
                <a:latin typeface="Cambria" pitchFamily="34" charset="0"/>
                <a:ea typeface="Cambria" pitchFamily="34" charset="-122"/>
                <a:cs typeface="Cambria" pitchFamily="34" charset="-120"/>
              </a:rPr>
              <a:t>using Apache Spark and Kafka</a:t>
            </a:r>
            <a:endParaRPr lang="en-US" sz="2600" dirty="0"/>
          </a:p>
        </p:txBody>
      </p:sp>
      <p:sp>
        <p:nvSpPr>
          <p:cNvPr id="7" name="Shape 5"/>
          <p:cNvSpPr/>
          <p:nvPr/>
        </p:nvSpPr>
        <p:spPr>
          <a:xfrm>
            <a:off x="640080" y="3063240"/>
            <a:ext cx="2011680" cy="0"/>
          </a:xfrm>
          <a:prstGeom prst="line">
            <a:avLst/>
          </a:prstGeom>
          <a:noFill/>
          <a:ln w="25400">
            <a:solidFill>
              <a:srgbClr val="1C7293"/>
            </a:solidFill>
            <a:prstDash val="solid"/>
          </a:ln>
        </p:spPr>
      </p:sp>
      <p:sp>
        <p:nvSpPr>
          <p:cNvPr id="8" name="Text 6"/>
          <p:cNvSpPr/>
          <p:nvPr/>
        </p:nvSpPr>
        <p:spPr>
          <a:xfrm>
            <a:off x="640080" y="3246120"/>
            <a:ext cx="5486400" cy="27432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GROUP: SPARKLING SPARKMIND</a:t>
            </a:r>
            <a:endParaRPr lang="en-US" sz="1300" dirty="0"/>
          </a:p>
        </p:txBody>
      </p:sp>
      <p:sp>
        <p:nvSpPr>
          <p:cNvPr id="9" name="Text 7"/>
          <p:cNvSpPr/>
          <p:nvPr/>
        </p:nvSpPr>
        <p:spPr>
          <a:xfrm>
            <a:off x="640080" y="3566160"/>
            <a:ext cx="5943600" cy="1188720"/>
          </a:xfrm>
          <a:prstGeom prst="rect">
            <a:avLst/>
          </a:prstGeom>
          <a:noFill/>
          <a:ln/>
        </p:spPr>
        <p:txBody>
          <a:bodyPr wrap="square" lIns="0" tIns="0" rIns="0" bIns="0" rtlCol="0" anchor="ctr"/>
          <a:lstStyle/>
          <a:p>
            <a:pPr indent="0" marL="0">
              <a:lnSpc>
                <a:spcPct val="125000"/>
              </a:lnSpc>
              <a:buNone/>
            </a:pPr>
            <a:r>
              <a:rPr lang="en-US" sz="1300" dirty="0">
                <a:solidFill>
                  <a:srgbClr val="D7E3EC"/>
                </a:solidFill>
                <a:latin typeface="Calibri" pitchFamily="34" charset="0"/>
                <a:ea typeface="Calibri" pitchFamily="34" charset="-122"/>
                <a:cs typeface="Calibri" pitchFamily="34" charset="-120"/>
              </a:rPr>
              <a:t>Safiya Nursyahadah binti Masnoor  (A23CS0176)</a:t>
            </a:r>
            <a:endParaRPr lang="en-US" sz="1300" dirty="0"/>
          </a:p>
          <a:p>
            <a:pPr indent="0" marL="0">
              <a:lnSpc>
                <a:spcPct val="125000"/>
              </a:lnSpc>
              <a:buNone/>
            </a:pPr>
            <a:r>
              <a:rPr lang="en-US" sz="1300" dirty="0">
                <a:solidFill>
                  <a:srgbClr val="D7E3EC"/>
                </a:solidFill>
                <a:latin typeface="Calibri" pitchFamily="34" charset="0"/>
                <a:ea typeface="Calibri" pitchFamily="34" charset="-122"/>
                <a:cs typeface="Calibri" pitchFamily="34" charset="-120"/>
              </a:rPr>
              <a:t>Ain Nurnabila binti Mohd Azhar  (A23CS0207)</a:t>
            </a:r>
            <a:endParaRPr lang="en-US" sz="1300" dirty="0"/>
          </a:p>
          <a:p>
            <a:pPr indent="0" marL="0">
              <a:lnSpc>
                <a:spcPct val="125000"/>
              </a:lnSpc>
              <a:buNone/>
            </a:pPr>
            <a:r>
              <a:rPr lang="en-US" sz="1300" dirty="0">
                <a:solidFill>
                  <a:srgbClr val="D7E3EC"/>
                </a:solidFill>
                <a:latin typeface="Calibri" pitchFamily="34" charset="0"/>
                <a:ea typeface="Calibri" pitchFamily="34" charset="-122"/>
                <a:cs typeface="Calibri" pitchFamily="34" charset="-120"/>
              </a:rPr>
              <a:t>Farra Nurzahin binti Zaharil Anuar  (A23CS0079)</a:t>
            </a:r>
            <a:endParaRPr lang="en-US" sz="1300" dirty="0"/>
          </a:p>
          <a:p>
            <a:pPr indent="0" marL="0">
              <a:lnSpc>
                <a:spcPct val="125000"/>
              </a:lnSpc>
              <a:buNone/>
            </a:pPr>
            <a:r>
              <a:rPr lang="en-US" sz="1300" dirty="0">
                <a:solidFill>
                  <a:srgbClr val="D7E3EC"/>
                </a:solidFill>
                <a:latin typeface="Calibri" pitchFamily="34" charset="0"/>
                <a:ea typeface="Calibri" pitchFamily="34" charset="-122"/>
                <a:cs typeface="Calibri" pitchFamily="34" charset="-120"/>
              </a:rPr>
              <a:t>Dayang Farah Farzana binti Abang Idham  (A23CS0071)</a:t>
            </a:r>
            <a:endParaRPr lang="en-US" sz="1300" dirty="0"/>
          </a:p>
        </p:txBody>
      </p:sp>
      <p:sp>
        <p:nvSpPr>
          <p:cNvPr id="10" name="Text 8"/>
          <p:cNvSpPr/>
          <p:nvPr/>
        </p:nvSpPr>
        <p:spPr>
          <a:xfrm>
            <a:off x="640080" y="4709160"/>
            <a:ext cx="6400800" cy="274320"/>
          </a:xfrm>
          <a:prstGeom prst="rect">
            <a:avLst/>
          </a:prstGeom>
          <a:noFill/>
          <a:ln/>
        </p:spPr>
        <p:txBody>
          <a:bodyPr wrap="square" lIns="0" tIns="0" rIns="0" bIns="0" rtlCol="0" anchor="ctr"/>
          <a:lstStyle/>
          <a:p>
            <a:pPr indent="0" marL="0">
              <a:buNone/>
            </a:pPr>
            <a:r>
              <a:rPr lang="en-US" sz="1100" i="1" dirty="0">
                <a:solidFill>
                  <a:srgbClr val="9FB8CE"/>
                </a:solidFill>
                <a:latin typeface="Calibri" pitchFamily="34" charset="0"/>
                <a:ea typeface="Calibri" pitchFamily="34" charset="-122"/>
                <a:cs typeface="Calibri" pitchFamily="34" charset="-120"/>
              </a:rPr>
              <a:t>Prepared for Dr. Seah Choon Sen  |  Faculty of Computing, UTM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457200" y="621792"/>
            <a:ext cx="8229600" cy="64008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What We'll Cover</a:t>
            </a:r>
            <a:endParaRPr lang="en-US" sz="2800" dirty="0"/>
          </a:p>
        </p:txBody>
      </p:sp>
      <p:sp>
        <p:nvSpPr>
          <p:cNvPr id="4" name="Shape 2"/>
          <p:cNvSpPr/>
          <p:nvPr/>
        </p:nvSpPr>
        <p:spPr>
          <a:xfrm>
            <a:off x="457200" y="1508760"/>
            <a:ext cx="4114800" cy="1051560"/>
          </a:xfrm>
          <a:prstGeom prst="roundRect">
            <a:avLst>
              <a:gd name="adj" fmla="val 6957"/>
            </a:avLst>
          </a:prstGeom>
          <a:solidFill>
            <a:srgbClr val="E8F1F5"/>
          </a:solidFill>
          <a:ln/>
          <a:effectLst>
            <a:outerShdw sx="100000" sy="100000" kx="0" ky="0" algn="bl" rotWithShape="0" blurRad="101600" dist="38100" dir="2700000">
              <a:srgbClr val="000000">
                <a:alpha val="12000"/>
              </a:srgbClr>
            </a:outerShdw>
          </a:effectLst>
        </p:spPr>
      </p:sp>
      <p:sp>
        <p:nvSpPr>
          <p:cNvPr id="5" name="Shape 3"/>
          <p:cNvSpPr/>
          <p:nvPr/>
        </p:nvSpPr>
        <p:spPr>
          <a:xfrm>
            <a:off x="658368" y="1783080"/>
            <a:ext cx="502920" cy="50292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723748" y="1848460"/>
            <a:ext cx="372161" cy="372161"/>
          </a:xfrm>
          <a:prstGeom prst="rect">
            <a:avLst/>
          </a:prstGeom>
        </p:spPr>
      </p:pic>
      <p:sp>
        <p:nvSpPr>
          <p:cNvPr id="7" name="Text 4"/>
          <p:cNvSpPr/>
          <p:nvPr/>
        </p:nvSpPr>
        <p:spPr>
          <a:xfrm>
            <a:off x="1325880" y="1645920"/>
            <a:ext cx="306324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Introduction</a:t>
            </a:r>
            <a:endParaRPr lang="en-US" sz="1500" dirty="0"/>
          </a:p>
        </p:txBody>
      </p:sp>
      <p:sp>
        <p:nvSpPr>
          <p:cNvPr id="8" name="Text 5"/>
          <p:cNvSpPr/>
          <p:nvPr/>
        </p:nvSpPr>
        <p:spPr>
          <a:xfrm>
            <a:off x="1325880" y="1984248"/>
            <a:ext cx="3063240"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Background, objectives, and project scope</a:t>
            </a:r>
            <a:endParaRPr lang="en-US" sz="1150" dirty="0"/>
          </a:p>
        </p:txBody>
      </p:sp>
      <p:sp>
        <p:nvSpPr>
          <p:cNvPr id="9" name="Shape 6"/>
          <p:cNvSpPr/>
          <p:nvPr/>
        </p:nvSpPr>
        <p:spPr>
          <a:xfrm>
            <a:off x="4846320" y="1508760"/>
            <a:ext cx="4114800" cy="1051560"/>
          </a:xfrm>
          <a:prstGeom prst="roundRect">
            <a:avLst>
              <a:gd name="adj" fmla="val 6957"/>
            </a:avLst>
          </a:prstGeom>
          <a:solidFill>
            <a:srgbClr val="E8F1F5"/>
          </a:solidFill>
          <a:ln/>
          <a:effectLst>
            <a:outerShdw sx="100000" sy="100000" kx="0" ky="0" algn="bl" rotWithShape="0" blurRad="101600" dist="38100" dir="2700000">
              <a:srgbClr val="000000">
                <a:alpha val="12000"/>
              </a:srgbClr>
            </a:outerShdw>
          </a:effectLst>
        </p:spPr>
      </p:sp>
      <p:sp>
        <p:nvSpPr>
          <p:cNvPr id="10" name="Shape 7"/>
          <p:cNvSpPr/>
          <p:nvPr/>
        </p:nvSpPr>
        <p:spPr>
          <a:xfrm>
            <a:off x="5047488" y="1783080"/>
            <a:ext cx="502920" cy="502920"/>
          </a:xfrm>
          <a:prstGeom prst="ellipse">
            <a:avLst/>
          </a:prstGeom>
          <a:solidFill>
            <a:srgbClr val="065A82"/>
          </a:solidFill>
          <a:ln/>
        </p:spPr>
      </p:sp>
      <p:pic>
        <p:nvPicPr>
          <p:cNvPr id="11" name="Image 1" descr="preencoded.png">    </p:cNvPr>
          <p:cNvPicPr>
            <a:picLocks noChangeAspect="1"/>
          </p:cNvPicPr>
          <p:nvPr/>
        </p:nvPicPr>
        <p:blipFill>
          <a:blip r:embed="rId2"/>
          <a:stretch>
            <a:fillRect/>
          </a:stretch>
        </p:blipFill>
        <p:spPr>
          <a:xfrm>
            <a:off x="5112868" y="1848460"/>
            <a:ext cx="372161" cy="372161"/>
          </a:xfrm>
          <a:prstGeom prst="rect">
            <a:avLst/>
          </a:prstGeom>
        </p:spPr>
      </p:pic>
      <p:sp>
        <p:nvSpPr>
          <p:cNvPr id="12" name="Text 8"/>
          <p:cNvSpPr/>
          <p:nvPr/>
        </p:nvSpPr>
        <p:spPr>
          <a:xfrm>
            <a:off x="5715000" y="1645920"/>
            <a:ext cx="306324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Data &amp; Preprocessing</a:t>
            </a:r>
            <a:endParaRPr lang="en-US" sz="1500" dirty="0"/>
          </a:p>
        </p:txBody>
      </p:sp>
      <p:sp>
        <p:nvSpPr>
          <p:cNvPr id="13" name="Text 9"/>
          <p:cNvSpPr/>
          <p:nvPr/>
        </p:nvSpPr>
        <p:spPr>
          <a:xfrm>
            <a:off x="5715000" y="1984248"/>
            <a:ext cx="3063240"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Shopee reviews, cleaning, and dataset split</a:t>
            </a:r>
            <a:endParaRPr lang="en-US" sz="1150" dirty="0"/>
          </a:p>
        </p:txBody>
      </p:sp>
      <p:sp>
        <p:nvSpPr>
          <p:cNvPr id="14" name="Shape 10"/>
          <p:cNvSpPr/>
          <p:nvPr/>
        </p:nvSpPr>
        <p:spPr>
          <a:xfrm>
            <a:off x="457200" y="2697480"/>
            <a:ext cx="4114800" cy="1051560"/>
          </a:xfrm>
          <a:prstGeom prst="roundRect">
            <a:avLst>
              <a:gd name="adj" fmla="val 6957"/>
            </a:avLst>
          </a:prstGeom>
          <a:solidFill>
            <a:srgbClr val="E8F1F5"/>
          </a:solidFill>
          <a:ln/>
          <a:effectLst>
            <a:outerShdw sx="100000" sy="100000" kx="0" ky="0" algn="bl" rotWithShape="0" blurRad="101600" dist="38100" dir="2700000">
              <a:srgbClr val="000000">
                <a:alpha val="12000"/>
              </a:srgbClr>
            </a:outerShdw>
          </a:effectLst>
        </p:spPr>
      </p:sp>
      <p:sp>
        <p:nvSpPr>
          <p:cNvPr id="15" name="Shape 11"/>
          <p:cNvSpPr/>
          <p:nvPr/>
        </p:nvSpPr>
        <p:spPr>
          <a:xfrm>
            <a:off x="658368" y="2971800"/>
            <a:ext cx="502920" cy="502920"/>
          </a:xfrm>
          <a:prstGeom prst="ellipse">
            <a:avLst/>
          </a:prstGeom>
          <a:solidFill>
            <a:srgbClr val="065A82"/>
          </a:solidFill>
          <a:ln/>
        </p:spPr>
      </p:sp>
      <p:pic>
        <p:nvPicPr>
          <p:cNvPr id="16" name="Image 2" descr="preencoded.png">    </p:cNvPr>
          <p:cNvPicPr>
            <a:picLocks noChangeAspect="1"/>
          </p:cNvPicPr>
          <p:nvPr/>
        </p:nvPicPr>
        <p:blipFill>
          <a:blip r:embed="rId3"/>
          <a:stretch>
            <a:fillRect/>
          </a:stretch>
        </p:blipFill>
        <p:spPr>
          <a:xfrm>
            <a:off x="723748" y="3037180"/>
            <a:ext cx="372161" cy="372161"/>
          </a:xfrm>
          <a:prstGeom prst="rect">
            <a:avLst/>
          </a:prstGeom>
        </p:spPr>
      </p:pic>
      <p:sp>
        <p:nvSpPr>
          <p:cNvPr id="17" name="Text 12"/>
          <p:cNvSpPr/>
          <p:nvPr/>
        </p:nvSpPr>
        <p:spPr>
          <a:xfrm>
            <a:off x="1325880" y="2834640"/>
            <a:ext cx="306324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Model Development</a:t>
            </a:r>
            <a:endParaRPr lang="en-US" sz="1500" dirty="0"/>
          </a:p>
        </p:txBody>
      </p:sp>
      <p:sp>
        <p:nvSpPr>
          <p:cNvPr id="18" name="Text 13"/>
          <p:cNvSpPr/>
          <p:nvPr/>
        </p:nvSpPr>
        <p:spPr>
          <a:xfrm>
            <a:off x="1325880" y="3172968"/>
            <a:ext cx="3063240"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Naive Bayes vs. LSTM, trained and compared</a:t>
            </a:r>
            <a:endParaRPr lang="en-US" sz="1150" dirty="0"/>
          </a:p>
        </p:txBody>
      </p:sp>
      <p:sp>
        <p:nvSpPr>
          <p:cNvPr id="19" name="Shape 14"/>
          <p:cNvSpPr/>
          <p:nvPr/>
        </p:nvSpPr>
        <p:spPr>
          <a:xfrm>
            <a:off x="4846320" y="2697480"/>
            <a:ext cx="4114800" cy="1051560"/>
          </a:xfrm>
          <a:prstGeom prst="roundRect">
            <a:avLst>
              <a:gd name="adj" fmla="val 6957"/>
            </a:avLst>
          </a:prstGeom>
          <a:solidFill>
            <a:srgbClr val="E8F1F5"/>
          </a:solidFill>
          <a:ln/>
          <a:effectLst>
            <a:outerShdw sx="100000" sy="100000" kx="0" ky="0" algn="bl" rotWithShape="0" blurRad="101600" dist="38100" dir="2700000">
              <a:srgbClr val="000000">
                <a:alpha val="12000"/>
              </a:srgbClr>
            </a:outerShdw>
          </a:effectLst>
        </p:spPr>
      </p:sp>
      <p:sp>
        <p:nvSpPr>
          <p:cNvPr id="20" name="Shape 15"/>
          <p:cNvSpPr/>
          <p:nvPr/>
        </p:nvSpPr>
        <p:spPr>
          <a:xfrm>
            <a:off x="5047488" y="2971800"/>
            <a:ext cx="502920" cy="502920"/>
          </a:xfrm>
          <a:prstGeom prst="ellipse">
            <a:avLst/>
          </a:prstGeom>
          <a:solidFill>
            <a:srgbClr val="065A82"/>
          </a:solidFill>
          <a:ln/>
        </p:spPr>
      </p:sp>
      <p:pic>
        <p:nvPicPr>
          <p:cNvPr id="21" name="Image 3" descr="preencoded.png">    </p:cNvPr>
          <p:cNvPicPr>
            <a:picLocks noChangeAspect="1"/>
          </p:cNvPicPr>
          <p:nvPr/>
        </p:nvPicPr>
        <p:blipFill>
          <a:blip r:embed="rId4"/>
          <a:stretch>
            <a:fillRect/>
          </a:stretch>
        </p:blipFill>
        <p:spPr>
          <a:xfrm>
            <a:off x="5112868" y="3037180"/>
            <a:ext cx="372161" cy="372161"/>
          </a:xfrm>
          <a:prstGeom prst="rect">
            <a:avLst/>
          </a:prstGeom>
        </p:spPr>
      </p:pic>
      <p:sp>
        <p:nvSpPr>
          <p:cNvPr id="22" name="Text 16"/>
          <p:cNvSpPr/>
          <p:nvPr/>
        </p:nvSpPr>
        <p:spPr>
          <a:xfrm>
            <a:off x="5715000" y="2834640"/>
            <a:ext cx="306324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System Architecture</a:t>
            </a:r>
            <a:endParaRPr lang="en-US" sz="1500" dirty="0"/>
          </a:p>
        </p:txBody>
      </p:sp>
      <p:sp>
        <p:nvSpPr>
          <p:cNvPr id="23" name="Text 17"/>
          <p:cNvSpPr/>
          <p:nvPr/>
        </p:nvSpPr>
        <p:spPr>
          <a:xfrm>
            <a:off x="5715000" y="3172968"/>
            <a:ext cx="3063240"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Kafka to Spark to Elasticsearch pipeline</a:t>
            </a:r>
            <a:endParaRPr lang="en-US" sz="1150" dirty="0"/>
          </a:p>
        </p:txBody>
      </p:sp>
      <p:sp>
        <p:nvSpPr>
          <p:cNvPr id="24" name="Shape 18"/>
          <p:cNvSpPr/>
          <p:nvPr/>
        </p:nvSpPr>
        <p:spPr>
          <a:xfrm>
            <a:off x="457200" y="3886200"/>
            <a:ext cx="4114800" cy="1051560"/>
          </a:xfrm>
          <a:prstGeom prst="roundRect">
            <a:avLst>
              <a:gd name="adj" fmla="val 6957"/>
            </a:avLst>
          </a:prstGeom>
          <a:solidFill>
            <a:srgbClr val="E8F1F5"/>
          </a:solidFill>
          <a:ln/>
          <a:effectLst>
            <a:outerShdw sx="100000" sy="100000" kx="0" ky="0" algn="bl" rotWithShape="0" blurRad="101600" dist="38100" dir="2700000">
              <a:srgbClr val="000000">
                <a:alpha val="12000"/>
              </a:srgbClr>
            </a:outerShdw>
          </a:effectLst>
        </p:spPr>
      </p:sp>
      <p:sp>
        <p:nvSpPr>
          <p:cNvPr id="25" name="Shape 19"/>
          <p:cNvSpPr/>
          <p:nvPr/>
        </p:nvSpPr>
        <p:spPr>
          <a:xfrm>
            <a:off x="658368" y="4160520"/>
            <a:ext cx="502920" cy="502920"/>
          </a:xfrm>
          <a:prstGeom prst="ellipse">
            <a:avLst/>
          </a:prstGeom>
          <a:solidFill>
            <a:srgbClr val="065A82"/>
          </a:solidFill>
          <a:ln/>
        </p:spPr>
      </p:sp>
      <p:pic>
        <p:nvPicPr>
          <p:cNvPr id="26" name="Image 4" descr="preencoded.png">    </p:cNvPr>
          <p:cNvPicPr>
            <a:picLocks noChangeAspect="1"/>
          </p:cNvPicPr>
          <p:nvPr/>
        </p:nvPicPr>
        <p:blipFill>
          <a:blip r:embed="rId5"/>
          <a:stretch>
            <a:fillRect/>
          </a:stretch>
        </p:blipFill>
        <p:spPr>
          <a:xfrm>
            <a:off x="723748" y="4225900"/>
            <a:ext cx="372161" cy="372161"/>
          </a:xfrm>
          <a:prstGeom prst="rect">
            <a:avLst/>
          </a:prstGeom>
        </p:spPr>
      </p:pic>
      <p:sp>
        <p:nvSpPr>
          <p:cNvPr id="27" name="Text 20"/>
          <p:cNvSpPr/>
          <p:nvPr/>
        </p:nvSpPr>
        <p:spPr>
          <a:xfrm>
            <a:off x="1325880" y="4023360"/>
            <a:ext cx="306324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Results &amp; Optimization</a:t>
            </a:r>
            <a:endParaRPr lang="en-US" sz="1500" dirty="0"/>
          </a:p>
        </p:txBody>
      </p:sp>
      <p:sp>
        <p:nvSpPr>
          <p:cNvPr id="28" name="Text 21"/>
          <p:cNvSpPr/>
          <p:nvPr/>
        </p:nvSpPr>
        <p:spPr>
          <a:xfrm>
            <a:off x="1325880" y="4361688"/>
            <a:ext cx="3063240"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Sentiment findings, tuning, batch vs. streaming</a:t>
            </a:r>
            <a:endParaRPr lang="en-US" sz="1150" dirty="0"/>
          </a:p>
        </p:txBody>
      </p:sp>
      <p:sp>
        <p:nvSpPr>
          <p:cNvPr id="29" name="Shape 22"/>
          <p:cNvSpPr/>
          <p:nvPr/>
        </p:nvSpPr>
        <p:spPr>
          <a:xfrm>
            <a:off x="4846320" y="3886200"/>
            <a:ext cx="4114800" cy="1051560"/>
          </a:xfrm>
          <a:prstGeom prst="roundRect">
            <a:avLst>
              <a:gd name="adj" fmla="val 6957"/>
            </a:avLst>
          </a:prstGeom>
          <a:solidFill>
            <a:srgbClr val="E8F1F5"/>
          </a:solidFill>
          <a:ln/>
          <a:effectLst>
            <a:outerShdw sx="100000" sy="100000" kx="0" ky="0" algn="bl" rotWithShape="0" blurRad="101600" dist="38100" dir="2700000">
              <a:srgbClr val="000000">
                <a:alpha val="12000"/>
              </a:srgbClr>
            </a:outerShdw>
          </a:effectLst>
        </p:spPr>
      </p:sp>
      <p:sp>
        <p:nvSpPr>
          <p:cNvPr id="30" name="Shape 23"/>
          <p:cNvSpPr/>
          <p:nvPr/>
        </p:nvSpPr>
        <p:spPr>
          <a:xfrm>
            <a:off x="5047488" y="4160520"/>
            <a:ext cx="502920" cy="502920"/>
          </a:xfrm>
          <a:prstGeom prst="ellipse">
            <a:avLst/>
          </a:prstGeom>
          <a:solidFill>
            <a:srgbClr val="065A82"/>
          </a:solidFill>
          <a:ln/>
        </p:spPr>
      </p:sp>
      <p:pic>
        <p:nvPicPr>
          <p:cNvPr id="31" name="Image 5" descr="preencoded.png">    </p:cNvPr>
          <p:cNvPicPr>
            <a:picLocks noChangeAspect="1"/>
          </p:cNvPicPr>
          <p:nvPr/>
        </p:nvPicPr>
        <p:blipFill>
          <a:blip r:embed="rId6"/>
          <a:stretch>
            <a:fillRect/>
          </a:stretch>
        </p:blipFill>
        <p:spPr>
          <a:xfrm>
            <a:off x="5112868" y="4225900"/>
            <a:ext cx="372161" cy="372161"/>
          </a:xfrm>
          <a:prstGeom prst="rect">
            <a:avLst/>
          </a:prstGeom>
        </p:spPr>
      </p:pic>
      <p:sp>
        <p:nvSpPr>
          <p:cNvPr id="32" name="Text 24"/>
          <p:cNvSpPr/>
          <p:nvPr/>
        </p:nvSpPr>
        <p:spPr>
          <a:xfrm>
            <a:off x="5715000" y="4023360"/>
            <a:ext cx="306324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Conclusion</a:t>
            </a:r>
            <a:endParaRPr lang="en-US" sz="1500" dirty="0"/>
          </a:p>
        </p:txBody>
      </p:sp>
      <p:sp>
        <p:nvSpPr>
          <p:cNvPr id="33" name="Text 25"/>
          <p:cNvSpPr/>
          <p:nvPr/>
        </p:nvSpPr>
        <p:spPr>
          <a:xfrm>
            <a:off x="5715000" y="4361688"/>
            <a:ext cx="3063240" cy="45720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Key takeaways and future work</a:t>
            </a:r>
            <a:endParaRPr lang="en-US" sz="1150" dirty="0"/>
          </a:p>
        </p:txBody>
      </p:sp>
      <p:sp>
        <p:nvSpPr>
          <p:cNvPr id="34" name="Text 26"/>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01  INTRODUCTION</a:t>
            </a:r>
            <a:endParaRPr lang="en-US" sz="1200" dirty="0"/>
          </a:p>
        </p:txBody>
      </p:sp>
      <p:sp>
        <p:nvSpPr>
          <p:cNvPr id="3" name="Text 1"/>
          <p:cNvSpPr/>
          <p:nvPr/>
        </p:nvSpPr>
        <p:spPr>
          <a:xfrm>
            <a:off x="457200" y="621792"/>
            <a:ext cx="8229600" cy="64008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Background &amp; Objectives</a:t>
            </a:r>
            <a:endParaRPr lang="en-US" sz="2800" dirty="0"/>
          </a:p>
        </p:txBody>
      </p:sp>
      <p:sp>
        <p:nvSpPr>
          <p:cNvPr id="4" name="Shape 2"/>
          <p:cNvSpPr/>
          <p:nvPr/>
        </p:nvSpPr>
        <p:spPr>
          <a:xfrm>
            <a:off x="457200" y="1463040"/>
            <a:ext cx="4023360" cy="3246120"/>
          </a:xfrm>
          <a:prstGeom prst="roundRect">
            <a:avLst>
              <a:gd name="adj" fmla="val 2254"/>
            </a:avLst>
          </a:prstGeom>
          <a:solidFill>
            <a:srgbClr val="E8F1F5"/>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645920"/>
            <a:ext cx="365760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Why this matters</a:t>
            </a:r>
            <a:endParaRPr lang="en-US" sz="1500" dirty="0"/>
          </a:p>
        </p:txBody>
      </p:sp>
      <p:sp>
        <p:nvSpPr>
          <p:cNvPr id="6" name="Text 4"/>
          <p:cNvSpPr/>
          <p:nvPr/>
        </p:nvSpPr>
        <p:spPr>
          <a:xfrm>
            <a:off x="685800" y="2011680"/>
            <a:ext cx="3566160" cy="2560320"/>
          </a:xfrm>
          <a:prstGeom prst="rect">
            <a:avLst/>
          </a:prstGeom>
          <a:noFill/>
          <a:ln/>
        </p:spPr>
        <p:txBody>
          <a:bodyPr wrap="square" lIns="0" tIns="0" rIns="0" bIns="0" rtlCol="0" anchor="ctr"/>
          <a:lstStyle/>
          <a:p>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Businesses can no longer wait days to learn how customers feel. This project builds a pipeline that ingests, classifies, and stores customer sentiment as it happens, using Shopee app reviews as the Malaysian-relevant data source.</a:t>
            </a:r>
            <a:endParaRPr lang="en-US" sz="1300" dirty="0"/>
          </a:p>
        </p:txBody>
      </p:sp>
      <p:sp>
        <p:nvSpPr>
          <p:cNvPr id="7" name="Text 5"/>
          <p:cNvSpPr/>
          <p:nvPr/>
        </p:nvSpPr>
        <p:spPr>
          <a:xfrm>
            <a:off x="4800600" y="1463040"/>
            <a:ext cx="388620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Project Objectives</a:t>
            </a:r>
            <a:endParaRPr lang="en-US" sz="1500" dirty="0"/>
          </a:p>
        </p:txBody>
      </p:sp>
      <p:sp>
        <p:nvSpPr>
          <p:cNvPr id="8" name="Text 6"/>
          <p:cNvSpPr/>
          <p:nvPr/>
        </p:nvSpPr>
        <p:spPr>
          <a:xfrm>
            <a:off x="4800600" y="1828800"/>
            <a:ext cx="3886200" cy="292608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Design a real-time Kafka + Spark streaming pipeline</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Train and compare at least two sentiment models</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Integrate the chosen model into live classification</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Store results in Elasticsearch with a dashboard</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Compare batch vs. streaming performance</a:t>
            </a:r>
            <a:endParaRPr lang="en-US" sz="1300" dirty="0"/>
          </a:p>
        </p:txBody>
      </p:sp>
      <p:sp>
        <p:nvSpPr>
          <p:cNvPr id="9" name="Text 7"/>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01  INTRODUCTION</a:t>
            </a:r>
            <a:endParaRPr lang="en-US" sz="1200" dirty="0"/>
          </a:p>
        </p:txBody>
      </p:sp>
      <p:sp>
        <p:nvSpPr>
          <p:cNvPr id="3" name="Text 1"/>
          <p:cNvSpPr/>
          <p:nvPr/>
        </p:nvSpPr>
        <p:spPr>
          <a:xfrm>
            <a:off x="457200" y="621792"/>
            <a:ext cx="8229600" cy="64008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Project Scope &amp; Data Source</a:t>
            </a:r>
            <a:endParaRPr lang="en-US" sz="2800" dirty="0"/>
          </a:p>
        </p:txBody>
      </p:sp>
      <p:sp>
        <p:nvSpPr>
          <p:cNvPr id="4" name="Shape 2"/>
          <p:cNvSpPr/>
          <p:nvPr/>
        </p:nvSpPr>
        <p:spPr>
          <a:xfrm>
            <a:off x="457200" y="1508760"/>
            <a:ext cx="2514600" cy="1417320"/>
          </a:xfrm>
          <a:prstGeom prst="roundRect">
            <a:avLst>
              <a:gd name="adj" fmla="val 5161"/>
            </a:avLst>
          </a:prstGeom>
          <a:solidFill>
            <a:srgbClr val="065A82"/>
          </a:solidFill>
          <a:ln/>
          <a:effectLst>
            <a:outerShdw sx="100000" sy="100000" kx="0" ky="0" algn="bl" rotWithShape="0" blurRad="101600" dist="38100" dir="2700000">
              <a:srgbClr val="000000">
                <a:alpha val="12000"/>
              </a:srgbClr>
            </a:outerShdw>
          </a:effectLst>
        </p:spPr>
      </p:sp>
      <p:sp>
        <p:nvSpPr>
          <p:cNvPr id="5" name="Text 3"/>
          <p:cNvSpPr/>
          <p:nvPr/>
        </p:nvSpPr>
        <p:spPr>
          <a:xfrm>
            <a:off x="457200" y="1645920"/>
            <a:ext cx="251460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1,707</a:t>
            </a:r>
            <a:endParaRPr lang="en-US" sz="3000" dirty="0"/>
          </a:p>
        </p:txBody>
      </p:sp>
      <p:sp>
        <p:nvSpPr>
          <p:cNvPr id="6" name="Text 4"/>
          <p:cNvSpPr/>
          <p:nvPr/>
        </p:nvSpPr>
        <p:spPr>
          <a:xfrm>
            <a:off x="457200" y="2286000"/>
            <a:ext cx="2514600" cy="45720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Shopee reviews</a:t>
            </a:r>
            <a:endParaRPr lang="en-US" sz="1200" dirty="0"/>
          </a:p>
        </p:txBody>
      </p:sp>
      <p:sp>
        <p:nvSpPr>
          <p:cNvPr id="7" name="Shape 5"/>
          <p:cNvSpPr/>
          <p:nvPr/>
        </p:nvSpPr>
        <p:spPr>
          <a:xfrm>
            <a:off x="3200400" y="1508760"/>
            <a:ext cx="2514600" cy="1417320"/>
          </a:xfrm>
          <a:prstGeom prst="roundRect">
            <a:avLst>
              <a:gd name="adj" fmla="val 5161"/>
            </a:avLst>
          </a:prstGeom>
          <a:solidFill>
            <a:srgbClr val="065A82"/>
          </a:solidFill>
          <a:ln/>
          <a:effectLst>
            <a:outerShdw sx="100000" sy="100000" kx="0" ky="0" algn="bl" rotWithShape="0" blurRad="101600" dist="38100" dir="2700000">
              <a:srgbClr val="000000">
                <a:alpha val="12000"/>
              </a:srgbClr>
            </a:outerShdw>
          </a:effectLst>
        </p:spPr>
      </p:sp>
      <p:sp>
        <p:nvSpPr>
          <p:cNvPr id="8" name="Text 6"/>
          <p:cNvSpPr/>
          <p:nvPr/>
        </p:nvSpPr>
        <p:spPr>
          <a:xfrm>
            <a:off x="3200400" y="1645920"/>
            <a:ext cx="251460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9" name="Text 7"/>
          <p:cNvSpPr/>
          <p:nvPr/>
        </p:nvSpPr>
        <p:spPr>
          <a:xfrm>
            <a:off x="3200400" y="2286000"/>
            <a:ext cx="2514600" cy="45720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Sentiment classes</a:t>
            </a:r>
            <a:endParaRPr lang="en-US" sz="1200" dirty="0"/>
          </a:p>
        </p:txBody>
      </p:sp>
      <p:sp>
        <p:nvSpPr>
          <p:cNvPr id="10" name="Shape 8"/>
          <p:cNvSpPr/>
          <p:nvPr/>
        </p:nvSpPr>
        <p:spPr>
          <a:xfrm>
            <a:off x="5943600" y="1508760"/>
            <a:ext cx="2514600" cy="1417320"/>
          </a:xfrm>
          <a:prstGeom prst="roundRect">
            <a:avLst>
              <a:gd name="adj" fmla="val 5161"/>
            </a:avLst>
          </a:prstGeom>
          <a:solidFill>
            <a:srgbClr val="065A82"/>
          </a:solidFill>
          <a:ln/>
          <a:effectLst>
            <a:outerShdw sx="100000" sy="100000" kx="0" ky="0" algn="bl" rotWithShape="0" blurRad="101600" dist="38100" dir="2700000">
              <a:srgbClr val="000000">
                <a:alpha val="12000"/>
              </a:srgbClr>
            </a:outerShdw>
          </a:effectLst>
        </p:spPr>
      </p:sp>
      <p:sp>
        <p:nvSpPr>
          <p:cNvPr id="11" name="Text 9"/>
          <p:cNvSpPr/>
          <p:nvPr/>
        </p:nvSpPr>
        <p:spPr>
          <a:xfrm>
            <a:off x="5943600" y="1645920"/>
            <a:ext cx="251460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70/20/10</a:t>
            </a:r>
            <a:endParaRPr lang="en-US" sz="3000" dirty="0"/>
          </a:p>
        </p:txBody>
      </p:sp>
      <p:sp>
        <p:nvSpPr>
          <p:cNvPr id="12" name="Text 10"/>
          <p:cNvSpPr/>
          <p:nvPr/>
        </p:nvSpPr>
        <p:spPr>
          <a:xfrm>
            <a:off x="5943600" y="2286000"/>
            <a:ext cx="2514600" cy="45720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Train/test/val split</a:t>
            </a:r>
            <a:endParaRPr lang="en-US" sz="1200" dirty="0"/>
          </a:p>
        </p:txBody>
      </p:sp>
      <p:sp>
        <p:nvSpPr>
          <p:cNvPr id="13" name="Text 11"/>
          <p:cNvSpPr/>
          <p:nvPr/>
        </p:nvSpPr>
        <p:spPr>
          <a:xfrm>
            <a:off x="457200" y="3154680"/>
            <a:ext cx="822960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Scope covers:</a:t>
            </a:r>
            <a:endParaRPr lang="en-US" sz="1400" dirty="0"/>
          </a:p>
        </p:txBody>
      </p:sp>
      <p:sp>
        <p:nvSpPr>
          <p:cNvPr id="14" name="Text 12"/>
          <p:cNvSpPr/>
          <p:nvPr/>
        </p:nvSpPr>
        <p:spPr>
          <a:xfrm>
            <a:off x="457200" y="3474720"/>
            <a:ext cx="8229600" cy="137160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Data cleaning, tokenization, and preprocessing of Shopee reviews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Training and comparing Naive Bayes and LSTM classifiers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Streaming ingestion via Kafka, real-time inference via Spark</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Storage in Elasticsearch and a batch vs. streaming comparison</a:t>
            </a:r>
            <a:endParaRPr lang="en-US" sz="1250" dirty="0"/>
          </a:p>
        </p:txBody>
      </p:sp>
      <p:sp>
        <p:nvSpPr>
          <p:cNvPr id="15" name="Text 13"/>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02  DATA &amp; PREPROCESSING</a:t>
            </a:r>
            <a:endParaRPr lang="en-US" sz="1200" dirty="0"/>
          </a:p>
        </p:txBody>
      </p:sp>
      <p:sp>
        <p:nvSpPr>
          <p:cNvPr id="3" name="Text 1"/>
          <p:cNvSpPr/>
          <p:nvPr/>
        </p:nvSpPr>
        <p:spPr>
          <a:xfrm>
            <a:off x="457200" y="621792"/>
            <a:ext cx="8229600" cy="64008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From Raw Reviews to Clean Text</a:t>
            </a:r>
            <a:endParaRPr lang="en-US" sz="2800" dirty="0"/>
          </a:p>
        </p:txBody>
      </p:sp>
      <p:sp>
        <p:nvSpPr>
          <p:cNvPr id="4" name="Shape 2"/>
          <p:cNvSpPr/>
          <p:nvPr/>
        </p:nvSpPr>
        <p:spPr>
          <a:xfrm>
            <a:off x="457200" y="1828800"/>
            <a:ext cx="1463040" cy="1188720"/>
          </a:xfrm>
          <a:prstGeom prst="roundRect">
            <a:avLst>
              <a:gd name="adj" fmla="val 7692"/>
            </a:avLst>
          </a:prstGeom>
          <a:solidFill>
            <a:srgbClr val="065A82"/>
          </a:solidFill>
          <a:ln/>
          <a:effectLst>
            <a:outerShdw sx="100000" sy="100000" kx="0" ky="0" algn="bl" rotWithShape="0" blurRad="101600" dist="38100" dir="2700000">
              <a:srgbClr val="000000">
                <a:alpha val="12000"/>
              </a:srgbClr>
            </a:outerShdw>
          </a:effectLst>
        </p:spPr>
      </p:sp>
      <p:sp>
        <p:nvSpPr>
          <p:cNvPr id="5" name="Text 3"/>
          <p:cNvSpPr/>
          <p:nvPr/>
        </p:nvSpPr>
        <p:spPr>
          <a:xfrm>
            <a:off x="457200" y="1828800"/>
            <a:ext cx="1463040" cy="1188720"/>
          </a:xfrm>
          <a:prstGeom prst="rect">
            <a:avLst/>
          </a:prstGeom>
          <a:noFill/>
          <a:ln/>
        </p:spPr>
        <p:txBody>
          <a:bodyPr wrap="square" lIns="50800" tIns="50800" rIns="50800" bIns="508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Lowercase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&amp; clean</a:t>
            </a:r>
            <a:endParaRPr lang="en-US" sz="1200" dirty="0"/>
          </a:p>
        </p:txBody>
      </p:sp>
      <p:sp>
        <p:nvSpPr>
          <p:cNvPr id="6" name="Text 4"/>
          <p:cNvSpPr/>
          <p:nvPr/>
        </p:nvSpPr>
        <p:spPr>
          <a:xfrm>
            <a:off x="1920240" y="2194560"/>
            <a:ext cx="228600" cy="457200"/>
          </a:xfrm>
          <a:prstGeom prst="rect">
            <a:avLst/>
          </a:prstGeom>
          <a:noFill/>
          <a:ln/>
        </p:spPr>
        <p:txBody>
          <a:bodyPr wrap="square" lIns="0" tIns="0" rIns="0" bIns="0" rtlCol="0" anchor="ctr"/>
          <a:lstStyle/>
          <a:p>
            <a:pPr algn="ctr" indent="0" marL="0">
              <a:buNone/>
            </a:pPr>
            <a:r>
              <a:rPr lang="en-US" sz="1800" b="1" dirty="0">
                <a:solidFill>
                  <a:srgbClr val="64748B"/>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2148840" y="1828800"/>
            <a:ext cx="1463040" cy="1188720"/>
          </a:xfrm>
          <a:prstGeom prst="roundRect">
            <a:avLst>
              <a:gd name="adj" fmla="val 7692"/>
            </a:avLst>
          </a:prstGeom>
          <a:solidFill>
            <a:srgbClr val="1C7293"/>
          </a:solidFill>
          <a:ln/>
          <a:effectLst>
            <a:outerShdw sx="100000" sy="100000" kx="0" ky="0" algn="bl" rotWithShape="0" blurRad="101600" dist="38100" dir="2700000">
              <a:srgbClr val="000000">
                <a:alpha val="12000"/>
              </a:srgbClr>
            </a:outerShdw>
          </a:effectLst>
        </p:spPr>
      </p:sp>
      <p:sp>
        <p:nvSpPr>
          <p:cNvPr id="8" name="Text 6"/>
          <p:cNvSpPr/>
          <p:nvPr/>
        </p:nvSpPr>
        <p:spPr>
          <a:xfrm>
            <a:off x="2148840" y="1828800"/>
            <a:ext cx="1463040" cy="1188720"/>
          </a:xfrm>
          <a:prstGeom prst="rect">
            <a:avLst/>
          </a:prstGeom>
          <a:noFill/>
          <a:ln/>
        </p:spPr>
        <p:txBody>
          <a:bodyPr wrap="square" lIns="50800" tIns="50800" rIns="50800" bIns="508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Remove URLs</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&amp; noise</a:t>
            </a:r>
            <a:endParaRPr lang="en-US" sz="1200" dirty="0"/>
          </a:p>
        </p:txBody>
      </p:sp>
      <p:sp>
        <p:nvSpPr>
          <p:cNvPr id="9" name="Text 7"/>
          <p:cNvSpPr/>
          <p:nvPr/>
        </p:nvSpPr>
        <p:spPr>
          <a:xfrm>
            <a:off x="3611880" y="2194560"/>
            <a:ext cx="228600" cy="457200"/>
          </a:xfrm>
          <a:prstGeom prst="rect">
            <a:avLst/>
          </a:prstGeom>
          <a:noFill/>
          <a:ln/>
        </p:spPr>
        <p:txBody>
          <a:bodyPr wrap="square" lIns="0" tIns="0" rIns="0" bIns="0" rtlCol="0" anchor="ctr"/>
          <a:lstStyle/>
          <a:p>
            <a:pPr algn="ctr" indent="0" marL="0">
              <a:buNone/>
            </a:pPr>
            <a:r>
              <a:rPr lang="en-US" sz="1800" b="1" dirty="0">
                <a:solidFill>
                  <a:srgbClr val="64748B"/>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3840480" y="1828800"/>
            <a:ext cx="1463040" cy="1188720"/>
          </a:xfrm>
          <a:prstGeom prst="roundRect">
            <a:avLst>
              <a:gd name="adj" fmla="val 7692"/>
            </a:avLst>
          </a:prstGeom>
          <a:solidFill>
            <a:srgbClr val="065A82"/>
          </a:solidFill>
          <a:ln/>
          <a:effectLst>
            <a:outerShdw sx="100000" sy="100000" kx="0" ky="0" algn="bl" rotWithShape="0" blurRad="101600" dist="38100" dir="2700000">
              <a:srgbClr val="000000">
                <a:alpha val="12000"/>
              </a:srgbClr>
            </a:outerShdw>
          </a:effectLst>
        </p:spPr>
      </p:sp>
      <p:sp>
        <p:nvSpPr>
          <p:cNvPr id="11" name="Text 9"/>
          <p:cNvSpPr/>
          <p:nvPr/>
        </p:nvSpPr>
        <p:spPr>
          <a:xfrm>
            <a:off x="3840480" y="1828800"/>
            <a:ext cx="1463040" cy="1188720"/>
          </a:xfrm>
          <a:prstGeom prst="rect">
            <a:avLst/>
          </a:prstGeom>
          <a:noFill/>
          <a:ln/>
        </p:spPr>
        <p:txBody>
          <a:bodyPr wrap="square" lIns="50800" tIns="50800" rIns="50800" bIns="508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Tokenize</a:t>
            </a:r>
            <a:endParaRPr lang="en-US" sz="1200" dirty="0"/>
          </a:p>
        </p:txBody>
      </p:sp>
      <p:sp>
        <p:nvSpPr>
          <p:cNvPr id="12" name="Text 10"/>
          <p:cNvSpPr/>
          <p:nvPr/>
        </p:nvSpPr>
        <p:spPr>
          <a:xfrm>
            <a:off x="5303520" y="2194560"/>
            <a:ext cx="228600" cy="457200"/>
          </a:xfrm>
          <a:prstGeom prst="rect">
            <a:avLst/>
          </a:prstGeom>
          <a:noFill/>
          <a:ln/>
        </p:spPr>
        <p:txBody>
          <a:bodyPr wrap="square" lIns="0" tIns="0" rIns="0" bIns="0" rtlCol="0" anchor="ctr"/>
          <a:lstStyle/>
          <a:p>
            <a:pPr algn="ctr" indent="0" marL="0">
              <a:buNone/>
            </a:pPr>
            <a:r>
              <a:rPr lang="en-US" sz="1800" b="1" dirty="0">
                <a:solidFill>
                  <a:srgbClr val="64748B"/>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5532120" y="1828800"/>
            <a:ext cx="1463040" cy="1188720"/>
          </a:xfrm>
          <a:prstGeom prst="roundRect">
            <a:avLst>
              <a:gd name="adj" fmla="val 7692"/>
            </a:avLst>
          </a:prstGeom>
          <a:solidFill>
            <a:srgbClr val="1C7293"/>
          </a:solidFill>
          <a:ln/>
          <a:effectLst>
            <a:outerShdw sx="100000" sy="100000" kx="0" ky="0" algn="bl" rotWithShape="0" blurRad="101600" dist="38100" dir="2700000">
              <a:srgbClr val="000000">
                <a:alpha val="12000"/>
              </a:srgbClr>
            </a:outerShdw>
          </a:effectLst>
        </p:spPr>
      </p:sp>
      <p:sp>
        <p:nvSpPr>
          <p:cNvPr id="14" name="Text 12"/>
          <p:cNvSpPr/>
          <p:nvPr/>
        </p:nvSpPr>
        <p:spPr>
          <a:xfrm>
            <a:off x="5532120" y="1828800"/>
            <a:ext cx="1463040" cy="1188720"/>
          </a:xfrm>
          <a:prstGeom prst="rect">
            <a:avLst/>
          </a:prstGeom>
          <a:noFill/>
          <a:ln/>
        </p:spPr>
        <p:txBody>
          <a:bodyPr wrap="square" lIns="50800" tIns="50800" rIns="50800" bIns="508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Remove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stopwords</a:t>
            </a:r>
            <a:endParaRPr lang="en-US" sz="1200" dirty="0"/>
          </a:p>
        </p:txBody>
      </p:sp>
      <p:sp>
        <p:nvSpPr>
          <p:cNvPr id="15" name="Text 13"/>
          <p:cNvSpPr/>
          <p:nvPr/>
        </p:nvSpPr>
        <p:spPr>
          <a:xfrm>
            <a:off x="6995160" y="2194560"/>
            <a:ext cx="228600" cy="457200"/>
          </a:xfrm>
          <a:prstGeom prst="rect">
            <a:avLst/>
          </a:prstGeom>
          <a:noFill/>
          <a:ln/>
        </p:spPr>
        <p:txBody>
          <a:bodyPr wrap="square" lIns="0" tIns="0" rIns="0" bIns="0" rtlCol="0" anchor="ctr"/>
          <a:lstStyle/>
          <a:p>
            <a:pPr algn="ctr" indent="0" marL="0">
              <a:buNone/>
            </a:pPr>
            <a:r>
              <a:rPr lang="en-US" sz="1800" b="1" dirty="0">
                <a:solidFill>
                  <a:srgbClr val="64748B"/>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7223760" y="1828800"/>
            <a:ext cx="1463040" cy="1188720"/>
          </a:xfrm>
          <a:prstGeom prst="roundRect">
            <a:avLst>
              <a:gd name="adj" fmla="val 7692"/>
            </a:avLst>
          </a:prstGeom>
          <a:solidFill>
            <a:srgbClr val="065A82"/>
          </a:solidFill>
          <a:ln/>
          <a:effectLst>
            <a:outerShdw sx="100000" sy="100000" kx="0" ky="0" algn="bl" rotWithShape="0" blurRad="101600" dist="38100" dir="2700000">
              <a:srgbClr val="000000">
                <a:alpha val="12000"/>
              </a:srgbClr>
            </a:outerShdw>
          </a:effectLst>
        </p:spPr>
      </p:sp>
      <p:sp>
        <p:nvSpPr>
          <p:cNvPr id="17" name="Text 15"/>
          <p:cNvSpPr/>
          <p:nvPr/>
        </p:nvSpPr>
        <p:spPr>
          <a:xfrm>
            <a:off x="7223760" y="1828800"/>
            <a:ext cx="1463040" cy="1188720"/>
          </a:xfrm>
          <a:prstGeom prst="rect">
            <a:avLst/>
          </a:prstGeom>
          <a:noFill/>
          <a:ln/>
        </p:spPr>
        <p:txBody>
          <a:bodyPr wrap="square" lIns="50800" tIns="50800" rIns="50800" bIns="508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Stem /</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lemmatize</a:t>
            </a:r>
            <a:endParaRPr lang="en-US" sz="1200" dirty="0"/>
          </a:p>
        </p:txBody>
      </p:sp>
      <p:sp>
        <p:nvSpPr>
          <p:cNvPr id="18" name="Shape 16"/>
          <p:cNvSpPr/>
          <p:nvPr/>
        </p:nvSpPr>
        <p:spPr>
          <a:xfrm>
            <a:off x="457200" y="3429000"/>
            <a:ext cx="8229600" cy="1280160"/>
          </a:xfrm>
          <a:prstGeom prst="roundRect">
            <a:avLst>
              <a:gd name="adj" fmla="val 5714"/>
            </a:avLst>
          </a:prstGeom>
          <a:solidFill>
            <a:srgbClr val="E8F1F5"/>
          </a:solidFill>
          <a:ln/>
          <a:effectLst>
            <a:outerShdw sx="100000" sy="100000" kx="0" ky="0" algn="bl" rotWithShape="0" blurRad="101600" dist="38100" dir="2700000">
              <a:srgbClr val="000000">
                <a:alpha val="12000"/>
              </a:srgbClr>
            </a:outerShdw>
          </a:effectLst>
        </p:spPr>
      </p:sp>
      <p:sp>
        <p:nvSpPr>
          <p:cNvPr id="19" name="Text 17"/>
          <p:cNvSpPr/>
          <p:nvPr/>
        </p:nvSpPr>
        <p:spPr>
          <a:xfrm>
            <a:off x="685800" y="3657600"/>
            <a:ext cx="7772400" cy="822960"/>
          </a:xfrm>
          <a:prstGeom prst="rect">
            <a:avLst/>
          </a:prstGeom>
          <a:noFill/>
          <a:ln/>
        </p:spPr>
        <p:txBody>
          <a:bodyPr wrap="square" lIns="0" tIns="0" rIns="0" bIns="0" rtlCol="0" anchor="ctr"/>
          <a:lstStyle/>
          <a:p>
            <a:pPr indent="0" marL="0">
              <a:lnSpc>
                <a:spcPct val="130000"/>
              </a:lnSpc>
              <a:buNone/>
            </a:pPr>
            <a:r>
              <a:rPr lang="en-US" sz="1350" b="1" dirty="0">
                <a:solidFill>
                  <a:srgbClr val="065A82"/>
                </a:solidFill>
                <a:latin typeface="Calibri" pitchFamily="34" charset="0"/>
                <a:ea typeface="Calibri" pitchFamily="34" charset="-122"/>
                <a:cs typeface="Calibri" pitchFamily="34" charset="-120"/>
              </a:rPr>
              <a:t>Final dataset: </a:t>
            </a:r>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949 positive (55.6%)  |  691 negative (40.5%)  |  67 neutral (3.9%), out of 1,707 total reviews.</a:t>
            </a:r>
            <a:endParaRPr lang="en-US" sz="1350" dirty="0"/>
          </a:p>
        </p:txBody>
      </p:sp>
      <p:sp>
        <p:nvSpPr>
          <p:cNvPr id="20" name="Text 18"/>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03  MODEL DEVELOPMENT</a:t>
            </a:r>
            <a:endParaRPr lang="en-US" sz="1200" dirty="0"/>
          </a:p>
        </p:txBody>
      </p:sp>
      <p:sp>
        <p:nvSpPr>
          <p:cNvPr id="3" name="Text 1"/>
          <p:cNvSpPr/>
          <p:nvPr/>
        </p:nvSpPr>
        <p:spPr>
          <a:xfrm>
            <a:off x="457200" y="621792"/>
            <a:ext cx="8229600" cy="64008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Model 1: Naive Bayes</a:t>
            </a:r>
            <a:endParaRPr lang="en-US" sz="2800" dirty="0"/>
          </a:p>
        </p:txBody>
      </p:sp>
      <p:sp>
        <p:nvSpPr>
          <p:cNvPr id="4" name="Shape 2"/>
          <p:cNvSpPr/>
          <p:nvPr/>
        </p:nvSpPr>
        <p:spPr>
          <a:xfrm>
            <a:off x="457200" y="1600200"/>
            <a:ext cx="777240" cy="777240"/>
          </a:xfrm>
          <a:prstGeom prst="ellipse">
            <a:avLst/>
          </a:prstGeom>
          <a:solidFill>
            <a:srgbClr val="065A82"/>
          </a:solidFill>
          <a:ln/>
        </p:spPr>
      </p:sp>
      <p:pic>
        <p:nvPicPr>
          <p:cNvPr id="5" name="Image 0" descr="preencoded.png">    </p:cNvPr>
          <p:cNvPicPr>
            <a:picLocks noChangeAspect="1"/>
          </p:cNvPicPr>
          <p:nvPr/>
        </p:nvPicPr>
        <p:blipFill>
          <a:blip r:embed="rId1"/>
          <a:stretch>
            <a:fillRect/>
          </a:stretch>
        </p:blipFill>
        <p:spPr>
          <a:xfrm>
            <a:off x="558241" y="1701241"/>
            <a:ext cx="575158" cy="575158"/>
          </a:xfrm>
          <a:prstGeom prst="rect">
            <a:avLst/>
          </a:prstGeom>
        </p:spPr>
      </p:pic>
      <p:sp>
        <p:nvSpPr>
          <p:cNvPr id="6" name="Text 3"/>
          <p:cNvSpPr/>
          <p:nvPr/>
        </p:nvSpPr>
        <p:spPr>
          <a:xfrm>
            <a:off x="1417320" y="1645920"/>
            <a:ext cx="6858000" cy="822960"/>
          </a:xfrm>
          <a:prstGeom prst="rect">
            <a:avLst/>
          </a:prstGeom>
          <a:noFill/>
          <a:ln/>
        </p:spPr>
        <p:txBody>
          <a:bodyPr wrap="square" lIns="0" tIns="0" rIns="0" bIns="0" rtlCol="0" anchor="ctr"/>
          <a:lstStyle/>
          <a:p>
            <a:pPr indent="0" marL="0">
              <a:lnSpc>
                <a:spcPct val="130000"/>
              </a:lnSpc>
              <a:buNone/>
            </a:pPr>
            <a:r>
              <a:rPr lang="en-US" sz="1400" b="1" dirty="0">
                <a:solidFill>
                  <a:srgbClr val="1E293B"/>
                </a:solidFill>
                <a:latin typeface="Calibri" pitchFamily="34" charset="0"/>
                <a:ea typeface="Calibri" pitchFamily="34" charset="-122"/>
                <a:cs typeface="Calibri" pitchFamily="34" charset="-120"/>
              </a:rPr>
              <a:t>TF-IDF + Multinomial Naive Bayes</a:t>
            </a:r>
            <a:endParaRPr lang="en-US" sz="1400" dirty="0"/>
          </a:p>
          <a:p>
            <a:pPr indent="0" marL="0">
              <a:lnSpc>
                <a:spcPct val="130000"/>
              </a:lnSpc>
              <a:buNone/>
            </a:pPr>
            <a:r>
              <a:rPr lang="en-US" sz="1400" dirty="0">
                <a:solidFill>
                  <a:srgbClr val="64748B"/>
                </a:solidFill>
                <a:latin typeface="Calibri" pitchFamily="34" charset="0"/>
                <a:ea typeface="Calibri" pitchFamily="34" charset="-122"/>
                <a:cs typeface="Calibri" pitchFamily="34" charset="-120"/>
              </a:rPr>
              <a:t>A fast, probabilistic baseline that treats each review as a bag of words.</a:t>
            </a:r>
            <a:endParaRPr lang="en-US" sz="1400" dirty="0"/>
          </a:p>
        </p:txBody>
      </p:sp>
      <p:sp>
        <p:nvSpPr>
          <p:cNvPr id="7" name="Text 4"/>
          <p:cNvSpPr/>
          <p:nvPr/>
        </p:nvSpPr>
        <p:spPr>
          <a:xfrm>
            <a:off x="457200" y="2606040"/>
            <a:ext cx="8229600" cy="137160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E293B"/>
                </a:solidFill>
                <a:latin typeface="Calibri" pitchFamily="34" charset="0"/>
                <a:ea typeface="Calibri" pitchFamily="34" charset="-122"/>
                <a:cs typeface="Calibri" pitchFamily="34" charset="-120"/>
              </a:rPr>
              <a:t>Vocabulary capped at 5,000 most frequent terms</a:t>
            </a:r>
            <a:endParaRPr lang="en-US" sz="1350" dirty="0"/>
          </a:p>
          <a:p>
            <a:pPr marL="342900" indent="-342900">
              <a:spcAft>
                <a:spcPts val="800"/>
              </a:spcAft>
              <a:buSzPct val="100000"/>
              <a:buChar char="✦"/>
            </a:pPr>
            <a:r>
              <a:rPr lang="en-US" sz="1350" dirty="0">
                <a:solidFill>
                  <a:srgbClr val="1E293B"/>
                </a:solidFill>
                <a:latin typeface="Calibri" pitchFamily="34" charset="0"/>
                <a:ea typeface="Calibri" pitchFamily="34" charset="-122"/>
                <a:cs typeface="Calibri" pitchFamily="34" charset="-120"/>
              </a:rPr>
              <a:t>Balanced sample weights applied to offset class imbalance</a:t>
            </a:r>
            <a:endParaRPr lang="en-US" sz="1350" dirty="0"/>
          </a:p>
          <a:p>
            <a:pPr marL="342900" indent="-342900">
              <a:spcAft>
                <a:spcPts val="800"/>
              </a:spcAft>
              <a:buSzPct val="100000"/>
              <a:buChar char="✦"/>
            </a:pPr>
            <a:r>
              <a:rPr lang="en-US" sz="1350" dirty="0">
                <a:solidFill>
                  <a:srgbClr val="1E293B"/>
                </a:solidFill>
                <a:latin typeface="Calibri" pitchFamily="34" charset="0"/>
                <a:ea typeface="Calibri" pitchFamily="34" charset="-122"/>
                <a:cs typeface="Calibri" pitchFamily="34" charset="-120"/>
              </a:rPr>
              <a:t>Trained on 1,194 records (70% split), near-instant training time</a:t>
            </a:r>
            <a:endParaRPr lang="en-US" sz="1350" dirty="0"/>
          </a:p>
        </p:txBody>
      </p:sp>
      <p:sp>
        <p:nvSpPr>
          <p:cNvPr id="8" name="Shape 5"/>
          <p:cNvSpPr/>
          <p:nvPr/>
        </p:nvSpPr>
        <p:spPr>
          <a:xfrm>
            <a:off x="457200" y="3977640"/>
            <a:ext cx="8229600" cy="777240"/>
          </a:xfrm>
          <a:prstGeom prst="roundRect">
            <a:avLst>
              <a:gd name="adj" fmla="val 9412"/>
            </a:avLst>
          </a:prstGeom>
          <a:solidFill>
            <a:srgbClr val="065A82"/>
          </a:solidFill>
          <a:ln/>
          <a:effectLst>
            <a:outerShdw sx="100000" sy="100000" kx="0" ky="0" algn="bl" rotWithShape="0" blurRad="101600" dist="38100" dir="2700000">
              <a:srgbClr val="000000">
                <a:alpha val="12000"/>
              </a:srgbClr>
            </a:outerShdw>
          </a:effectLst>
        </p:spPr>
      </p:sp>
      <p:sp>
        <p:nvSpPr>
          <p:cNvPr id="9" name="Text 6"/>
          <p:cNvSpPr/>
          <p:nvPr/>
        </p:nvSpPr>
        <p:spPr>
          <a:xfrm>
            <a:off x="685800" y="4160520"/>
            <a:ext cx="77724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Result: </a:t>
            </a:r>
            <a:pPr indent="0" marL="0">
              <a:buNone/>
            </a:pPr>
            <a:r>
              <a:rPr lang="en-US" sz="1300" dirty="0">
                <a:solidFill>
                  <a:srgbClr val="CADCFC"/>
                </a:solidFill>
                <a:latin typeface="Calibri" pitchFamily="34" charset="0"/>
                <a:ea typeface="Calibri" pitchFamily="34" charset="-122"/>
                <a:cs typeface="Calibri" pitchFamily="34" charset="-120"/>
              </a:rPr>
              <a:t>76.90% accuracy overall, strong on positive (F1 = 0.88) and negative (F1 = 0.77), but 0.00 F1 on neutral.</a:t>
            </a:r>
            <a:endParaRPr lang="en-US" sz="1300" dirty="0"/>
          </a:p>
        </p:txBody>
      </p:sp>
      <p:sp>
        <p:nvSpPr>
          <p:cNvPr id="10" name="Text 7"/>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03  MODEL DEVELOPMENT</a:t>
            </a:r>
            <a:endParaRPr lang="en-US" sz="1200" dirty="0"/>
          </a:p>
        </p:txBody>
      </p:sp>
      <p:sp>
        <p:nvSpPr>
          <p:cNvPr id="3" name="Text 1"/>
          <p:cNvSpPr/>
          <p:nvPr/>
        </p:nvSpPr>
        <p:spPr>
          <a:xfrm>
            <a:off x="457200" y="621792"/>
            <a:ext cx="8229600" cy="64008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Model 2: LSTM</a:t>
            </a:r>
            <a:endParaRPr lang="en-US" sz="2800" dirty="0"/>
          </a:p>
        </p:txBody>
      </p:sp>
      <p:sp>
        <p:nvSpPr>
          <p:cNvPr id="4" name="Shape 2"/>
          <p:cNvSpPr/>
          <p:nvPr/>
        </p:nvSpPr>
        <p:spPr>
          <a:xfrm>
            <a:off x="457200" y="1600200"/>
            <a:ext cx="777240" cy="777240"/>
          </a:xfrm>
          <a:prstGeom prst="ellipse">
            <a:avLst/>
          </a:prstGeom>
          <a:solidFill>
            <a:srgbClr val="1C7293"/>
          </a:solidFill>
          <a:ln/>
        </p:spPr>
      </p:sp>
      <p:pic>
        <p:nvPicPr>
          <p:cNvPr id="5" name="Image 0" descr="preencoded.png">    </p:cNvPr>
          <p:cNvPicPr>
            <a:picLocks noChangeAspect="1"/>
          </p:cNvPicPr>
          <p:nvPr/>
        </p:nvPicPr>
        <p:blipFill>
          <a:blip r:embed="rId1"/>
          <a:stretch>
            <a:fillRect/>
          </a:stretch>
        </p:blipFill>
        <p:spPr>
          <a:xfrm>
            <a:off x="558241" y="1701241"/>
            <a:ext cx="575158" cy="575158"/>
          </a:xfrm>
          <a:prstGeom prst="rect">
            <a:avLst/>
          </a:prstGeom>
        </p:spPr>
      </p:pic>
      <p:sp>
        <p:nvSpPr>
          <p:cNvPr id="6" name="Text 3"/>
          <p:cNvSpPr/>
          <p:nvPr/>
        </p:nvSpPr>
        <p:spPr>
          <a:xfrm>
            <a:off x="1417320" y="1645920"/>
            <a:ext cx="6858000" cy="822960"/>
          </a:xfrm>
          <a:prstGeom prst="rect">
            <a:avLst/>
          </a:prstGeom>
          <a:noFill/>
          <a:ln/>
        </p:spPr>
        <p:txBody>
          <a:bodyPr wrap="square" lIns="0" tIns="0" rIns="0" bIns="0" rtlCol="0" anchor="ctr"/>
          <a:lstStyle/>
          <a:p>
            <a:pPr indent="0" marL="0">
              <a:lnSpc>
                <a:spcPct val="130000"/>
              </a:lnSpc>
              <a:buNone/>
            </a:pPr>
            <a:r>
              <a:rPr lang="en-US" sz="1400" b="1" dirty="0">
                <a:solidFill>
                  <a:srgbClr val="1E293B"/>
                </a:solidFill>
                <a:latin typeface="Calibri" pitchFamily="34" charset="0"/>
                <a:ea typeface="Calibri" pitchFamily="34" charset="-122"/>
                <a:cs typeface="Calibri" pitchFamily="34" charset="-120"/>
              </a:rPr>
              <a:t>Embedding + LSTM + Dense (softmax)</a:t>
            </a:r>
            <a:endParaRPr lang="en-US" sz="1400" dirty="0"/>
          </a:p>
          <a:p>
            <a:pPr indent="0" marL="0">
              <a:lnSpc>
                <a:spcPct val="130000"/>
              </a:lnSpc>
              <a:buNone/>
            </a:pPr>
            <a:r>
              <a:rPr lang="en-US" sz="1400" dirty="0">
                <a:solidFill>
                  <a:srgbClr val="64748B"/>
                </a:solidFill>
                <a:latin typeface="Calibri" pitchFamily="34" charset="0"/>
                <a:ea typeface="Calibri" pitchFamily="34" charset="-122"/>
                <a:cs typeface="Calibri" pitchFamily="34" charset="-120"/>
              </a:rPr>
              <a:t>A recurrent network that reads reviews token by token, capturing word order.</a:t>
            </a:r>
            <a:endParaRPr lang="en-US" sz="1400" dirty="0"/>
          </a:p>
        </p:txBody>
      </p:sp>
      <p:sp>
        <p:nvSpPr>
          <p:cNvPr id="7" name="Text 4"/>
          <p:cNvSpPr/>
          <p:nvPr/>
        </p:nvSpPr>
        <p:spPr>
          <a:xfrm>
            <a:off x="457200" y="2606040"/>
            <a:ext cx="8229600" cy="137160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E293B"/>
                </a:solidFill>
                <a:latin typeface="Calibri" pitchFamily="34" charset="0"/>
                <a:ea typeface="Calibri" pitchFamily="34" charset="-122"/>
                <a:cs typeface="Calibri" pitchFamily="34" charset="-120"/>
              </a:rPr>
              <a:t>64-dimensional embedding, single LSTM layer with 64 hidden units</a:t>
            </a:r>
            <a:endParaRPr lang="en-US" sz="1350" dirty="0"/>
          </a:p>
          <a:p>
            <a:pPr marL="342900" indent="-342900">
              <a:spcAft>
                <a:spcPts val="800"/>
              </a:spcAft>
              <a:buSzPct val="100000"/>
              <a:buChar char="✦"/>
            </a:pPr>
            <a:r>
              <a:rPr lang="en-US" sz="1350" dirty="0">
                <a:solidFill>
                  <a:srgbClr val="1E293B"/>
                </a:solidFill>
                <a:latin typeface="Calibri" pitchFamily="34" charset="0"/>
                <a:ea typeface="Calibri" pitchFamily="34" charset="-122"/>
                <a:cs typeface="Calibri" pitchFamily="34" charset="-120"/>
              </a:rPr>
              <a:t>Class weights applied via compute_class_weight('balanced')</a:t>
            </a:r>
            <a:endParaRPr lang="en-US" sz="1350" dirty="0"/>
          </a:p>
          <a:p>
            <a:pPr marL="342900" indent="-342900">
              <a:spcAft>
                <a:spcPts val="800"/>
              </a:spcAft>
              <a:buSzPct val="100000"/>
              <a:buChar char="✦"/>
            </a:pPr>
            <a:r>
              <a:rPr lang="en-US" sz="1350" dirty="0">
                <a:solidFill>
                  <a:srgbClr val="1E293B"/>
                </a:solidFill>
                <a:latin typeface="Calibri" pitchFamily="34" charset="0"/>
                <a:ea typeface="Calibri" pitchFamily="34" charset="-122"/>
                <a:cs typeface="Calibri" pitchFamily="34" charset="-120"/>
              </a:rPr>
              <a:t>Trained for 10 epochs, roughly 45 seconds on the same split</a:t>
            </a:r>
            <a:endParaRPr lang="en-US" sz="1350" dirty="0"/>
          </a:p>
        </p:txBody>
      </p:sp>
      <p:sp>
        <p:nvSpPr>
          <p:cNvPr id="8" name="Shape 5"/>
          <p:cNvSpPr/>
          <p:nvPr/>
        </p:nvSpPr>
        <p:spPr>
          <a:xfrm>
            <a:off x="457200" y="3977640"/>
            <a:ext cx="8229600" cy="777240"/>
          </a:xfrm>
          <a:prstGeom prst="roundRect">
            <a:avLst>
              <a:gd name="adj" fmla="val 9412"/>
            </a:avLst>
          </a:prstGeom>
          <a:solidFill>
            <a:srgbClr val="1C7293"/>
          </a:solidFill>
          <a:ln/>
          <a:effectLst>
            <a:outerShdw sx="100000" sy="100000" kx="0" ky="0" algn="bl" rotWithShape="0" blurRad="101600" dist="38100" dir="2700000">
              <a:srgbClr val="000000">
                <a:alpha val="12000"/>
              </a:srgbClr>
            </a:outerShdw>
          </a:effectLst>
        </p:spPr>
      </p:sp>
      <p:sp>
        <p:nvSpPr>
          <p:cNvPr id="9" name="Text 6"/>
          <p:cNvSpPr/>
          <p:nvPr/>
        </p:nvSpPr>
        <p:spPr>
          <a:xfrm>
            <a:off x="685800" y="4160520"/>
            <a:ext cx="77724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Result: </a:t>
            </a:r>
            <a:pPr indent="0" marL="0">
              <a:buNone/>
            </a:pPr>
            <a:r>
              <a:rPr lang="en-US" sz="1300" dirty="0">
                <a:solidFill>
                  <a:srgbClr val="E8F1F5"/>
                </a:solidFill>
                <a:latin typeface="Calibri" pitchFamily="34" charset="0"/>
                <a:ea typeface="Calibri" pitchFamily="34" charset="-122"/>
                <a:cs typeface="Calibri" pitchFamily="34" charset="-120"/>
              </a:rPr>
              <a:t>50.00% accuracy overall. Neutral recall hit 1.00 but precision collapsed to 0.08, over-predicting neutral broadly.</a:t>
            </a:r>
            <a:endParaRPr lang="en-US" sz="1300" dirty="0"/>
          </a:p>
        </p:txBody>
      </p:sp>
      <p:sp>
        <p:nvSpPr>
          <p:cNvPr id="10" name="Text 7"/>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03  MODEL DEVELOPMENT</a:t>
            </a:r>
            <a:endParaRPr lang="en-US" sz="1200" dirty="0"/>
          </a:p>
        </p:txBody>
      </p:sp>
      <p:sp>
        <p:nvSpPr>
          <p:cNvPr id="3" name="Text 1"/>
          <p:cNvSpPr/>
          <p:nvPr/>
        </p:nvSpPr>
        <p:spPr>
          <a:xfrm>
            <a:off x="457200" y="621792"/>
            <a:ext cx="8229600" cy="64008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Side-by-Side Comparison</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1508760"/>
          <a:ext cx="7772400" cy="914400"/>
        </p:xfrm>
        <a:graphic>
          <a:graphicData uri="http://schemas.openxmlformats.org/drawingml/2006/table">
            <a:tbl>
              <a:tblPr/>
              <a:tblGrid>
                <a:gridCol w="2926080"/>
                <a:gridCol w="2423160"/>
                <a:gridCol w="242316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Naive Bayes</a:t>
                      </a:r>
                      <a:endParaRPr lang="en-US" sz="130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LSTM</a:t>
                      </a:r>
                      <a:endParaRPr lang="en-US" sz="130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tr>
              <a:tr h="384048">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Overall Accuracy</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ctr" indent="0" marL="0">
                        <a:buNone/>
                      </a:pPr>
                      <a:r>
                        <a:rPr lang="en-US" sz="1250" b="1" dirty="0">
                          <a:solidFill>
                            <a:srgbClr val="065A82"/>
                          </a:solidFill>
                          <a:latin typeface="Calibri" pitchFamily="34" charset="0"/>
                          <a:ea typeface="Calibri" pitchFamily="34" charset="-122"/>
                          <a:cs typeface="Calibri" pitchFamily="34" charset="-120"/>
                        </a:rPr>
                        <a:t>0.7690</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E8F1F5"/>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0.5000</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r>
              <a:tr h="384048">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Weighted F1-Score</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ctr" indent="0" marL="0">
                        <a:buNone/>
                      </a:pPr>
                      <a:r>
                        <a:rPr lang="en-US" sz="1250" b="1" dirty="0">
                          <a:solidFill>
                            <a:srgbClr val="065A82"/>
                          </a:solidFill>
                          <a:latin typeface="Calibri" pitchFamily="34" charset="0"/>
                          <a:ea typeface="Calibri" pitchFamily="34" charset="-122"/>
                          <a:cs typeface="Calibri" pitchFamily="34" charset="-120"/>
                        </a:rPr>
                        <a:t>0.80</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E8F1F5"/>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0.59</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r>
              <a:tr h="384048">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Negative F1</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ctr" indent="0" marL="0">
                        <a:buNone/>
                      </a:pPr>
                      <a:r>
                        <a:rPr lang="en-US" sz="1250" b="1" dirty="0">
                          <a:solidFill>
                            <a:srgbClr val="065A82"/>
                          </a:solidFill>
                          <a:latin typeface="Calibri" pitchFamily="34" charset="0"/>
                          <a:ea typeface="Calibri" pitchFamily="34" charset="-122"/>
                          <a:cs typeface="Calibri" pitchFamily="34" charset="-120"/>
                        </a:rPr>
                        <a:t>0.77</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E8F1F5"/>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0.34</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r>
              <a:tr h="384048">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Neutral F1</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0.00</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ctr" indent="0" marL="0">
                        <a:buNone/>
                      </a:pPr>
                      <a:r>
                        <a:rPr lang="en-US" sz="1250" b="1" dirty="0">
                          <a:solidFill>
                            <a:srgbClr val="065A82"/>
                          </a:solidFill>
                          <a:latin typeface="Calibri" pitchFamily="34" charset="0"/>
                          <a:ea typeface="Calibri" pitchFamily="34" charset="-122"/>
                          <a:cs typeface="Calibri" pitchFamily="34" charset="-120"/>
                        </a:rPr>
                        <a:t>0.15</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E8F1F5"/>
                    </a:solidFill>
                  </a:tcPr>
                </a:tc>
              </a:tr>
              <a:tr h="384048">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Positive F1</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ctr" indent="0" marL="0">
                        <a:buNone/>
                      </a:pPr>
                      <a:r>
                        <a:rPr lang="en-US" sz="1250" b="1" dirty="0">
                          <a:solidFill>
                            <a:srgbClr val="065A82"/>
                          </a:solidFill>
                          <a:latin typeface="Calibri" pitchFamily="34" charset="0"/>
                          <a:ea typeface="Calibri" pitchFamily="34" charset="-122"/>
                          <a:cs typeface="Calibri" pitchFamily="34" charset="-120"/>
                        </a:rPr>
                        <a:t>0.88</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E8F1F5"/>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0.80</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r>
              <a:tr h="384048">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Training Time</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ctr" indent="0" marL="0">
                        <a:buNone/>
                      </a:pPr>
                      <a:r>
                        <a:rPr lang="en-US" sz="1250" b="1" dirty="0">
                          <a:solidFill>
                            <a:srgbClr val="065A82"/>
                          </a:solidFill>
                          <a:latin typeface="Calibri" pitchFamily="34" charset="0"/>
                          <a:ea typeface="Calibri" pitchFamily="34" charset="-122"/>
                          <a:cs typeface="Calibri" pitchFamily="34" charset="-120"/>
                        </a:rPr>
                        <a:t>Near-instant</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E8F1F5"/>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~45 sec (10 epochs)</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r>
            </a:tbl>
          </a:graphicData>
        </a:graphic>
      </p:graphicFrame>
      <p:sp>
        <p:nvSpPr>
          <p:cNvPr id="5" name="Text 2"/>
          <p:cNvSpPr/>
          <p:nvPr/>
        </p:nvSpPr>
        <p:spPr>
          <a:xfrm>
            <a:off x="685800" y="4434840"/>
            <a:ext cx="7772400"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Bold values mark the better-performing model per metric. Naive Bayes wins overall; LSTM's higher neutral recall came at a heavy precision cost.</a:t>
            </a:r>
            <a:endParaRPr lang="en-US" sz="1150" dirty="0"/>
          </a:p>
        </p:txBody>
      </p:sp>
      <p:sp>
        <p:nvSpPr>
          <p:cNvPr id="6" name="Text 3"/>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04  SYSTEM ARCHITECTURE</a:t>
            </a:r>
            <a:endParaRPr lang="en-US" sz="1200" dirty="0"/>
          </a:p>
        </p:txBody>
      </p:sp>
      <p:sp>
        <p:nvSpPr>
          <p:cNvPr id="3" name="Text 1"/>
          <p:cNvSpPr/>
          <p:nvPr/>
        </p:nvSpPr>
        <p:spPr>
          <a:xfrm>
            <a:off x="457200" y="621792"/>
            <a:ext cx="8229600" cy="64008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End-to-End Pipeline</a:t>
            </a:r>
            <a:endParaRPr lang="en-US" sz="2800" dirty="0"/>
          </a:p>
        </p:txBody>
      </p:sp>
      <p:sp>
        <p:nvSpPr>
          <p:cNvPr id="4" name="Shape 2"/>
          <p:cNvSpPr/>
          <p:nvPr/>
        </p:nvSpPr>
        <p:spPr>
          <a:xfrm>
            <a:off x="434340" y="1874520"/>
            <a:ext cx="1508760" cy="1554480"/>
          </a:xfrm>
          <a:prstGeom prst="roundRect">
            <a:avLst>
              <a:gd name="adj" fmla="val 6061"/>
            </a:avLst>
          </a:prstGeom>
          <a:solidFill>
            <a:srgbClr val="065A82"/>
          </a:solidFill>
          <a:ln/>
          <a:effectLst>
            <a:outerShdw sx="100000" sy="100000" kx="0" ky="0" algn="bl" rotWithShape="0" blurRad="101600" dist="38100" dir="2700000">
              <a:srgbClr val="000000">
                <a:alpha val="12000"/>
              </a:srgbClr>
            </a:outerShdw>
          </a:effectLst>
        </p:spPr>
      </p:sp>
      <p:sp>
        <p:nvSpPr>
          <p:cNvPr id="5" name="Shape 3"/>
          <p:cNvSpPr/>
          <p:nvPr/>
        </p:nvSpPr>
        <p:spPr>
          <a:xfrm>
            <a:off x="937260" y="2039112"/>
            <a:ext cx="502920" cy="50292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002640" y="2104492"/>
            <a:ext cx="372161" cy="372161"/>
          </a:xfrm>
          <a:prstGeom prst="rect">
            <a:avLst/>
          </a:prstGeom>
        </p:spPr>
      </p:pic>
      <p:sp>
        <p:nvSpPr>
          <p:cNvPr id="7" name="Text 4"/>
          <p:cNvSpPr/>
          <p:nvPr/>
        </p:nvSpPr>
        <p:spPr>
          <a:xfrm>
            <a:off x="480060" y="2606040"/>
            <a:ext cx="1417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Shopee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Reviews</a:t>
            </a:r>
            <a:endParaRPr lang="en-US" sz="1100" dirty="0"/>
          </a:p>
        </p:txBody>
      </p:sp>
      <p:sp>
        <p:nvSpPr>
          <p:cNvPr id="8" name="Text 5"/>
          <p:cNvSpPr/>
          <p:nvPr/>
        </p:nvSpPr>
        <p:spPr>
          <a:xfrm>
            <a:off x="480060" y="3063240"/>
            <a:ext cx="1417320" cy="320040"/>
          </a:xfrm>
          <a:prstGeom prst="rect">
            <a:avLst/>
          </a:prstGeom>
          <a:noFill/>
          <a:ln/>
        </p:spPr>
        <p:txBody>
          <a:bodyPr wrap="square" lIns="0" tIns="0" rIns="0" bIns="0" rtlCol="0" anchor="ctr"/>
          <a:lstStyle/>
          <a:p>
            <a:pPr algn="ctr" indent="0" marL="0">
              <a:buNone/>
            </a:pPr>
            <a:r>
              <a:rPr lang="en-US" sz="850" dirty="0">
                <a:solidFill>
                  <a:srgbClr val="E8F1F5"/>
                </a:solidFill>
                <a:latin typeface="Calibri" pitchFamily="34" charset="0"/>
                <a:ea typeface="Calibri" pitchFamily="34" charset="-122"/>
                <a:cs typeface="Calibri" pitchFamily="34" charset="-120"/>
              </a:rPr>
              <a:t>Source data</a:t>
            </a:r>
            <a:endParaRPr lang="en-US" sz="850" dirty="0"/>
          </a:p>
        </p:txBody>
      </p:sp>
      <p:sp>
        <p:nvSpPr>
          <p:cNvPr id="9" name="Text 6"/>
          <p:cNvSpPr/>
          <p:nvPr/>
        </p:nvSpPr>
        <p:spPr>
          <a:xfrm>
            <a:off x="1943100" y="2331720"/>
            <a:ext cx="182880" cy="548640"/>
          </a:xfrm>
          <a:prstGeom prst="rect">
            <a:avLst/>
          </a:prstGeom>
          <a:noFill/>
          <a:ln/>
        </p:spPr>
        <p:txBody>
          <a:bodyPr wrap="square" lIns="0" tIns="0" rIns="0" bIns="0" rtlCol="0" anchor="ctr"/>
          <a:lstStyle/>
          <a:p>
            <a:pPr algn="ctr" indent="0" marL="0">
              <a:buNone/>
            </a:pPr>
            <a:r>
              <a:rPr lang="en-US" sz="1600" b="1" dirty="0">
                <a:solidFill>
                  <a:srgbClr val="64748B"/>
                </a:solidFill>
                <a:latin typeface="Calibri" pitchFamily="34" charset="0"/>
                <a:ea typeface="Calibri" pitchFamily="34" charset="-122"/>
                <a:cs typeface="Calibri" pitchFamily="34" charset="-120"/>
              </a:rPr>
              <a:t>→</a:t>
            </a:r>
            <a:endParaRPr lang="en-US" sz="1600" dirty="0"/>
          </a:p>
        </p:txBody>
      </p:sp>
      <p:sp>
        <p:nvSpPr>
          <p:cNvPr id="10" name="Shape 7"/>
          <p:cNvSpPr/>
          <p:nvPr/>
        </p:nvSpPr>
        <p:spPr>
          <a:xfrm>
            <a:off x="2125980" y="1874520"/>
            <a:ext cx="1508760" cy="1554480"/>
          </a:xfrm>
          <a:prstGeom prst="roundRect">
            <a:avLst>
              <a:gd name="adj" fmla="val 6061"/>
            </a:avLst>
          </a:prstGeom>
          <a:solidFill>
            <a:srgbClr val="1C7293"/>
          </a:solidFill>
          <a:ln/>
          <a:effectLst>
            <a:outerShdw sx="100000" sy="100000" kx="0" ky="0" algn="bl" rotWithShape="0" blurRad="101600" dist="38100" dir="2700000">
              <a:srgbClr val="000000">
                <a:alpha val="12000"/>
              </a:srgbClr>
            </a:outerShdw>
          </a:effectLst>
        </p:spPr>
      </p:sp>
      <p:sp>
        <p:nvSpPr>
          <p:cNvPr id="11" name="Shape 8"/>
          <p:cNvSpPr/>
          <p:nvPr/>
        </p:nvSpPr>
        <p:spPr>
          <a:xfrm>
            <a:off x="2628900" y="2039112"/>
            <a:ext cx="502920" cy="502920"/>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2694280" y="2104492"/>
            <a:ext cx="372161" cy="372161"/>
          </a:xfrm>
          <a:prstGeom prst="rect">
            <a:avLst/>
          </a:prstGeom>
        </p:spPr>
      </p:pic>
      <p:sp>
        <p:nvSpPr>
          <p:cNvPr id="13" name="Text 9"/>
          <p:cNvSpPr/>
          <p:nvPr/>
        </p:nvSpPr>
        <p:spPr>
          <a:xfrm>
            <a:off x="2171700" y="2606040"/>
            <a:ext cx="1417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Kafka</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Producer</a:t>
            </a:r>
            <a:endParaRPr lang="en-US" sz="1100" dirty="0"/>
          </a:p>
        </p:txBody>
      </p:sp>
      <p:sp>
        <p:nvSpPr>
          <p:cNvPr id="14" name="Text 10"/>
          <p:cNvSpPr/>
          <p:nvPr/>
        </p:nvSpPr>
        <p:spPr>
          <a:xfrm>
            <a:off x="2171700" y="3063240"/>
            <a:ext cx="1417320" cy="320040"/>
          </a:xfrm>
          <a:prstGeom prst="rect">
            <a:avLst/>
          </a:prstGeom>
          <a:noFill/>
          <a:ln/>
        </p:spPr>
        <p:txBody>
          <a:bodyPr wrap="square" lIns="0" tIns="0" rIns="0" bIns="0" rtlCol="0" anchor="ctr"/>
          <a:lstStyle/>
          <a:p>
            <a:pPr algn="ctr" indent="0" marL="0">
              <a:buNone/>
            </a:pPr>
            <a:r>
              <a:rPr lang="en-US" sz="850" dirty="0">
                <a:solidFill>
                  <a:srgbClr val="E8F1F5"/>
                </a:solidFill>
                <a:latin typeface="Calibri" pitchFamily="34" charset="0"/>
                <a:ea typeface="Calibri" pitchFamily="34" charset="-122"/>
                <a:cs typeface="Calibri" pitchFamily="34" charset="-120"/>
              </a:rPr>
              <a:t>sentiment-input topic</a:t>
            </a:r>
            <a:endParaRPr lang="en-US" sz="850" dirty="0"/>
          </a:p>
        </p:txBody>
      </p:sp>
      <p:sp>
        <p:nvSpPr>
          <p:cNvPr id="15" name="Text 11"/>
          <p:cNvSpPr/>
          <p:nvPr/>
        </p:nvSpPr>
        <p:spPr>
          <a:xfrm>
            <a:off x="3634740" y="2331720"/>
            <a:ext cx="182880" cy="548640"/>
          </a:xfrm>
          <a:prstGeom prst="rect">
            <a:avLst/>
          </a:prstGeom>
          <a:noFill/>
          <a:ln/>
        </p:spPr>
        <p:txBody>
          <a:bodyPr wrap="square" lIns="0" tIns="0" rIns="0" bIns="0" rtlCol="0" anchor="ctr"/>
          <a:lstStyle/>
          <a:p>
            <a:pPr algn="ctr" indent="0" marL="0">
              <a:buNone/>
            </a:pPr>
            <a:r>
              <a:rPr lang="en-US" sz="1600" b="1" dirty="0">
                <a:solidFill>
                  <a:srgbClr val="64748B"/>
                </a:solidFill>
                <a:latin typeface="Calibri" pitchFamily="34" charset="0"/>
                <a:ea typeface="Calibri" pitchFamily="34" charset="-122"/>
                <a:cs typeface="Calibri" pitchFamily="34" charset="-120"/>
              </a:rPr>
              <a:t>→</a:t>
            </a:r>
            <a:endParaRPr lang="en-US" sz="1600" dirty="0"/>
          </a:p>
        </p:txBody>
      </p:sp>
      <p:sp>
        <p:nvSpPr>
          <p:cNvPr id="16" name="Shape 12"/>
          <p:cNvSpPr/>
          <p:nvPr/>
        </p:nvSpPr>
        <p:spPr>
          <a:xfrm>
            <a:off x="3817620" y="1874520"/>
            <a:ext cx="1508760" cy="1554480"/>
          </a:xfrm>
          <a:prstGeom prst="roundRect">
            <a:avLst>
              <a:gd name="adj" fmla="val 6061"/>
            </a:avLst>
          </a:prstGeom>
          <a:solidFill>
            <a:srgbClr val="065A82"/>
          </a:solidFill>
          <a:ln/>
          <a:effectLst>
            <a:outerShdw sx="100000" sy="100000" kx="0" ky="0" algn="bl" rotWithShape="0" blurRad="101600" dist="38100" dir="2700000">
              <a:srgbClr val="000000">
                <a:alpha val="12000"/>
              </a:srgbClr>
            </a:outerShdw>
          </a:effectLst>
        </p:spPr>
      </p:sp>
      <p:sp>
        <p:nvSpPr>
          <p:cNvPr id="17" name="Shape 13"/>
          <p:cNvSpPr/>
          <p:nvPr/>
        </p:nvSpPr>
        <p:spPr>
          <a:xfrm>
            <a:off x="4320540" y="2039112"/>
            <a:ext cx="502920" cy="502920"/>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4385920" y="2104492"/>
            <a:ext cx="372161" cy="372161"/>
          </a:xfrm>
          <a:prstGeom prst="rect">
            <a:avLst/>
          </a:prstGeom>
        </p:spPr>
      </p:pic>
      <p:sp>
        <p:nvSpPr>
          <p:cNvPr id="19" name="Text 14"/>
          <p:cNvSpPr/>
          <p:nvPr/>
        </p:nvSpPr>
        <p:spPr>
          <a:xfrm>
            <a:off x="3863340" y="2606040"/>
            <a:ext cx="1417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Spark</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Structured Streaming</a:t>
            </a:r>
            <a:endParaRPr lang="en-US" sz="1100" dirty="0"/>
          </a:p>
        </p:txBody>
      </p:sp>
      <p:sp>
        <p:nvSpPr>
          <p:cNvPr id="20" name="Text 15"/>
          <p:cNvSpPr/>
          <p:nvPr/>
        </p:nvSpPr>
        <p:spPr>
          <a:xfrm>
            <a:off x="3863340" y="3063240"/>
            <a:ext cx="1417320" cy="320040"/>
          </a:xfrm>
          <a:prstGeom prst="rect">
            <a:avLst/>
          </a:prstGeom>
          <a:noFill/>
          <a:ln/>
        </p:spPr>
        <p:txBody>
          <a:bodyPr wrap="square" lIns="0" tIns="0" rIns="0" bIns="0" rtlCol="0" anchor="ctr"/>
          <a:lstStyle/>
          <a:p>
            <a:pPr algn="ctr" indent="0" marL="0">
              <a:buNone/>
            </a:pPr>
            <a:r>
              <a:rPr lang="en-US" sz="850" dirty="0">
                <a:solidFill>
                  <a:srgbClr val="E8F1F5"/>
                </a:solidFill>
                <a:latin typeface="Calibri" pitchFamily="34" charset="0"/>
                <a:ea typeface="Calibri" pitchFamily="34" charset="-122"/>
                <a:cs typeface="Calibri" pitchFamily="34" charset="-120"/>
              </a:rPr>
              <a:t>NB model inference</a:t>
            </a:r>
            <a:endParaRPr lang="en-US" sz="850" dirty="0"/>
          </a:p>
        </p:txBody>
      </p:sp>
      <p:sp>
        <p:nvSpPr>
          <p:cNvPr id="21" name="Text 16"/>
          <p:cNvSpPr/>
          <p:nvPr/>
        </p:nvSpPr>
        <p:spPr>
          <a:xfrm>
            <a:off x="5326380" y="2331720"/>
            <a:ext cx="182880" cy="548640"/>
          </a:xfrm>
          <a:prstGeom prst="rect">
            <a:avLst/>
          </a:prstGeom>
          <a:noFill/>
          <a:ln/>
        </p:spPr>
        <p:txBody>
          <a:bodyPr wrap="square" lIns="0" tIns="0" rIns="0" bIns="0" rtlCol="0" anchor="ctr"/>
          <a:lstStyle/>
          <a:p>
            <a:pPr algn="ctr" indent="0" marL="0">
              <a:buNone/>
            </a:pPr>
            <a:r>
              <a:rPr lang="en-US" sz="1600" b="1" dirty="0">
                <a:solidFill>
                  <a:srgbClr val="64748B"/>
                </a:solidFill>
                <a:latin typeface="Calibri" pitchFamily="34" charset="0"/>
                <a:ea typeface="Calibri" pitchFamily="34" charset="-122"/>
                <a:cs typeface="Calibri" pitchFamily="34" charset="-120"/>
              </a:rPr>
              <a:t>→</a:t>
            </a:r>
            <a:endParaRPr lang="en-US" sz="1600" dirty="0"/>
          </a:p>
        </p:txBody>
      </p:sp>
      <p:sp>
        <p:nvSpPr>
          <p:cNvPr id="22" name="Shape 17"/>
          <p:cNvSpPr/>
          <p:nvPr/>
        </p:nvSpPr>
        <p:spPr>
          <a:xfrm>
            <a:off x="5509260" y="1874520"/>
            <a:ext cx="1508760" cy="1554480"/>
          </a:xfrm>
          <a:prstGeom prst="roundRect">
            <a:avLst>
              <a:gd name="adj" fmla="val 6061"/>
            </a:avLst>
          </a:prstGeom>
          <a:solidFill>
            <a:srgbClr val="1C7293"/>
          </a:solidFill>
          <a:ln/>
          <a:effectLst>
            <a:outerShdw sx="100000" sy="100000" kx="0" ky="0" algn="bl" rotWithShape="0" blurRad="101600" dist="38100" dir="2700000">
              <a:srgbClr val="000000">
                <a:alpha val="12000"/>
              </a:srgbClr>
            </a:outerShdw>
          </a:effectLst>
        </p:spPr>
      </p:sp>
      <p:sp>
        <p:nvSpPr>
          <p:cNvPr id="23" name="Shape 18"/>
          <p:cNvSpPr/>
          <p:nvPr/>
        </p:nvSpPr>
        <p:spPr>
          <a:xfrm>
            <a:off x="6012180" y="2039112"/>
            <a:ext cx="502920" cy="502920"/>
          </a:xfrm>
          <a:prstGeom prst="ellipse">
            <a:avLst/>
          </a:prstGeom>
          <a:solidFill>
            <a:srgbClr val="FFFFFF"/>
          </a:solidFill>
          <a:ln/>
        </p:spPr>
      </p:sp>
      <p:pic>
        <p:nvPicPr>
          <p:cNvPr id="24" name="Image 3" descr="preencoded.png">    </p:cNvPr>
          <p:cNvPicPr>
            <a:picLocks noChangeAspect="1"/>
          </p:cNvPicPr>
          <p:nvPr/>
        </p:nvPicPr>
        <p:blipFill>
          <a:blip r:embed="rId4"/>
          <a:stretch>
            <a:fillRect/>
          </a:stretch>
        </p:blipFill>
        <p:spPr>
          <a:xfrm>
            <a:off x="6077560" y="2104492"/>
            <a:ext cx="372161" cy="372161"/>
          </a:xfrm>
          <a:prstGeom prst="rect">
            <a:avLst/>
          </a:prstGeom>
        </p:spPr>
      </p:pic>
      <p:sp>
        <p:nvSpPr>
          <p:cNvPr id="25" name="Text 19"/>
          <p:cNvSpPr/>
          <p:nvPr/>
        </p:nvSpPr>
        <p:spPr>
          <a:xfrm>
            <a:off x="5554980" y="2606040"/>
            <a:ext cx="1417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Elasticsearch</a:t>
            </a:r>
            <a:endParaRPr lang="en-US" sz="1100" dirty="0"/>
          </a:p>
        </p:txBody>
      </p:sp>
      <p:sp>
        <p:nvSpPr>
          <p:cNvPr id="26" name="Text 20"/>
          <p:cNvSpPr/>
          <p:nvPr/>
        </p:nvSpPr>
        <p:spPr>
          <a:xfrm>
            <a:off x="5554980" y="3063240"/>
            <a:ext cx="1417320" cy="320040"/>
          </a:xfrm>
          <a:prstGeom prst="rect">
            <a:avLst/>
          </a:prstGeom>
          <a:noFill/>
          <a:ln/>
        </p:spPr>
        <p:txBody>
          <a:bodyPr wrap="square" lIns="0" tIns="0" rIns="0" bIns="0" rtlCol="0" anchor="ctr"/>
          <a:lstStyle/>
          <a:p>
            <a:pPr algn="ctr" indent="0" marL="0">
              <a:buNone/>
            </a:pPr>
            <a:r>
              <a:rPr lang="en-US" sz="850" dirty="0">
                <a:solidFill>
                  <a:srgbClr val="E8F1F5"/>
                </a:solidFill>
                <a:latin typeface="Calibri" pitchFamily="34" charset="0"/>
                <a:ea typeface="Calibri" pitchFamily="34" charset="-122"/>
                <a:cs typeface="Calibri" pitchFamily="34" charset="-120"/>
              </a:rPr>
              <a:t>sentiment-predictions index</a:t>
            </a:r>
            <a:endParaRPr lang="en-US" sz="850" dirty="0"/>
          </a:p>
        </p:txBody>
      </p:sp>
      <p:sp>
        <p:nvSpPr>
          <p:cNvPr id="27" name="Text 21"/>
          <p:cNvSpPr/>
          <p:nvPr/>
        </p:nvSpPr>
        <p:spPr>
          <a:xfrm>
            <a:off x="7018020" y="2331720"/>
            <a:ext cx="182880" cy="548640"/>
          </a:xfrm>
          <a:prstGeom prst="rect">
            <a:avLst/>
          </a:prstGeom>
          <a:noFill/>
          <a:ln/>
        </p:spPr>
        <p:txBody>
          <a:bodyPr wrap="square" lIns="0" tIns="0" rIns="0" bIns="0" rtlCol="0" anchor="ctr"/>
          <a:lstStyle/>
          <a:p>
            <a:pPr algn="ctr" indent="0" marL="0">
              <a:buNone/>
            </a:pPr>
            <a:r>
              <a:rPr lang="en-US" sz="1600" b="1" dirty="0">
                <a:solidFill>
                  <a:srgbClr val="64748B"/>
                </a:solidFill>
                <a:latin typeface="Calibri" pitchFamily="34" charset="0"/>
                <a:ea typeface="Calibri" pitchFamily="34" charset="-122"/>
                <a:cs typeface="Calibri" pitchFamily="34" charset="-120"/>
              </a:rPr>
              <a:t>→</a:t>
            </a:r>
            <a:endParaRPr lang="en-US" sz="1600" dirty="0"/>
          </a:p>
        </p:txBody>
      </p:sp>
      <p:sp>
        <p:nvSpPr>
          <p:cNvPr id="28" name="Shape 22"/>
          <p:cNvSpPr/>
          <p:nvPr/>
        </p:nvSpPr>
        <p:spPr>
          <a:xfrm>
            <a:off x="7200900" y="1874520"/>
            <a:ext cx="1508760" cy="1554480"/>
          </a:xfrm>
          <a:prstGeom prst="roundRect">
            <a:avLst>
              <a:gd name="adj" fmla="val 6061"/>
            </a:avLst>
          </a:prstGeom>
          <a:solidFill>
            <a:srgbClr val="065A82"/>
          </a:solidFill>
          <a:ln/>
          <a:effectLst>
            <a:outerShdw sx="100000" sy="100000" kx="0" ky="0" algn="bl" rotWithShape="0" blurRad="101600" dist="38100" dir="2700000">
              <a:srgbClr val="000000">
                <a:alpha val="12000"/>
              </a:srgbClr>
            </a:outerShdw>
          </a:effectLst>
        </p:spPr>
      </p:sp>
      <p:sp>
        <p:nvSpPr>
          <p:cNvPr id="29" name="Shape 23"/>
          <p:cNvSpPr/>
          <p:nvPr/>
        </p:nvSpPr>
        <p:spPr>
          <a:xfrm>
            <a:off x="7703820" y="2039112"/>
            <a:ext cx="502920" cy="502920"/>
          </a:xfrm>
          <a:prstGeom prst="ellipse">
            <a:avLst/>
          </a:prstGeom>
          <a:solidFill>
            <a:srgbClr val="FFFFFF"/>
          </a:solidFill>
          <a:ln/>
        </p:spPr>
      </p:sp>
      <p:pic>
        <p:nvPicPr>
          <p:cNvPr id="30" name="Image 4" descr="preencoded.png">    </p:cNvPr>
          <p:cNvPicPr>
            <a:picLocks noChangeAspect="1"/>
          </p:cNvPicPr>
          <p:nvPr/>
        </p:nvPicPr>
        <p:blipFill>
          <a:blip r:embed="rId5"/>
          <a:stretch>
            <a:fillRect/>
          </a:stretch>
        </p:blipFill>
        <p:spPr>
          <a:xfrm>
            <a:off x="7769200" y="2104492"/>
            <a:ext cx="372161" cy="372161"/>
          </a:xfrm>
          <a:prstGeom prst="rect">
            <a:avLst/>
          </a:prstGeom>
        </p:spPr>
      </p:pic>
      <p:sp>
        <p:nvSpPr>
          <p:cNvPr id="31" name="Text 24"/>
          <p:cNvSpPr/>
          <p:nvPr/>
        </p:nvSpPr>
        <p:spPr>
          <a:xfrm>
            <a:off x="7246620" y="2606040"/>
            <a:ext cx="1417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Dashboard</a:t>
            </a:r>
            <a:endParaRPr lang="en-US" sz="1100" dirty="0"/>
          </a:p>
        </p:txBody>
      </p:sp>
      <p:sp>
        <p:nvSpPr>
          <p:cNvPr id="32" name="Text 25"/>
          <p:cNvSpPr/>
          <p:nvPr/>
        </p:nvSpPr>
        <p:spPr>
          <a:xfrm>
            <a:off x="7246620" y="3063240"/>
            <a:ext cx="1417320" cy="320040"/>
          </a:xfrm>
          <a:prstGeom prst="rect">
            <a:avLst/>
          </a:prstGeom>
          <a:noFill/>
          <a:ln/>
        </p:spPr>
        <p:txBody>
          <a:bodyPr wrap="square" lIns="0" tIns="0" rIns="0" bIns="0" rtlCol="0" anchor="ctr"/>
          <a:lstStyle/>
          <a:p>
            <a:pPr algn="ctr" indent="0" marL="0">
              <a:buNone/>
            </a:pPr>
            <a:r>
              <a:rPr lang="en-US" sz="850" dirty="0">
                <a:solidFill>
                  <a:srgbClr val="E8F1F5"/>
                </a:solidFill>
                <a:latin typeface="Calibri" pitchFamily="34" charset="0"/>
                <a:ea typeface="Calibri" pitchFamily="34" charset="-122"/>
                <a:cs typeface="Calibri" pitchFamily="34" charset="-120"/>
              </a:rPr>
              <a:t>Kibana / Superset</a:t>
            </a:r>
            <a:endParaRPr lang="en-US" sz="850" dirty="0"/>
          </a:p>
        </p:txBody>
      </p:sp>
      <p:sp>
        <p:nvSpPr>
          <p:cNvPr id="33" name="Text 26"/>
          <p:cNvSpPr/>
          <p:nvPr/>
        </p:nvSpPr>
        <p:spPr>
          <a:xfrm>
            <a:off x="457200" y="3840480"/>
            <a:ext cx="8229600" cy="457200"/>
          </a:xfrm>
          <a:prstGeom prst="rect">
            <a:avLst/>
          </a:prstGeom>
          <a:noFill/>
          <a:ln/>
        </p:spPr>
        <p:txBody>
          <a:bodyPr wrap="square" lIns="0" tIns="0" rIns="0" bIns="0" rtlCol="0" anchor="ctr"/>
          <a:lstStyle/>
          <a:p>
            <a:pPr algn="ctr" indent="0" marL="0">
              <a:buNone/>
            </a:pPr>
            <a:r>
              <a:rPr lang="en-US" sz="1300" i="1" dirty="0">
                <a:solidFill>
                  <a:srgbClr val="64748B"/>
                </a:solidFill>
                <a:latin typeface="Calibri" pitchFamily="34" charset="0"/>
                <a:ea typeface="Calibri" pitchFamily="34" charset="-122"/>
                <a:cs typeface="Calibri" pitchFamily="34" charset="-120"/>
              </a:rPr>
              <a:t>14 micro-batches processed all 1,707 reviews with zero data loss (verified via Elasticsearch document count).</a:t>
            </a:r>
            <a:endParaRPr lang="en-US" sz="1300" dirty="0"/>
          </a:p>
        </p:txBody>
      </p:sp>
      <p:sp>
        <p:nvSpPr>
          <p:cNvPr id="34" name="Text 27"/>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04  SYSTEM ARCHITECTURE</a:t>
            </a:r>
            <a:endParaRPr lang="en-US" sz="1200" dirty="0"/>
          </a:p>
        </p:txBody>
      </p:sp>
      <p:sp>
        <p:nvSpPr>
          <p:cNvPr id="3" name="Text 1"/>
          <p:cNvSpPr/>
          <p:nvPr/>
        </p:nvSpPr>
        <p:spPr>
          <a:xfrm>
            <a:off x="457200" y="621792"/>
            <a:ext cx="8229600" cy="64008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Configuration Highlights</a:t>
            </a:r>
            <a:endParaRPr lang="en-US" sz="2800" dirty="0"/>
          </a:p>
        </p:txBody>
      </p:sp>
      <p:sp>
        <p:nvSpPr>
          <p:cNvPr id="4" name="Shape 2"/>
          <p:cNvSpPr/>
          <p:nvPr/>
        </p:nvSpPr>
        <p:spPr>
          <a:xfrm>
            <a:off x="457200" y="1508760"/>
            <a:ext cx="2697480" cy="2880360"/>
          </a:xfrm>
          <a:prstGeom prst="roundRect">
            <a:avLst>
              <a:gd name="adj" fmla="val 2712"/>
            </a:avLst>
          </a:prstGeom>
          <a:solidFill>
            <a:srgbClr val="E8F1F5"/>
          </a:solidFill>
          <a:ln/>
          <a:effectLst>
            <a:outerShdw sx="100000" sy="100000" kx="0" ky="0" algn="bl" rotWithShape="0" blurRad="101600" dist="38100" dir="2700000">
              <a:srgbClr val="000000">
                <a:alpha val="12000"/>
              </a:srgbClr>
            </a:outerShdw>
          </a:effectLst>
        </p:spPr>
      </p:sp>
      <p:sp>
        <p:nvSpPr>
          <p:cNvPr id="5" name="Shape 3"/>
          <p:cNvSpPr/>
          <p:nvPr/>
        </p:nvSpPr>
        <p:spPr>
          <a:xfrm>
            <a:off x="685800" y="1737360"/>
            <a:ext cx="548640" cy="54864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757123" y="1808683"/>
            <a:ext cx="405994" cy="405994"/>
          </a:xfrm>
          <a:prstGeom prst="rect">
            <a:avLst/>
          </a:prstGeom>
        </p:spPr>
      </p:pic>
      <p:sp>
        <p:nvSpPr>
          <p:cNvPr id="7" name="Text 4"/>
          <p:cNvSpPr/>
          <p:nvPr/>
        </p:nvSpPr>
        <p:spPr>
          <a:xfrm>
            <a:off x="685800" y="2423160"/>
            <a:ext cx="22402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Kafka</a:t>
            </a:r>
            <a:endParaRPr lang="en-US" sz="1500" dirty="0"/>
          </a:p>
        </p:txBody>
      </p:sp>
      <p:sp>
        <p:nvSpPr>
          <p:cNvPr id="8" name="Text 5"/>
          <p:cNvSpPr/>
          <p:nvPr/>
        </p:nvSpPr>
        <p:spPr>
          <a:xfrm>
            <a:off x="685800" y="2834640"/>
            <a:ext cx="2240280" cy="1417320"/>
          </a:xfrm>
          <a:prstGeom prst="rect">
            <a:avLst/>
          </a:prstGeom>
          <a:noFill/>
          <a:ln/>
        </p:spPr>
        <p:txBody>
          <a:bodyPr wrap="square" lIns="0" tIns="0" rIns="0" bIns="0" rtlCol="0" anchor="ctr"/>
          <a:lstStyle/>
          <a:p>
            <a:pPr indent="0" marL="0">
              <a:lnSpc>
                <a:spcPct val="125000"/>
              </a:lnSpc>
              <a:buNone/>
            </a:pPr>
            <a:r>
              <a:rPr lang="en-US" sz="1150" dirty="0">
                <a:solidFill>
                  <a:srgbClr val="64748B"/>
                </a:solidFill>
                <a:latin typeface="Calibri" pitchFamily="34" charset="0"/>
                <a:ea typeface="Calibri" pitchFamily="34" charset="-122"/>
                <a:cs typeface="Calibri" pitchFamily="34" charset="-120"/>
              </a:rPr>
              <a:t>Confluent Kafka 7.5.0 + ZooKeeper via Docker Compose. acks='all', retries=3, 20ms inter-message delay to simulate live traffic.</a:t>
            </a:r>
            <a:endParaRPr lang="en-US" sz="1150" dirty="0"/>
          </a:p>
        </p:txBody>
      </p:sp>
      <p:sp>
        <p:nvSpPr>
          <p:cNvPr id="9" name="Shape 6"/>
          <p:cNvSpPr/>
          <p:nvPr/>
        </p:nvSpPr>
        <p:spPr>
          <a:xfrm>
            <a:off x="3383280" y="1508760"/>
            <a:ext cx="2697480" cy="2880360"/>
          </a:xfrm>
          <a:prstGeom prst="roundRect">
            <a:avLst>
              <a:gd name="adj" fmla="val 2712"/>
            </a:avLst>
          </a:prstGeom>
          <a:solidFill>
            <a:srgbClr val="E8F1F5"/>
          </a:solidFill>
          <a:ln/>
          <a:effectLst>
            <a:outerShdw sx="100000" sy="100000" kx="0" ky="0" algn="bl" rotWithShape="0" blurRad="101600" dist="38100" dir="2700000">
              <a:srgbClr val="000000">
                <a:alpha val="12000"/>
              </a:srgbClr>
            </a:outerShdw>
          </a:effectLst>
        </p:spPr>
      </p:sp>
      <p:sp>
        <p:nvSpPr>
          <p:cNvPr id="10" name="Shape 7"/>
          <p:cNvSpPr/>
          <p:nvPr/>
        </p:nvSpPr>
        <p:spPr>
          <a:xfrm>
            <a:off x="3611880" y="1737360"/>
            <a:ext cx="548640" cy="548640"/>
          </a:xfrm>
          <a:prstGeom prst="ellipse">
            <a:avLst/>
          </a:prstGeom>
          <a:solidFill>
            <a:srgbClr val="065A82"/>
          </a:solidFill>
          <a:ln/>
        </p:spPr>
      </p:sp>
      <p:pic>
        <p:nvPicPr>
          <p:cNvPr id="11" name="Image 1" descr="preencoded.png">    </p:cNvPr>
          <p:cNvPicPr>
            <a:picLocks noChangeAspect="1"/>
          </p:cNvPicPr>
          <p:nvPr/>
        </p:nvPicPr>
        <p:blipFill>
          <a:blip r:embed="rId2"/>
          <a:stretch>
            <a:fillRect/>
          </a:stretch>
        </p:blipFill>
        <p:spPr>
          <a:xfrm>
            <a:off x="3683203" y="1808683"/>
            <a:ext cx="405994" cy="405994"/>
          </a:xfrm>
          <a:prstGeom prst="rect">
            <a:avLst/>
          </a:prstGeom>
        </p:spPr>
      </p:pic>
      <p:sp>
        <p:nvSpPr>
          <p:cNvPr id="12" name="Text 8"/>
          <p:cNvSpPr/>
          <p:nvPr/>
        </p:nvSpPr>
        <p:spPr>
          <a:xfrm>
            <a:off x="3611880" y="2423160"/>
            <a:ext cx="22402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Spark</a:t>
            </a:r>
            <a:endParaRPr lang="en-US" sz="1500" dirty="0"/>
          </a:p>
        </p:txBody>
      </p:sp>
      <p:sp>
        <p:nvSpPr>
          <p:cNvPr id="13" name="Text 9"/>
          <p:cNvSpPr/>
          <p:nvPr/>
        </p:nvSpPr>
        <p:spPr>
          <a:xfrm>
            <a:off x="3611880" y="2834640"/>
            <a:ext cx="2240280" cy="1417320"/>
          </a:xfrm>
          <a:prstGeom prst="rect">
            <a:avLst/>
          </a:prstGeom>
          <a:noFill/>
          <a:ln/>
        </p:spPr>
        <p:txBody>
          <a:bodyPr wrap="square" lIns="0" tIns="0" rIns="0" bIns="0" rtlCol="0" anchor="ctr"/>
          <a:lstStyle/>
          <a:p>
            <a:pPr indent="0" marL="0">
              <a:lnSpc>
                <a:spcPct val="125000"/>
              </a:lnSpc>
              <a:buNone/>
            </a:pPr>
            <a:r>
              <a:rPr lang="en-US" sz="1150" dirty="0">
                <a:solidFill>
                  <a:srgbClr val="64748B"/>
                </a:solidFill>
                <a:latin typeface="Calibri" pitchFamily="34" charset="0"/>
                <a:ea typeface="Calibri" pitchFamily="34" charset="-122"/>
                <a:cs typeface="Calibri" pitchFamily="34" charset="-120"/>
              </a:rPr>
              <a:t>Spark 4.1.1 Structured Streaming. Static StructType schema, maxRatePerPartition = 500, model broadcast to executors.</a:t>
            </a:r>
            <a:endParaRPr lang="en-US" sz="1150" dirty="0"/>
          </a:p>
        </p:txBody>
      </p:sp>
      <p:sp>
        <p:nvSpPr>
          <p:cNvPr id="14" name="Shape 10"/>
          <p:cNvSpPr/>
          <p:nvPr/>
        </p:nvSpPr>
        <p:spPr>
          <a:xfrm>
            <a:off x="6309360" y="1508760"/>
            <a:ext cx="2697480" cy="2880360"/>
          </a:xfrm>
          <a:prstGeom prst="roundRect">
            <a:avLst>
              <a:gd name="adj" fmla="val 2712"/>
            </a:avLst>
          </a:prstGeom>
          <a:solidFill>
            <a:srgbClr val="E8F1F5"/>
          </a:solidFill>
          <a:ln/>
          <a:effectLst>
            <a:outerShdw sx="100000" sy="100000" kx="0" ky="0" algn="bl" rotWithShape="0" blurRad="101600" dist="38100" dir="2700000">
              <a:srgbClr val="000000">
                <a:alpha val="12000"/>
              </a:srgbClr>
            </a:outerShdw>
          </a:effectLst>
        </p:spPr>
      </p:sp>
      <p:sp>
        <p:nvSpPr>
          <p:cNvPr id="15" name="Shape 11"/>
          <p:cNvSpPr/>
          <p:nvPr/>
        </p:nvSpPr>
        <p:spPr>
          <a:xfrm>
            <a:off x="6537960" y="1737360"/>
            <a:ext cx="548640" cy="548640"/>
          </a:xfrm>
          <a:prstGeom prst="ellipse">
            <a:avLst/>
          </a:prstGeom>
          <a:solidFill>
            <a:srgbClr val="065A82"/>
          </a:solidFill>
          <a:ln/>
        </p:spPr>
      </p:sp>
      <p:pic>
        <p:nvPicPr>
          <p:cNvPr id="16" name="Image 2" descr="preencoded.png">    </p:cNvPr>
          <p:cNvPicPr>
            <a:picLocks noChangeAspect="1"/>
          </p:cNvPicPr>
          <p:nvPr/>
        </p:nvPicPr>
        <p:blipFill>
          <a:blip r:embed="rId3"/>
          <a:stretch>
            <a:fillRect/>
          </a:stretch>
        </p:blipFill>
        <p:spPr>
          <a:xfrm>
            <a:off x="6609283" y="1808683"/>
            <a:ext cx="405994" cy="405994"/>
          </a:xfrm>
          <a:prstGeom prst="rect">
            <a:avLst/>
          </a:prstGeom>
        </p:spPr>
      </p:pic>
      <p:sp>
        <p:nvSpPr>
          <p:cNvPr id="17" name="Text 12"/>
          <p:cNvSpPr/>
          <p:nvPr/>
        </p:nvSpPr>
        <p:spPr>
          <a:xfrm>
            <a:off x="6537960" y="2423160"/>
            <a:ext cx="22402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Storage</a:t>
            </a:r>
            <a:endParaRPr lang="en-US" sz="1500" dirty="0"/>
          </a:p>
        </p:txBody>
      </p:sp>
      <p:sp>
        <p:nvSpPr>
          <p:cNvPr id="18" name="Text 13"/>
          <p:cNvSpPr/>
          <p:nvPr/>
        </p:nvSpPr>
        <p:spPr>
          <a:xfrm>
            <a:off x="6537960" y="2834640"/>
            <a:ext cx="2240280" cy="1417320"/>
          </a:xfrm>
          <a:prstGeom prst="rect">
            <a:avLst/>
          </a:prstGeom>
          <a:noFill/>
          <a:ln/>
        </p:spPr>
        <p:txBody>
          <a:bodyPr wrap="square" lIns="0" tIns="0" rIns="0" bIns="0" rtlCol="0" anchor="ctr"/>
          <a:lstStyle/>
          <a:p>
            <a:pPr indent="0" marL="0">
              <a:lnSpc>
                <a:spcPct val="125000"/>
              </a:lnSpc>
              <a:buNone/>
            </a:pPr>
            <a:r>
              <a:rPr lang="en-US" sz="1150" dirty="0">
                <a:solidFill>
                  <a:srgbClr val="64748B"/>
                </a:solidFill>
                <a:latin typeface="Calibri" pitchFamily="34" charset="0"/>
                <a:ea typeface="Calibri" pitchFamily="34" charset="-122"/>
                <a:cs typeface="Calibri" pitchFamily="34" charset="-120"/>
              </a:rPr>
              <a:t>Custom Python foreachBatch sink posts NDJSON to the Elasticsearch Bulk API, keyed by review_id for idempotent writes.</a:t>
            </a:r>
            <a:endParaRPr lang="en-US" sz="1150" dirty="0"/>
          </a:p>
        </p:txBody>
      </p:sp>
      <p:sp>
        <p:nvSpPr>
          <p:cNvPr id="19" name="Text 14"/>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05  RESULTS &amp; OPTIMIZATION</a:t>
            </a:r>
            <a:endParaRPr lang="en-US" sz="1200" dirty="0"/>
          </a:p>
        </p:txBody>
      </p:sp>
      <p:sp>
        <p:nvSpPr>
          <p:cNvPr id="3" name="Text 1"/>
          <p:cNvSpPr/>
          <p:nvPr/>
        </p:nvSpPr>
        <p:spPr>
          <a:xfrm>
            <a:off x="457200" y="621792"/>
            <a:ext cx="8229600" cy="64008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Sentiment Distribution</a:t>
            </a:r>
            <a:endParaRPr lang="en-US" sz="2800" dirty="0"/>
          </a:p>
        </p:txBody>
      </p:sp>
      <p:graphicFrame>
        <p:nvGraphicFramePr>
          <p:cNvPr id="4" name="Chart 0" descr=""/>
          <p:cNvGraphicFramePr/>
          <p:nvPr/>
        </p:nvGraphicFramePr>
        <p:xfrm>
          <a:off x="365760" y="1417320"/>
          <a:ext cx="4572000" cy="3429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120640" y="1554480"/>
            <a:ext cx="356616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Live pipeline output</a:t>
            </a:r>
            <a:endParaRPr lang="en-US" sz="1500" dirty="0"/>
          </a:p>
        </p:txBody>
      </p:sp>
      <p:sp>
        <p:nvSpPr>
          <p:cNvPr id="6" name="Text 3"/>
          <p:cNvSpPr/>
          <p:nvPr/>
        </p:nvSpPr>
        <p:spPr>
          <a:xfrm>
            <a:off x="5120640" y="1965960"/>
            <a:ext cx="3566160" cy="228600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51.49% positive, 38.66% negative, 9.84% neutral</a:t>
            </a:r>
            <a:endParaRPr lang="en-US" sz="1250" dirty="0"/>
          </a:p>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Ground truth was 55.6% / 40.5% / 3.9%</a:t>
            </a:r>
            <a:endParaRPr lang="en-US" sz="1250" dirty="0"/>
          </a:p>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Model over-predicts neutral once live traffic runs through it</a:t>
            </a:r>
            <a:endParaRPr lang="en-US" sz="1250" dirty="0"/>
          </a:p>
        </p:txBody>
      </p:sp>
      <p:sp>
        <p:nvSpPr>
          <p:cNvPr id="7" name="Text 4"/>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05  RESULTS &amp; OPTIMIZATION</a:t>
            </a:r>
            <a:endParaRPr lang="en-US" sz="1200" dirty="0"/>
          </a:p>
        </p:txBody>
      </p:sp>
      <p:sp>
        <p:nvSpPr>
          <p:cNvPr id="3" name="Text 1"/>
          <p:cNvSpPr/>
          <p:nvPr/>
        </p:nvSpPr>
        <p:spPr>
          <a:xfrm>
            <a:off x="457200" y="621792"/>
            <a:ext cx="8229600" cy="64008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Model Confidence Over Time</a:t>
            </a:r>
            <a:endParaRPr lang="en-US" sz="2800" dirty="0"/>
          </a:p>
        </p:txBody>
      </p:sp>
      <p:sp>
        <p:nvSpPr>
          <p:cNvPr id="4" name="Shape 2"/>
          <p:cNvSpPr/>
          <p:nvPr/>
        </p:nvSpPr>
        <p:spPr>
          <a:xfrm>
            <a:off x="457200" y="1554480"/>
            <a:ext cx="2514600" cy="1371600"/>
          </a:xfrm>
          <a:prstGeom prst="roundRect">
            <a:avLst>
              <a:gd name="adj" fmla="val 5333"/>
            </a:avLst>
          </a:prstGeom>
          <a:solidFill>
            <a:srgbClr val="E8F1F5"/>
          </a:solidFill>
          <a:ln/>
          <a:effectLst>
            <a:outerShdw sx="100000" sy="100000" kx="0" ky="0" algn="bl" rotWithShape="0" blurRad="101600" dist="38100" dir="2700000">
              <a:srgbClr val="000000">
                <a:alpha val="12000"/>
              </a:srgbClr>
            </a:outerShdw>
          </a:effectLst>
        </p:spPr>
      </p:sp>
      <p:sp>
        <p:nvSpPr>
          <p:cNvPr id="5" name="Shape 3"/>
          <p:cNvSpPr/>
          <p:nvPr/>
        </p:nvSpPr>
        <p:spPr>
          <a:xfrm>
            <a:off x="685800" y="1783080"/>
            <a:ext cx="274320" cy="274320"/>
          </a:xfrm>
          <a:prstGeom prst="ellipse">
            <a:avLst/>
          </a:prstGeom>
          <a:solidFill>
            <a:srgbClr val="3F9142"/>
          </a:solidFill>
          <a:ln/>
        </p:spPr>
      </p:sp>
      <p:sp>
        <p:nvSpPr>
          <p:cNvPr id="6" name="Text 4"/>
          <p:cNvSpPr/>
          <p:nvPr/>
        </p:nvSpPr>
        <p:spPr>
          <a:xfrm>
            <a:off x="1051560" y="1719072"/>
            <a:ext cx="169164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Positive</a:t>
            </a:r>
            <a:endParaRPr lang="en-US" sz="1400" dirty="0"/>
          </a:p>
        </p:txBody>
      </p:sp>
      <p:sp>
        <p:nvSpPr>
          <p:cNvPr id="7" name="Text 5"/>
          <p:cNvSpPr/>
          <p:nvPr/>
        </p:nvSpPr>
        <p:spPr>
          <a:xfrm>
            <a:off x="685800" y="2148840"/>
            <a:ext cx="2057400" cy="640080"/>
          </a:xfrm>
          <a:prstGeom prst="rect">
            <a:avLst/>
          </a:prstGeom>
          <a:noFill/>
          <a:ln/>
        </p:spPr>
        <p:txBody>
          <a:bodyPr wrap="square" lIns="0" tIns="0" rIns="0" bIns="0" rtlCol="0" anchor="ctr"/>
          <a:lstStyle/>
          <a:p>
            <a:pPr indent="0" marL="0">
              <a:buNone/>
            </a:pPr>
            <a:r>
              <a:rPr lang="en-US" sz="2600" b="1" dirty="0">
                <a:solidFill>
                  <a:srgbClr val="065A82"/>
                </a:solidFill>
                <a:latin typeface="Cambria" pitchFamily="34" charset="0"/>
                <a:ea typeface="Cambria" pitchFamily="34" charset="-122"/>
                <a:cs typeface="Cambria" pitchFamily="34" charset="-120"/>
              </a:rPr>
              <a:t>~0.70</a:t>
            </a:r>
            <a:endParaRPr lang="en-US" sz="2600" dirty="0"/>
          </a:p>
        </p:txBody>
      </p:sp>
      <p:sp>
        <p:nvSpPr>
          <p:cNvPr id="8" name="Text 6"/>
          <p:cNvSpPr/>
          <p:nvPr/>
        </p:nvSpPr>
        <p:spPr>
          <a:xfrm>
            <a:off x="685800" y="2670048"/>
            <a:ext cx="205740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avg. confidence</a:t>
            </a:r>
            <a:endParaRPr lang="en-US" sz="1000" dirty="0"/>
          </a:p>
        </p:txBody>
      </p:sp>
      <p:sp>
        <p:nvSpPr>
          <p:cNvPr id="9" name="Shape 7"/>
          <p:cNvSpPr/>
          <p:nvPr/>
        </p:nvSpPr>
        <p:spPr>
          <a:xfrm>
            <a:off x="3200400" y="1554480"/>
            <a:ext cx="2514600" cy="1371600"/>
          </a:xfrm>
          <a:prstGeom prst="roundRect">
            <a:avLst>
              <a:gd name="adj" fmla="val 5333"/>
            </a:avLst>
          </a:prstGeom>
          <a:solidFill>
            <a:srgbClr val="E8F1F5"/>
          </a:solidFill>
          <a:ln/>
          <a:effectLst>
            <a:outerShdw sx="100000" sy="100000" kx="0" ky="0" algn="bl" rotWithShape="0" blurRad="101600" dist="38100" dir="2700000">
              <a:srgbClr val="000000">
                <a:alpha val="12000"/>
              </a:srgbClr>
            </a:outerShdw>
          </a:effectLst>
        </p:spPr>
      </p:sp>
      <p:sp>
        <p:nvSpPr>
          <p:cNvPr id="10" name="Shape 8"/>
          <p:cNvSpPr/>
          <p:nvPr/>
        </p:nvSpPr>
        <p:spPr>
          <a:xfrm>
            <a:off x="3429000" y="1783080"/>
            <a:ext cx="274320" cy="274320"/>
          </a:xfrm>
          <a:prstGeom prst="ellipse">
            <a:avLst/>
          </a:prstGeom>
          <a:solidFill>
            <a:srgbClr val="C0392B"/>
          </a:solidFill>
          <a:ln/>
        </p:spPr>
      </p:sp>
      <p:sp>
        <p:nvSpPr>
          <p:cNvPr id="11" name="Text 9"/>
          <p:cNvSpPr/>
          <p:nvPr/>
        </p:nvSpPr>
        <p:spPr>
          <a:xfrm>
            <a:off x="3794760" y="1719072"/>
            <a:ext cx="169164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Negative</a:t>
            </a:r>
            <a:endParaRPr lang="en-US" sz="1400" dirty="0"/>
          </a:p>
        </p:txBody>
      </p:sp>
      <p:sp>
        <p:nvSpPr>
          <p:cNvPr id="12" name="Text 10"/>
          <p:cNvSpPr/>
          <p:nvPr/>
        </p:nvSpPr>
        <p:spPr>
          <a:xfrm>
            <a:off x="3429000" y="2148840"/>
            <a:ext cx="2057400" cy="640080"/>
          </a:xfrm>
          <a:prstGeom prst="rect">
            <a:avLst/>
          </a:prstGeom>
          <a:noFill/>
          <a:ln/>
        </p:spPr>
        <p:txBody>
          <a:bodyPr wrap="square" lIns="0" tIns="0" rIns="0" bIns="0" rtlCol="0" anchor="ctr"/>
          <a:lstStyle/>
          <a:p>
            <a:pPr indent="0" marL="0">
              <a:buNone/>
            </a:pPr>
            <a:r>
              <a:rPr lang="en-US" sz="2600" b="1" dirty="0">
                <a:solidFill>
                  <a:srgbClr val="065A82"/>
                </a:solidFill>
                <a:latin typeface="Cambria" pitchFamily="34" charset="0"/>
                <a:ea typeface="Cambria" pitchFamily="34" charset="-122"/>
                <a:cs typeface="Cambria" pitchFamily="34" charset="-120"/>
              </a:rPr>
              <a:t>~0.55</a:t>
            </a:r>
            <a:endParaRPr lang="en-US" sz="2600" dirty="0"/>
          </a:p>
        </p:txBody>
      </p:sp>
      <p:sp>
        <p:nvSpPr>
          <p:cNvPr id="13" name="Text 11"/>
          <p:cNvSpPr/>
          <p:nvPr/>
        </p:nvSpPr>
        <p:spPr>
          <a:xfrm>
            <a:off x="3429000" y="2670048"/>
            <a:ext cx="205740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avg. confidence</a:t>
            </a:r>
            <a:endParaRPr lang="en-US" sz="1000" dirty="0"/>
          </a:p>
        </p:txBody>
      </p:sp>
      <p:sp>
        <p:nvSpPr>
          <p:cNvPr id="14" name="Shape 12"/>
          <p:cNvSpPr/>
          <p:nvPr/>
        </p:nvSpPr>
        <p:spPr>
          <a:xfrm>
            <a:off x="5943600" y="1554480"/>
            <a:ext cx="2514600" cy="1371600"/>
          </a:xfrm>
          <a:prstGeom prst="roundRect">
            <a:avLst>
              <a:gd name="adj" fmla="val 5333"/>
            </a:avLst>
          </a:prstGeom>
          <a:solidFill>
            <a:srgbClr val="E8F1F5"/>
          </a:solidFill>
          <a:ln/>
          <a:effectLst>
            <a:outerShdw sx="100000" sy="100000" kx="0" ky="0" algn="bl" rotWithShape="0" blurRad="101600" dist="38100" dir="2700000">
              <a:srgbClr val="000000">
                <a:alpha val="12000"/>
              </a:srgbClr>
            </a:outerShdw>
          </a:effectLst>
        </p:spPr>
      </p:sp>
      <p:sp>
        <p:nvSpPr>
          <p:cNvPr id="15" name="Shape 13"/>
          <p:cNvSpPr/>
          <p:nvPr/>
        </p:nvSpPr>
        <p:spPr>
          <a:xfrm>
            <a:off x="6172200" y="1783080"/>
            <a:ext cx="274320" cy="274320"/>
          </a:xfrm>
          <a:prstGeom prst="ellipse">
            <a:avLst/>
          </a:prstGeom>
          <a:solidFill>
            <a:srgbClr val="8A8F98"/>
          </a:solidFill>
          <a:ln/>
        </p:spPr>
      </p:sp>
      <p:sp>
        <p:nvSpPr>
          <p:cNvPr id="16" name="Text 14"/>
          <p:cNvSpPr/>
          <p:nvPr/>
        </p:nvSpPr>
        <p:spPr>
          <a:xfrm>
            <a:off x="6537960" y="1719072"/>
            <a:ext cx="169164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Neutral</a:t>
            </a:r>
            <a:endParaRPr lang="en-US" sz="1400" dirty="0"/>
          </a:p>
        </p:txBody>
      </p:sp>
      <p:sp>
        <p:nvSpPr>
          <p:cNvPr id="17" name="Text 15"/>
          <p:cNvSpPr/>
          <p:nvPr/>
        </p:nvSpPr>
        <p:spPr>
          <a:xfrm>
            <a:off x="6172200" y="2148840"/>
            <a:ext cx="2057400" cy="640080"/>
          </a:xfrm>
          <a:prstGeom prst="rect">
            <a:avLst/>
          </a:prstGeom>
          <a:noFill/>
          <a:ln/>
        </p:spPr>
        <p:txBody>
          <a:bodyPr wrap="square" lIns="0" tIns="0" rIns="0" bIns="0" rtlCol="0" anchor="ctr"/>
          <a:lstStyle/>
          <a:p>
            <a:pPr indent="0" marL="0">
              <a:buNone/>
            </a:pPr>
            <a:r>
              <a:rPr lang="en-US" sz="2600" b="1" dirty="0">
                <a:solidFill>
                  <a:srgbClr val="065A82"/>
                </a:solidFill>
                <a:latin typeface="Cambria" pitchFamily="34" charset="0"/>
                <a:ea typeface="Cambria" pitchFamily="34" charset="-122"/>
                <a:cs typeface="Cambria" pitchFamily="34" charset="-120"/>
              </a:rPr>
              <a:t>~0.50</a:t>
            </a:r>
            <a:endParaRPr lang="en-US" sz="2600" dirty="0"/>
          </a:p>
        </p:txBody>
      </p:sp>
      <p:sp>
        <p:nvSpPr>
          <p:cNvPr id="18" name="Text 16"/>
          <p:cNvSpPr/>
          <p:nvPr/>
        </p:nvSpPr>
        <p:spPr>
          <a:xfrm>
            <a:off x="6172200" y="2670048"/>
            <a:ext cx="205740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avg. confidence</a:t>
            </a:r>
            <a:endParaRPr lang="en-US" sz="1000" dirty="0"/>
          </a:p>
        </p:txBody>
      </p:sp>
      <p:sp>
        <p:nvSpPr>
          <p:cNvPr id="19" name="Shape 17"/>
          <p:cNvSpPr/>
          <p:nvPr/>
        </p:nvSpPr>
        <p:spPr>
          <a:xfrm>
            <a:off x="457200" y="3154680"/>
            <a:ext cx="8229600" cy="1417320"/>
          </a:xfrm>
          <a:prstGeom prst="roundRect">
            <a:avLst>
              <a:gd name="adj" fmla="val 5161"/>
            </a:avLst>
          </a:prstGeom>
          <a:solidFill>
            <a:srgbClr val="E8F1F5"/>
          </a:solidFill>
          <a:ln/>
          <a:effectLst>
            <a:outerShdw sx="100000" sy="100000" kx="0" ky="0" algn="bl" rotWithShape="0" blurRad="101600" dist="38100" dir="2700000">
              <a:srgbClr val="000000">
                <a:alpha val="12000"/>
              </a:srgbClr>
            </a:outerShdw>
          </a:effectLst>
        </p:spPr>
      </p:sp>
      <p:sp>
        <p:nvSpPr>
          <p:cNvPr id="20" name="Text 18"/>
          <p:cNvSpPr/>
          <p:nvPr/>
        </p:nvSpPr>
        <p:spPr>
          <a:xfrm>
            <a:off x="685800" y="3337560"/>
            <a:ext cx="7772400" cy="1097280"/>
          </a:xfrm>
          <a:prstGeom prst="rect">
            <a:avLst/>
          </a:prstGeom>
          <a:noFill/>
          <a:ln/>
        </p:spPr>
        <p:txBody>
          <a:bodyPr wrap="square" lIns="0" tIns="0" rIns="0" bIns="0" rtlCol="0" anchor="ctr"/>
          <a:lstStyle/>
          <a:p>
            <a:pPr indent="0" marL="0">
              <a:lnSpc>
                <a:spcPct val="130000"/>
              </a:lnSpc>
              <a:buNone/>
            </a:pPr>
            <a:r>
              <a:rPr lang="en-US" sz="1250" b="1" dirty="0">
                <a:solidFill>
                  <a:srgbClr val="065A82"/>
                </a:solidFill>
                <a:latin typeface="Calibri" pitchFamily="34" charset="0"/>
                <a:ea typeface="Calibri" pitchFamily="34" charset="-122"/>
                <a:cs typeface="Calibri" pitchFamily="34" charset="-120"/>
              </a:rPr>
              <a:t>Why there's no real trend line yet: </a:t>
            </a:r>
            <a:endParaRPr lang="en-US" sz="1250" dirty="0"/>
          </a:p>
          <a:p>
            <a:pPr indent="0" marL="0">
              <a:lnSpc>
                <a:spcPct val="130000"/>
              </a:lnSpc>
              <a:buNone/>
            </a:pPr>
            <a:r>
              <a:rPr lang="en-US" sz="1250" dirty="0">
                <a:solidFill>
                  <a:srgbClr val="1E293B"/>
                </a:solidFill>
                <a:latin typeface="Calibri" pitchFamily="34" charset="0"/>
                <a:ea typeface="Calibri" pitchFamily="34" charset="-122"/>
                <a:cs typeface="Calibri" pitchFamily="34" charset="-120"/>
              </a:rPr>
              <a:t>all 1,707 reviews streamed through Kafka in about 34 seconds, so every prediction landed inside a single 30-minute time bucket on the dashboard instead of spreading across the day. The chart would show a genuine trend if the pipeline ran continuously against reviews arriving over hours or days.</a:t>
            </a:r>
            <a:endParaRPr lang="en-US" sz="1250" dirty="0"/>
          </a:p>
        </p:txBody>
      </p:sp>
      <p:sp>
        <p:nvSpPr>
          <p:cNvPr id="21" name="Text 19"/>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05  RESULTS &amp; OPTIMIZATION</a:t>
            </a:r>
            <a:endParaRPr lang="en-US" sz="1200" dirty="0"/>
          </a:p>
        </p:txBody>
      </p:sp>
      <p:sp>
        <p:nvSpPr>
          <p:cNvPr id="3" name="Text 1"/>
          <p:cNvSpPr/>
          <p:nvPr/>
        </p:nvSpPr>
        <p:spPr>
          <a:xfrm>
            <a:off x="457200" y="621792"/>
            <a:ext cx="8229600" cy="64008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Dashboard &amp; Review Log Findings</a:t>
            </a:r>
            <a:endParaRPr lang="en-US" sz="2800" dirty="0"/>
          </a:p>
        </p:txBody>
      </p:sp>
      <p:pic>
        <p:nvPicPr>
          <p:cNvPr id="4" name="Image 0" descr="/mnt/user-data/uploads/1783261333302_WhatsApp_Image_2026-07-05_at_6_53_39_PM.jpeg">    </p:cNvPr>
          <p:cNvPicPr>
            <a:picLocks noChangeAspect="1"/>
          </p:cNvPicPr>
          <p:nvPr/>
        </p:nvPicPr>
        <p:blipFill>
          <a:blip r:embed="rId1"/>
          <a:stretch>
            <a:fillRect/>
          </a:stretch>
        </p:blipFill>
        <p:spPr>
          <a:xfrm>
            <a:off x="365760" y="1508760"/>
            <a:ext cx="4206240" cy="1795539"/>
          </a:xfrm>
          <a:prstGeom prst="rect">
            <a:avLst/>
          </a:prstGeom>
          <a:effectLst>
            <a:outerShdw sx="100000" sy="100000" kx="0" ky="0" algn="bl" rotWithShape="0" blurRad="101600" dist="38100" dir="2700000">
              <a:srgbClr val="000000">
                <a:alpha val="12000"/>
              </a:srgbClr>
            </a:outerShdw>
          </a:effectLst>
        </p:spPr>
      </p:pic>
      <p:sp>
        <p:nvSpPr>
          <p:cNvPr id="5" name="Text 2"/>
          <p:cNvSpPr/>
          <p:nvPr/>
        </p:nvSpPr>
        <p:spPr>
          <a:xfrm>
            <a:off x="365760" y="3377451"/>
            <a:ext cx="4206240" cy="32004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Full Kibana dashboard: distribution, confidence trend, and review log</a:t>
            </a:r>
            <a:endParaRPr lang="en-US" sz="1050" dirty="0"/>
          </a:p>
        </p:txBody>
      </p:sp>
      <p:sp>
        <p:nvSpPr>
          <p:cNvPr id="6" name="Text 3"/>
          <p:cNvSpPr/>
          <p:nvPr/>
        </p:nvSpPr>
        <p:spPr>
          <a:xfrm>
            <a:off x="4892040" y="1554480"/>
            <a:ext cx="3794760" cy="32004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A misclassification worth flagging</a:t>
            </a:r>
            <a:endParaRPr lang="en-US" sz="1400" dirty="0"/>
          </a:p>
        </p:txBody>
      </p:sp>
      <p:sp>
        <p:nvSpPr>
          <p:cNvPr id="7" name="Shape 4"/>
          <p:cNvSpPr/>
          <p:nvPr/>
        </p:nvSpPr>
        <p:spPr>
          <a:xfrm>
            <a:off x="4892040" y="1920240"/>
            <a:ext cx="3794760" cy="1371600"/>
          </a:xfrm>
          <a:prstGeom prst="roundRect">
            <a:avLst>
              <a:gd name="adj" fmla="val 5333"/>
            </a:avLst>
          </a:prstGeom>
          <a:solidFill>
            <a:srgbClr val="E8F1F5"/>
          </a:solidFill>
          <a:ln/>
          <a:effectLst>
            <a:outerShdw sx="100000" sy="100000" kx="0" ky="0" algn="bl" rotWithShape="0" blurRad="101600" dist="38100" dir="2700000">
              <a:srgbClr val="000000">
                <a:alpha val="12000"/>
              </a:srgbClr>
            </a:outerShdw>
          </a:effectLst>
        </p:spPr>
      </p:sp>
      <p:sp>
        <p:nvSpPr>
          <p:cNvPr id="8" name="Text 5"/>
          <p:cNvSpPr/>
          <p:nvPr/>
        </p:nvSpPr>
        <p:spPr>
          <a:xfrm>
            <a:off x="5120640" y="2103120"/>
            <a:ext cx="3337560" cy="1005840"/>
          </a:xfrm>
          <a:prstGeom prst="rect">
            <a:avLst/>
          </a:prstGeom>
          <a:noFill/>
          <a:ln/>
        </p:spPr>
        <p:txBody>
          <a:bodyPr wrap="square" lIns="0" tIns="0" rIns="0" bIns="0" rtlCol="0" anchor="ctr"/>
          <a:lstStyle/>
          <a:p>
            <a:pPr indent="0" marL="0">
              <a:lnSpc>
                <a:spcPct val="140000"/>
              </a:lnSpc>
              <a:buNone/>
            </a:pPr>
            <a:r>
              <a:rPr lang="en-US" sz="1250" i="1" dirty="0">
                <a:solidFill>
                  <a:srgbClr val="1E293B"/>
                </a:solidFill>
                <a:latin typeface="Calibri" pitchFamily="34" charset="0"/>
                <a:ea typeface="Calibri" pitchFamily="34" charset="-122"/>
                <a:cs typeface="Calibri" pitchFamily="34" charset="-120"/>
              </a:rPr>
              <a:t>“lagi murah” can't be used at the shop</a:t>
            </a:r>
            <a:endParaRPr lang="en-US" sz="1250" dirty="0"/>
          </a:p>
          <a:p>
            <a:pPr indent="0" marL="0">
              <a:lnSpc>
                <a:spcPct val="140000"/>
              </a:lnSpc>
              <a:buNone/>
            </a:pPr>
            <a:r>
              <a:rPr lang="en-US" sz="1250" b="1" dirty="0">
                <a:solidFill>
                  <a:srgbClr val="C0392B"/>
                </a:solidFill>
                <a:latin typeface="Calibri" pitchFamily="34" charset="0"/>
                <a:ea typeface="Calibri" pitchFamily="34" charset="-122"/>
                <a:cs typeface="Calibri" pitchFamily="34" charset="-120"/>
              </a:rPr>
              <a:t>Actual: negative   |   Predicted: positive</a:t>
            </a:r>
            <a:endParaRPr lang="en-US" sz="1250" dirty="0"/>
          </a:p>
        </p:txBody>
      </p:sp>
      <p:sp>
        <p:nvSpPr>
          <p:cNvPr id="9" name="Text 6"/>
          <p:cNvSpPr/>
          <p:nvPr/>
        </p:nvSpPr>
        <p:spPr>
          <a:xfrm>
            <a:off x="4892040" y="3520440"/>
            <a:ext cx="3794760" cy="137160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E293B"/>
                </a:solidFill>
                <a:latin typeface="Calibri" pitchFamily="34" charset="0"/>
                <a:ea typeface="Calibri" pitchFamily="34" charset="-122"/>
                <a:cs typeface="Calibri" pitchFamily="34" charset="-120"/>
              </a:rPr>
              <a:t>"Murah" (cheap) reads as a strong positive word alone</a:t>
            </a:r>
            <a:endParaRPr lang="en-US" sz="1150" dirty="0"/>
          </a:p>
          <a:p>
            <a:pPr marL="342900" indent="-342900">
              <a:spcAft>
                <a:spcPts val="800"/>
              </a:spcAft>
              <a:buSzPct val="100000"/>
              <a:buChar char="✦"/>
            </a:pPr>
            <a:r>
              <a:rPr lang="en-US" sz="1150" dirty="0">
                <a:solidFill>
                  <a:srgbClr val="1E293B"/>
                </a:solidFill>
                <a:latin typeface="Calibri" pitchFamily="34" charset="0"/>
                <a:ea typeface="Calibri" pitchFamily="34" charset="-122"/>
                <a:cs typeface="Calibri" pitchFamily="34" charset="-120"/>
              </a:rPr>
              <a:t>Bag-of-words misses the negative context around it</a:t>
            </a:r>
            <a:endParaRPr lang="en-US" sz="1150" dirty="0"/>
          </a:p>
          <a:p>
            <a:pPr marL="342900" indent="-342900">
              <a:spcAft>
                <a:spcPts val="800"/>
              </a:spcAft>
              <a:buSzPct val="100000"/>
              <a:buChar char="✦"/>
            </a:pPr>
            <a:r>
              <a:rPr lang="en-US" sz="1150" dirty="0">
                <a:solidFill>
                  <a:srgbClr val="1E293B"/>
                </a:solidFill>
                <a:latin typeface="Calibri" pitchFamily="34" charset="0"/>
                <a:ea typeface="Calibri" pitchFamily="34" charset="-122"/>
                <a:cs typeface="Calibri" pitchFamily="34" charset="-120"/>
              </a:rPr>
              <a:t>Correctly-worded reviews (clear praise or complaints) were classified as expected</a:t>
            </a:r>
            <a:endParaRPr lang="en-US" sz="1150" dirty="0"/>
          </a:p>
        </p:txBody>
      </p:sp>
      <p:sp>
        <p:nvSpPr>
          <p:cNvPr id="10" name="Text 7"/>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05  RESULTS &amp; OPTIMIZATION</a:t>
            </a:r>
            <a:endParaRPr lang="en-US" sz="1200" dirty="0"/>
          </a:p>
        </p:txBody>
      </p:sp>
      <p:sp>
        <p:nvSpPr>
          <p:cNvPr id="3" name="Text 1"/>
          <p:cNvSpPr/>
          <p:nvPr/>
        </p:nvSpPr>
        <p:spPr>
          <a:xfrm>
            <a:off x="457200" y="621792"/>
            <a:ext cx="8229600" cy="64008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Pipeline Optimizations</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2468880"/>
                <a:gridCol w="2834640"/>
                <a:gridCol w="2926080"/>
              </a:tblGrid>
              <a:tr h="56692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Issue</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Cause</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Fix Applied</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tr>
              <a:tr h="566928">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ES connector JAR failure</a:t>
                      </a:r>
                      <a:endParaRPr lang="en-US" sz="11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Spark 4.x incompatible on Windows</a:t>
                      </a:r>
                      <a:endParaRPr lang="en-US" sz="11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Custom Python REST sink via foreachBatch</a:t>
                      </a:r>
                      <a:endParaRPr lang="en-US" sz="11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r>
              <a:tr h="566928">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Checkpoint directory fault</a:t>
                      </a:r>
                      <a:endParaRPr lang="en-US" sz="11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POSIX path invalid on Windows</a:t>
                      </a:r>
                      <a:endParaRPr lang="en-US" sz="11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Absolute Windows raw string path</a:t>
                      </a:r>
                      <a:endParaRPr lang="en-US" sz="11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r>
              <a:tr h="566928">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Model serialisation overhead</a:t>
                      </a:r>
                      <a:endParaRPr lang="en-US" sz="11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Broadcast not used</a:t>
                      </a:r>
                      <a:endParaRPr lang="en-US" sz="11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Spark Broadcast Variables for model + vectorizer</a:t>
                      </a:r>
                      <a:endParaRPr lang="en-US" sz="11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r>
              <a:tr h="566928">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Schema inference overhead</a:t>
                      </a:r>
                      <a:endParaRPr lang="en-US" sz="11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Dynamic type resolution at runtime</a:t>
                      </a:r>
                      <a:endParaRPr lang="en-US" sz="11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l" indent="0" marL="0">
                        <a:buNone/>
                      </a:pPr>
                      <a:r>
                        <a:rPr lang="en-US" sz="1150" dirty="0">
                          <a:solidFill>
                            <a:srgbClr val="1E293B"/>
                          </a:solidFill>
                          <a:latin typeface="Calibri" pitchFamily="34" charset="0"/>
                          <a:ea typeface="Calibri" pitchFamily="34" charset="-122"/>
                          <a:cs typeface="Calibri" pitchFamily="34" charset="-120"/>
                        </a:rPr>
                        <a:t>Static StructType schema declaration</a:t>
                      </a:r>
                      <a:endParaRPr lang="en-US" sz="11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r>
            </a:tbl>
          </a:graphicData>
        </a:graphic>
      </p:graphicFrame>
      <p:sp>
        <p:nvSpPr>
          <p:cNvPr id="5" name="Text 2"/>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05  RESULTS &amp; OPTIMIZATION</a:t>
            </a:r>
            <a:endParaRPr lang="en-US" sz="1200" dirty="0"/>
          </a:p>
        </p:txBody>
      </p:sp>
      <p:sp>
        <p:nvSpPr>
          <p:cNvPr id="3" name="Text 1"/>
          <p:cNvSpPr/>
          <p:nvPr/>
        </p:nvSpPr>
        <p:spPr>
          <a:xfrm>
            <a:off x="457200" y="621792"/>
            <a:ext cx="8229600" cy="64008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Batch vs. Streaming</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2743200"/>
                <a:gridCol w="2743200"/>
                <a:gridCol w="2743200"/>
              </a:tblGrid>
              <a:tr h="5029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Metric</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1C729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Batch</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1C729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Streaming</a:t>
                      </a:r>
                      <a:endParaRPr lang="en-US" sz="125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1C7293"/>
                    </a:solidFill>
                  </a:tcPr>
                </a:tc>
              </a:tr>
              <a:tr h="502920">
                <a:tc>
                  <a:txBody>
                    <a:bodyPr/>
                    <a:lstStyle/>
                    <a:p>
                      <a:pPr algn="l" indent="0" marL="0">
                        <a:buNone/>
                      </a:pPr>
                      <a:r>
                        <a:rPr lang="en-US" sz="1200" dirty="0">
                          <a:solidFill>
                            <a:srgbClr val="1E293B"/>
                          </a:solidFill>
                          <a:latin typeface="Calibri" pitchFamily="34" charset="0"/>
                          <a:ea typeface="Calibri" pitchFamily="34" charset="-122"/>
                          <a:cs typeface="Calibri" pitchFamily="34" charset="-120"/>
                        </a:rPr>
                        <a:t>Time-to-first output</a:t>
                      </a:r>
                      <a:endParaRPr lang="en-US" sz="120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After full dataset loads</a:t>
                      </a:r>
                      <a:endParaRPr lang="en-US" sz="120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Per micro-batch</a:t>
                      </a:r>
                      <a:endParaRPr lang="en-US" sz="120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r>
              <a:tr h="502920">
                <a:tc>
                  <a:txBody>
                    <a:bodyPr/>
                    <a:lstStyle/>
                    <a:p>
                      <a:pPr algn="l" indent="0" marL="0">
                        <a:buNone/>
                      </a:pPr>
                      <a:r>
                        <a:rPr lang="en-US" sz="1200" dirty="0">
                          <a:solidFill>
                            <a:srgbClr val="1E293B"/>
                          </a:solidFill>
                          <a:latin typeface="Calibri" pitchFamily="34" charset="0"/>
                          <a:ea typeface="Calibri" pitchFamily="34" charset="-122"/>
                          <a:cs typeface="Calibri" pitchFamily="34" charset="-120"/>
                        </a:rPr>
                        <a:t>Infrastructure overhead</a:t>
                      </a:r>
                      <a:endParaRPr lang="en-US" sz="120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Low, single process</a:t>
                      </a:r>
                      <a:endParaRPr lang="en-US" sz="120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Higher, Kafka + Spark + ES</a:t>
                      </a:r>
                      <a:endParaRPr lang="en-US" sz="120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r>
              <a:tr h="502920">
                <a:tc>
                  <a:txBody>
                    <a:bodyPr/>
                    <a:lstStyle/>
                    <a:p>
                      <a:pPr algn="l" indent="0" marL="0">
                        <a:buNone/>
                      </a:pPr>
                      <a:r>
                        <a:rPr lang="en-US" sz="1200" dirty="0">
                          <a:solidFill>
                            <a:srgbClr val="1E293B"/>
                          </a:solidFill>
                          <a:latin typeface="Calibri" pitchFamily="34" charset="0"/>
                          <a:ea typeface="Calibri" pitchFamily="34" charset="-122"/>
                          <a:cs typeface="Calibri" pitchFamily="34" charset="-120"/>
                        </a:rPr>
                        <a:t>Fault recovery</a:t>
                      </a:r>
                      <a:endParaRPr lang="en-US" sz="120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Full re-run on failure</a:t>
                      </a:r>
                      <a:endParaRPr lang="en-US" sz="120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Checkpoint-based recovery</a:t>
                      </a:r>
                      <a:endParaRPr lang="en-US" sz="120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r>
              <a:tr h="502920">
                <a:tc>
                  <a:txBody>
                    <a:bodyPr/>
                    <a:lstStyle/>
                    <a:p>
                      <a:pPr algn="l" indent="0" marL="0">
                        <a:buNone/>
                      </a:pPr>
                      <a:r>
                        <a:rPr lang="en-US" sz="1200" dirty="0">
                          <a:solidFill>
                            <a:srgbClr val="1E293B"/>
                          </a:solidFill>
                          <a:latin typeface="Calibri" pitchFamily="34" charset="0"/>
                          <a:ea typeface="Calibri" pitchFamily="34" charset="-122"/>
                          <a:cs typeface="Calibri" pitchFamily="34" charset="-120"/>
                        </a:rPr>
                        <a:t>Real-time monitoring</a:t>
                      </a:r>
                      <a:endParaRPr lang="en-US" sz="120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tcPr>
                </a:tc>
              </a:tr>
            </a:tbl>
          </a:graphicData>
        </a:graphic>
      </p:graphicFrame>
      <p:sp>
        <p:nvSpPr>
          <p:cNvPr id="5" name="Text 2"/>
          <p:cNvSpPr/>
          <p:nvPr/>
        </p:nvSpPr>
        <p:spPr>
          <a:xfrm>
            <a:off x="457200" y="4251960"/>
            <a:ext cx="822960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Streaming is justified here by the goal of real-time monitoring; all 1,707 records were indexed with zero data loss.</a:t>
            </a:r>
            <a:endParaRPr lang="en-US" sz="1200" dirty="0"/>
          </a:p>
        </p:txBody>
      </p:sp>
      <p:sp>
        <p:nvSpPr>
          <p:cNvPr id="6" name="Text 3"/>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06  CONCLUSION</a:t>
            </a:r>
            <a:endParaRPr lang="en-US" sz="1200" dirty="0"/>
          </a:p>
        </p:txBody>
      </p:sp>
      <p:sp>
        <p:nvSpPr>
          <p:cNvPr id="3" name="Text 1"/>
          <p:cNvSpPr/>
          <p:nvPr/>
        </p:nvSpPr>
        <p:spPr>
          <a:xfrm>
            <a:off x="457200" y="621792"/>
            <a:ext cx="8229600" cy="640080"/>
          </a:xfrm>
          <a:prstGeom prst="rect">
            <a:avLst/>
          </a:prstGeom>
          <a:noFill/>
          <a:ln/>
        </p:spPr>
        <p:txBody>
          <a:bodyPr wrap="square" lIns="0" tIns="0" rIns="0" bIns="0" rtlCol="0" anchor="ctr"/>
          <a:lstStyle/>
          <a:p>
            <a:pPr indent="0" marL="0">
              <a:buNone/>
            </a:pPr>
            <a:r>
              <a:rPr lang="en-US" sz="2800" b="1" dirty="0">
                <a:solidFill>
                  <a:srgbClr val="1E293B"/>
                </a:solidFill>
                <a:latin typeface="Cambria" pitchFamily="34" charset="0"/>
                <a:ea typeface="Cambria" pitchFamily="34" charset="-122"/>
                <a:cs typeface="Cambria" pitchFamily="34" charset="-120"/>
              </a:rPr>
              <a:t>Conclusion &amp; Future Work</a:t>
            </a:r>
            <a:endParaRPr lang="en-US" sz="2800" dirty="0"/>
          </a:p>
        </p:txBody>
      </p:sp>
      <p:sp>
        <p:nvSpPr>
          <p:cNvPr id="4" name="Text 2"/>
          <p:cNvSpPr/>
          <p:nvPr/>
        </p:nvSpPr>
        <p:spPr>
          <a:xfrm>
            <a:off x="457200" y="1508760"/>
            <a:ext cx="393192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Key takeaways</a:t>
            </a:r>
            <a:endParaRPr lang="en-US" sz="1500" dirty="0"/>
          </a:p>
        </p:txBody>
      </p:sp>
      <p:sp>
        <p:nvSpPr>
          <p:cNvPr id="5" name="Text 3"/>
          <p:cNvSpPr/>
          <p:nvPr/>
        </p:nvSpPr>
        <p:spPr>
          <a:xfrm>
            <a:off x="457200" y="1874520"/>
            <a:ext cx="3931920" cy="201168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Full pipeline built and verified end-to-end, zero data loss</a:t>
            </a:r>
            <a:endParaRPr lang="en-US" sz="1250" dirty="0"/>
          </a:p>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Naive Bayes outperformed LSTM overall (76.9% vs. 50.0%)</a:t>
            </a:r>
            <a:endParaRPr lang="en-US" sz="1250" dirty="0"/>
          </a:p>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Severe class imbalance limited both models on neutral reviews</a:t>
            </a:r>
            <a:endParaRPr lang="en-US" sz="1250" dirty="0"/>
          </a:p>
        </p:txBody>
      </p:sp>
      <p:sp>
        <p:nvSpPr>
          <p:cNvPr id="6" name="Text 4"/>
          <p:cNvSpPr/>
          <p:nvPr/>
        </p:nvSpPr>
        <p:spPr>
          <a:xfrm>
            <a:off x="4754880" y="1508760"/>
            <a:ext cx="3931920" cy="32004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Future work</a:t>
            </a:r>
            <a:endParaRPr lang="en-US" sz="1500" dirty="0"/>
          </a:p>
        </p:txBody>
      </p:sp>
      <p:sp>
        <p:nvSpPr>
          <p:cNvPr id="7" name="Text 5"/>
          <p:cNvSpPr/>
          <p:nvPr/>
        </p:nvSpPr>
        <p:spPr>
          <a:xfrm>
            <a:off x="4754880" y="1874520"/>
            <a:ext cx="3931920" cy="201168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Collect more neutral-class reviews to fix the imbalance</a:t>
            </a:r>
            <a:endParaRPr lang="en-US" sz="1250" dirty="0"/>
          </a:p>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Test a transformer model such as DistilBERT</a:t>
            </a:r>
            <a:endParaRPr lang="en-US" sz="1250" dirty="0"/>
          </a:p>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Deploy across a distributed multi-node cluster</a:t>
            </a:r>
            <a:endParaRPr lang="en-US" sz="1250" dirty="0"/>
          </a:p>
        </p:txBody>
      </p:sp>
      <p:sp>
        <p:nvSpPr>
          <p:cNvPr id="8" name="Text 6"/>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371600" y="2926080"/>
            <a:ext cx="3657600" cy="3657600"/>
          </a:xfrm>
          <a:prstGeom prst="ellipse">
            <a:avLst/>
          </a:prstGeom>
          <a:solidFill>
            <a:srgbClr val="065A82">
              <a:alpha val="55000"/>
            </a:srgbClr>
          </a:solidFill>
          <a:ln/>
        </p:spPr>
      </p:sp>
      <p:sp>
        <p:nvSpPr>
          <p:cNvPr id="3" name="Shape 1"/>
          <p:cNvSpPr/>
          <p:nvPr/>
        </p:nvSpPr>
        <p:spPr>
          <a:xfrm>
            <a:off x="7589520" y="-1554480"/>
            <a:ext cx="3108960" cy="3108960"/>
          </a:xfrm>
          <a:prstGeom prst="ellipse">
            <a:avLst/>
          </a:prstGeom>
          <a:solidFill>
            <a:srgbClr val="1C7293">
              <a:alpha val="45000"/>
            </a:srgbClr>
          </a:solidFill>
          <a:ln/>
        </p:spPr>
      </p:sp>
      <p:sp>
        <p:nvSpPr>
          <p:cNvPr id="4" name="Text 2"/>
          <p:cNvSpPr/>
          <p:nvPr/>
        </p:nvSpPr>
        <p:spPr>
          <a:xfrm>
            <a:off x="640080" y="1828800"/>
            <a:ext cx="77724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3"/>
          <p:cNvSpPr/>
          <p:nvPr/>
        </p:nvSpPr>
        <p:spPr>
          <a:xfrm>
            <a:off x="640080" y="2606040"/>
            <a:ext cx="7772400" cy="548640"/>
          </a:xfrm>
          <a:prstGeom prst="rect">
            <a:avLst/>
          </a:prstGeom>
          <a:noFill/>
          <a:ln/>
        </p:spPr>
        <p:txBody>
          <a:bodyPr wrap="square" lIns="0" tIns="0" rIns="0" bIns="0" rtlCol="0" anchor="ctr"/>
          <a:lstStyle/>
          <a:p>
            <a:pPr indent="0" marL="0">
              <a:buNone/>
            </a:pPr>
            <a:r>
              <a:rPr lang="en-US" sz="2000" dirty="0">
                <a:solidFill>
                  <a:srgbClr val="CADCFC"/>
                </a:solidFill>
                <a:latin typeface="Cambria" pitchFamily="34" charset="0"/>
                <a:ea typeface="Cambria" pitchFamily="34" charset="-122"/>
                <a:cs typeface="Cambria" pitchFamily="34" charset="-120"/>
              </a:rPr>
              <a:t>Questions &amp; Discussion</a:t>
            </a:r>
            <a:endParaRPr lang="en-US" sz="2000" dirty="0"/>
          </a:p>
        </p:txBody>
      </p:sp>
      <p:sp>
        <p:nvSpPr>
          <p:cNvPr id="6" name="Text 4"/>
          <p:cNvSpPr/>
          <p:nvPr/>
        </p:nvSpPr>
        <p:spPr>
          <a:xfrm>
            <a:off x="640080" y="4480560"/>
            <a:ext cx="7772400" cy="365760"/>
          </a:xfrm>
          <a:prstGeom prst="rect">
            <a:avLst/>
          </a:prstGeom>
          <a:noFill/>
          <a:ln/>
        </p:spPr>
        <p:txBody>
          <a:bodyPr wrap="square" lIns="0" tIns="0" rIns="0" bIns="0" rtlCol="0" anchor="ctr"/>
          <a:lstStyle/>
          <a:p>
            <a:pPr indent="0" marL="0">
              <a:buNone/>
            </a:pPr>
            <a:r>
              <a:rPr lang="en-US" sz="1200" dirty="0">
                <a:solidFill>
                  <a:srgbClr val="9FB8CE"/>
                </a:solidFill>
                <a:latin typeface="Calibri" pitchFamily="34" charset="0"/>
                <a:ea typeface="Calibri" pitchFamily="34" charset="-122"/>
                <a:cs typeface="Calibri" pitchFamily="34" charset="-120"/>
              </a:rPr>
              <a:t>Group: Sparkling Sparkmind  |  SECP3133-02 High Performance Data Processing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Sentiment Analysis using Apache Spark and Kafka</dc:title>
  <dc:subject>PptxGenJS Presentation</dc:subject>
  <dc:creator>Sparkling Sparkmind</dc:creator>
  <cp:lastModifiedBy>Sparkling Sparkmind</cp:lastModifiedBy>
  <cp:revision>1</cp:revision>
  <dcterms:created xsi:type="dcterms:W3CDTF">2026-07-05T14:33:46Z</dcterms:created>
  <dcterms:modified xsi:type="dcterms:W3CDTF">2026-07-05T14:33:46Z</dcterms:modified>
</cp:coreProperties>
</file>