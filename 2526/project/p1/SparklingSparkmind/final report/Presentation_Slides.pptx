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8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8288000" cy="10287000"/>
  <p:notesSz cx="6858000" cy="9144000"/>
  <p:embeddedFontLst>
    <p:embeddedFont>
      <p:font typeface="Calibri (MS) Bold" charset="1" panose="020F0702030404030204"/>
      <p:regular r:id="rId21"/>
    </p:embeddedFont>
    <p:embeddedFont>
      <p:font typeface="Cambria Bold" charset="1" panose="02040803050406030204"/>
      <p:regular r:id="rId22"/>
    </p:embeddedFont>
    <p:embeddedFont>
      <p:font typeface="Calibri (MS) Italics" charset="1" panose="020F05020202040A0204"/>
      <p:regular r:id="rId23"/>
    </p:embeddedFont>
    <p:embeddedFont>
      <p:font typeface="Calibri (MS)" charset="1" panose="020F0502020204030204"/>
      <p:regular r:id="rId24"/>
    </p:embeddedFont>
    <p:embeddedFont>
      <p:font typeface="Calibri (MS) Bold Italics" charset="1" panose="020F07020304040A0204"/>
      <p:regular r:id="rId2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notesMasters/notesMaster1.xml" Type="http://schemas.openxmlformats.org/officeDocument/2006/relationships/notesMaster"/><Relationship Id="rId19" Target="theme/theme2.xml" Type="http://schemas.openxmlformats.org/officeDocument/2006/relationships/theme"/><Relationship Id="rId2" Target="presProps.xml" Type="http://schemas.openxmlformats.org/officeDocument/2006/relationships/presProps"/><Relationship Id="rId20" Target="notesSlides/notesSlide1.xml" Type="http://schemas.openxmlformats.org/officeDocument/2006/relationships/notesSlide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notesSlides/notesSlide2.xml" Type="http://schemas.openxmlformats.org/officeDocument/2006/relationships/notesSlide"/><Relationship Id="rId26" Target="notesSlides/notesSlide3.xml" Type="http://schemas.openxmlformats.org/officeDocument/2006/relationships/notesSlide"/><Relationship Id="rId27" Target="notesSlides/notesSlide4.xml" Type="http://schemas.openxmlformats.org/officeDocument/2006/relationships/notesSlide"/><Relationship Id="rId28" Target="fonts/font28.fntdata" Type="http://schemas.openxmlformats.org/officeDocument/2006/relationships/font"/><Relationship Id="rId29" Target="notesSlides/notesSlide5.xml" Type="http://schemas.openxmlformats.org/officeDocument/2006/relationships/notesSlide"/><Relationship Id="rId3" Target="viewProps.xml" Type="http://schemas.openxmlformats.org/officeDocument/2006/relationships/viewProps"/><Relationship Id="rId30" Target="notesSlides/notesSlide6.xml" Type="http://schemas.openxmlformats.org/officeDocument/2006/relationships/notesSlide"/><Relationship Id="rId31" Target="notesSlides/notesSlide7.xml" Type="http://schemas.openxmlformats.org/officeDocument/2006/relationships/notesSlide"/><Relationship Id="rId32" Target="notesSlides/notesSlide8.xml" Type="http://schemas.openxmlformats.org/officeDocument/2006/relationships/notesSlide"/><Relationship Id="rId33" Target="notesSlides/notesSlide9.xml" Type="http://schemas.openxmlformats.org/officeDocument/2006/relationships/notesSlide"/><Relationship Id="rId34" Target="notesSlides/notesSlide10.xml" Type="http://schemas.openxmlformats.org/officeDocument/2006/relationships/notesSlide"/><Relationship Id="rId35" Target="notesSlides/notesSlide11.xml" Type="http://schemas.openxmlformats.org/officeDocument/2006/relationships/notesSlide"/><Relationship Id="rId36" Target="notesSlides/notesSlide12.xml" Type="http://schemas.openxmlformats.org/officeDocument/2006/relationships/notesSlide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1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Greet the panel, introduce the group and the project title. Keep this brief and confident.</a:t>
            </a:r>
          </a:p>
          <a:p>
            <a:r>
              <a:rPr lang="en-US"/>
              <a:t>1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Explain the motivation: a 100,000+ record HPC pipeline, walk through the five objectives quickly, don't read every word verbatim.</a:t>
            </a:r>
          </a:p>
          <a:p>
            <a:r>
              <a:rPr lang="en-US"/>
              <a:t>2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Introduce MyFutureJobs as the chosen site and why it fit the requirement. Point out the 9 extracted fields briefly.</a:t>
            </a:r>
          </a:p>
          <a:p>
            <a:r>
              <a:rPr lang="en-US"/>
              <a:t>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Walk through the 3-stage architecture left to right. Mention why Spark wasn't necessary at this scale.</a:t>
            </a:r>
          </a:p>
          <a:p>
            <a:r>
              <a:rPr lang="en-US"/>
              <a:t>4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Describe how the crawler worked ethically and reliably: delay, progressive saving, and the final record counts.</a:t>
            </a:r>
          </a:p>
          <a:p>
            <a:r>
              <a:rPr lang="en-US"/>
              <a:t>5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Summarize the 5-step cleaning pipeline that produces the single shared cleaned_data.csv used by every method.</a:t>
            </a:r>
          </a:p>
          <a:p>
            <a:r>
              <a:rPr lang="en-US"/>
              <a:t>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Introduce each of the 3 processing approaches at a high level before jumping into results.</a:t>
            </a:r>
          </a:p>
          <a:p>
            <a:r>
              <a:rPr lang="en-US"/>
              <a:t>7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Walk through the throughput chart and the metrics table. Emphasize the big number: Polars' 223,652 jobs/sec.</a:t>
            </a:r>
          </a:p>
          <a:p>
            <a:r>
              <a:rPr lang="en-US"/>
              <a:t>8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Explain WHY Polars wins: lazy evaluation, Arrow columnar format, internal parallelism vs multiprocessing overhead.</a:t>
            </a:r>
          </a:p>
          <a:p>
            <a:r>
              <a:rPr lang="en-US"/>
              <a:t>9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Be transparent about real problems faced: the Windows recursion bug, multiprocessing underperforming, and CPU measurement noise.</a:t>
            </a:r>
          </a:p>
          <a:p>
            <a:r>
              <a:rPr lang="en-US"/>
              <a:t>10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Recap the final table and give 2-3 concrete next steps for future iterations.</a:t>
            </a:r>
          </a:p>
          <a:p>
            <a:r>
              <a:rPr lang="en-US"/>
              <a:t>11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Thank the audience and invite questions.</a:t>
            </a:r>
          </a:p>
          <a:p>
            <a:r>
              <a:rPr lang="en-US"/>
              <a:t>12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png" Type="http://schemas.openxmlformats.org/officeDocument/2006/relationships/image"/><Relationship Id="rId4" Target="../media/image2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2.jpeg" Type="http://schemas.openxmlformats.org/officeDocument/2006/relationships/image"/><Relationship Id="rId4" Target="../media/image1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2.jpeg" Type="http://schemas.openxmlformats.org/officeDocument/2006/relationships/image"/><Relationship Id="rId4" Target="../media/image3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2.jpeg" Type="http://schemas.openxmlformats.org/officeDocument/2006/relationships/image"/><Relationship Id="rId4" Target="../media/image4.png" Type="http://schemas.openxmlformats.org/officeDocument/2006/relationships/image"/><Relationship Id="rId5" Target="../media/image5.png" Type="http://schemas.openxmlformats.org/officeDocument/2006/relationships/image"/><Relationship Id="rId6" Target="../media/image6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2.jpeg" Type="http://schemas.openxmlformats.org/officeDocument/2006/relationships/image"/><Relationship Id="rId4" Target="../media/image4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2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2.jpeg" Type="http://schemas.openxmlformats.org/officeDocument/2006/relationships/image"/><Relationship Id="rId4" Target="../media/image7.png" Type="http://schemas.openxmlformats.org/officeDocument/2006/relationships/image"/><Relationship Id="rId5" Target="../media/image8.png" Type="http://schemas.openxmlformats.org/officeDocument/2006/relationships/image"/><Relationship Id="rId6" Target="../media/image9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2.jpeg" Type="http://schemas.openxmlformats.org/officeDocument/2006/relationships/image"/><Relationship Id="rId4" Target="../media/image10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Relationship Id="rId3" Target="../media/image2.jpeg" Type="http://schemas.openxmlformats.org/officeDocument/2006/relationships/image"/><Relationship Id="rId4" Target="../media/image11.png" Type="http://schemas.openxmlformats.org/officeDocument/2006/relationships/image"/><Relationship Id="rId5" Target="../media/image12.png" Type="http://schemas.openxmlformats.org/officeDocument/2006/relationships/image"/><Relationship Id="rId6" Target="../media/image8.png" Type="http://schemas.openxmlformats.org/officeDocument/2006/relationships/image"/><Relationship Id="rId7" Target="../media/image13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0.xml" Type="http://schemas.openxmlformats.org/officeDocument/2006/relationships/notesSlide"/><Relationship Id="rId3" Target="../media/image2.jpeg" Type="http://schemas.openxmlformats.org/officeDocument/2006/relationships/image"/><Relationship Id="rId4" Target="../media/image14.png" Type="http://schemas.openxmlformats.org/officeDocument/2006/relationships/image"/><Relationship Id="rId5" Target="../media/image15.png" Type="http://schemas.openxmlformats.org/officeDocument/2006/relationships/image"/><Relationship Id="rId6" Target="../media/image16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1.xml" Type="http://schemas.openxmlformats.org/officeDocument/2006/relationships/notesSlide"/><Relationship Id="rId3" Target="../media/image2.jpeg" Type="http://schemas.openxmlformats.org/officeDocument/2006/relationships/image"/><Relationship Id="rId4" Target="../media/image17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2.xml" Type="http://schemas.openxmlformats.org/officeDocument/2006/relationships/notesSlide"/><Relationship Id="rId3" Target="../media/image18.png" Type="http://schemas.openxmlformats.org/officeDocument/2006/relationships/image"/><Relationship Id="rId4" Target="../media/image2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2E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4538960" y="-2194560"/>
            <a:ext cx="6858000" cy="6858000"/>
            <a:chOff x="0" y="0"/>
            <a:chExt cx="9144000" cy="9144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144000" cy="9144000"/>
            </a:xfrm>
            <a:custGeom>
              <a:avLst/>
              <a:gdLst/>
              <a:ahLst/>
              <a:cxnLst/>
              <a:rect r="r" b="b" t="t" l="l"/>
              <a:pathLst>
                <a:path h="9144000" w="9144000">
                  <a:moveTo>
                    <a:pt x="0" y="4572000"/>
                  </a:moveTo>
                  <a:cubicBezTo>
                    <a:pt x="0" y="2046986"/>
                    <a:pt x="2046986" y="0"/>
                    <a:pt x="4572000" y="0"/>
                  </a:cubicBezTo>
                  <a:cubicBezTo>
                    <a:pt x="7097014" y="0"/>
                    <a:pt x="9144000" y="2046986"/>
                    <a:pt x="9144000" y="4572000"/>
                  </a:cubicBezTo>
                  <a:cubicBezTo>
                    <a:pt x="9144000" y="7097014"/>
                    <a:pt x="7097014" y="9144000"/>
                    <a:pt x="4572000" y="9144000"/>
                  </a:cubicBezTo>
                  <a:cubicBezTo>
                    <a:pt x="2046986" y="9144000"/>
                    <a:pt x="0" y="7097014"/>
                    <a:pt x="0" y="4572000"/>
                  </a:cubicBezTo>
                  <a:close/>
                </a:path>
              </a:pathLst>
            </a:custGeom>
            <a:solidFill>
              <a:srgbClr val="123B44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-2468880" y="7132320"/>
            <a:ext cx="5760720" cy="5760720"/>
            <a:chOff x="0" y="0"/>
            <a:chExt cx="7680960" cy="768096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680960" cy="7680960"/>
            </a:xfrm>
            <a:custGeom>
              <a:avLst/>
              <a:gdLst/>
              <a:ahLst/>
              <a:cxnLst/>
              <a:rect r="r" b="b" t="t" l="l"/>
              <a:pathLst>
                <a:path h="7680960" w="7680960">
                  <a:moveTo>
                    <a:pt x="0" y="3840480"/>
                  </a:moveTo>
                  <a:cubicBezTo>
                    <a:pt x="0" y="1719453"/>
                    <a:pt x="1719453" y="0"/>
                    <a:pt x="3840480" y="0"/>
                  </a:cubicBezTo>
                  <a:cubicBezTo>
                    <a:pt x="5961507" y="0"/>
                    <a:pt x="7680960" y="1719453"/>
                    <a:pt x="7680960" y="3840480"/>
                  </a:cubicBezTo>
                  <a:cubicBezTo>
                    <a:pt x="7680960" y="5961507"/>
                    <a:pt x="5961507" y="7680960"/>
                    <a:pt x="3840480" y="7680960"/>
                  </a:cubicBezTo>
                  <a:cubicBezTo>
                    <a:pt x="1719453" y="7680960"/>
                    <a:pt x="0" y="5961507"/>
                    <a:pt x="0" y="3840480"/>
                  </a:cubicBezTo>
                  <a:close/>
                </a:path>
              </a:pathLst>
            </a:custGeom>
            <a:solidFill>
              <a:srgbClr val="123B44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234440" y="1165860"/>
            <a:ext cx="850392" cy="850392"/>
            <a:chOff x="0" y="0"/>
            <a:chExt cx="1133856" cy="113385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133856" cy="1133856"/>
            </a:xfrm>
            <a:custGeom>
              <a:avLst/>
              <a:gdLst/>
              <a:ahLst/>
              <a:cxnLst/>
              <a:rect r="r" b="b" t="t" l="l"/>
              <a:pathLst>
                <a:path h="1133856" w="1133856">
                  <a:moveTo>
                    <a:pt x="0" y="566928"/>
                  </a:moveTo>
                  <a:cubicBezTo>
                    <a:pt x="0" y="253873"/>
                    <a:pt x="253873" y="0"/>
                    <a:pt x="566928" y="0"/>
                  </a:cubicBezTo>
                  <a:cubicBezTo>
                    <a:pt x="879983" y="0"/>
                    <a:pt x="1133856" y="253873"/>
                    <a:pt x="1133856" y="566928"/>
                  </a:cubicBezTo>
                  <a:cubicBezTo>
                    <a:pt x="1133856" y="879983"/>
                    <a:pt x="879983" y="1133856"/>
                    <a:pt x="566928" y="1133856"/>
                  </a:cubicBezTo>
                  <a:cubicBezTo>
                    <a:pt x="253873" y="1133856"/>
                    <a:pt x="0" y="879983"/>
                    <a:pt x="0" y="566928"/>
                  </a:cubicBezTo>
                  <a:close/>
                </a:path>
              </a:pathLst>
            </a:custGeom>
            <a:solidFill>
              <a:srgbClr val="5FB8B0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336491" y="1267911"/>
            <a:ext cx="646300" cy="646300"/>
            <a:chOff x="0" y="0"/>
            <a:chExt cx="861733" cy="861733"/>
          </a:xfrm>
        </p:grpSpPr>
        <p:sp>
          <p:nvSpPr>
            <p:cNvPr name="Freeform 9" id="9" descr="preencoded.png"/>
            <p:cNvSpPr/>
            <p:nvPr/>
          </p:nvSpPr>
          <p:spPr>
            <a:xfrm flipH="false" flipV="false" rot="0">
              <a:off x="0" y="0"/>
              <a:ext cx="861695" cy="861695"/>
            </a:xfrm>
            <a:custGeom>
              <a:avLst/>
              <a:gdLst/>
              <a:ahLst/>
              <a:cxnLst/>
              <a:rect r="r" b="b" t="t" l="l"/>
              <a:pathLst>
                <a:path h="861695" w="861695">
                  <a:moveTo>
                    <a:pt x="0" y="0"/>
                  </a:moveTo>
                  <a:lnTo>
                    <a:pt x="861695" y="0"/>
                  </a:lnTo>
                  <a:lnTo>
                    <a:pt x="861695" y="861695"/>
                  </a:lnTo>
                  <a:lnTo>
                    <a:pt x="0" y="8616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4" b="-4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2263140" y="1165860"/>
            <a:ext cx="10972800" cy="685800"/>
            <a:chOff x="0" y="0"/>
            <a:chExt cx="14630400" cy="9144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4630400" cy="914400"/>
            </a:xfrm>
            <a:custGeom>
              <a:avLst/>
              <a:gdLst/>
              <a:ahLst/>
              <a:cxnLst/>
              <a:rect r="r" b="b" t="t" l="l"/>
              <a:pathLst>
                <a:path h="91440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61760" r="0" b="-26176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47625"/>
              <a:ext cx="14630400" cy="9620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b="true" sz="1950" spc="300">
                  <a:solidFill>
                    <a:srgbClr val="5FB8B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HIGH PERFORMANCE DATA PROCESSING  •  PROJECT 1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234440" y="2880360"/>
            <a:ext cx="15361920" cy="2743200"/>
            <a:chOff x="0" y="0"/>
            <a:chExt cx="20482560" cy="36576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0482561" cy="3657600"/>
            </a:xfrm>
            <a:custGeom>
              <a:avLst/>
              <a:gdLst/>
              <a:ahLst/>
              <a:cxnLst/>
              <a:rect r="r" b="b" t="t" l="l"/>
              <a:pathLst>
                <a:path h="3657600" w="20482561">
                  <a:moveTo>
                    <a:pt x="0" y="0"/>
                  </a:moveTo>
                  <a:lnTo>
                    <a:pt x="20482561" y="0"/>
                  </a:lnTo>
                  <a:lnTo>
                    <a:pt x="20482561" y="3657600"/>
                  </a:lnTo>
                  <a:lnTo>
                    <a:pt x="0" y="36576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59116" r="0" b="-59116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57150"/>
              <a:ext cx="20482560" cy="37147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776"/>
                </a:lnSpc>
              </a:pPr>
              <a:r>
                <a:rPr lang="en-US" sz="60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Optimizing High Performance Data</a:t>
              </a:r>
            </a:p>
            <a:p>
              <a:pPr algn="l">
                <a:lnSpc>
                  <a:spcPts val="7776"/>
                </a:lnSpc>
              </a:pPr>
              <a:r>
                <a:rPr lang="en-US" sz="60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Processing for Large-Scale Web Crawlers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234440" y="5417820"/>
            <a:ext cx="14813280" cy="685800"/>
            <a:chOff x="0" y="0"/>
            <a:chExt cx="19751040" cy="9144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9751039" cy="914400"/>
            </a:xfrm>
            <a:custGeom>
              <a:avLst/>
              <a:gdLst/>
              <a:ahLst/>
              <a:cxnLst/>
              <a:rect r="r" b="b" t="t" l="l"/>
              <a:pathLst>
                <a:path h="914400" w="19751039">
                  <a:moveTo>
                    <a:pt x="0" y="0"/>
                  </a:moveTo>
                  <a:lnTo>
                    <a:pt x="19751039" y="0"/>
                  </a:lnTo>
                  <a:lnTo>
                    <a:pt x="19751039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70876" r="0" b="-370876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19751040" cy="9525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i="true">
                  <a:solidFill>
                    <a:srgbClr val="5FB8B0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Case Study: MyFutureJobs Job Vacancy Pipeline — Pandas vs Multiprocessing vs Polars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234440" y="6515100"/>
            <a:ext cx="15361920" cy="2606040"/>
            <a:chOff x="0" y="0"/>
            <a:chExt cx="20482560" cy="347472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0482561" cy="3474720"/>
            </a:xfrm>
            <a:custGeom>
              <a:avLst/>
              <a:gdLst/>
              <a:ahLst/>
              <a:cxnLst/>
              <a:rect r="r" b="b" t="t" l="l"/>
              <a:pathLst>
                <a:path h="3474720" w="20482561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20336256" y="0"/>
                  </a:lnTo>
                  <a:cubicBezTo>
                    <a:pt x="20417028" y="0"/>
                    <a:pt x="20482561" y="65532"/>
                    <a:pt x="20482561" y="146304"/>
                  </a:cubicBezTo>
                  <a:lnTo>
                    <a:pt x="20482561" y="3328416"/>
                  </a:lnTo>
                  <a:cubicBezTo>
                    <a:pt x="20482561" y="3409188"/>
                    <a:pt x="20417028" y="3474720"/>
                    <a:pt x="20336256" y="3474720"/>
                  </a:cubicBezTo>
                  <a:lnTo>
                    <a:pt x="146304" y="3474720"/>
                  </a:lnTo>
                  <a:cubicBezTo>
                    <a:pt x="65532" y="3474720"/>
                    <a:pt x="0" y="3409188"/>
                    <a:pt x="0" y="3328416"/>
                  </a:cubicBezTo>
                  <a:close/>
                </a:path>
              </a:pathLst>
            </a:custGeom>
            <a:solidFill>
              <a:srgbClr val="123B44"/>
            </a:solid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1645920" y="6748272"/>
            <a:ext cx="8229600" cy="548640"/>
            <a:chOff x="0" y="0"/>
            <a:chExt cx="10972800" cy="73152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0972800" cy="731520"/>
            </a:xfrm>
            <a:custGeom>
              <a:avLst/>
              <a:gdLst/>
              <a:ahLst/>
              <a:cxnLst/>
              <a:rect r="r" b="b" t="t" l="l"/>
              <a:pathLst>
                <a:path h="73152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47625"/>
              <a:ext cx="1097280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b="true" sz="1950" spc="150">
                  <a:solidFill>
                    <a:srgbClr val="5FB8B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GROUP: SPARKLING SPARKMIND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645920" y="7296912"/>
            <a:ext cx="9601200" cy="1645920"/>
            <a:chOff x="0" y="0"/>
            <a:chExt cx="12801600" cy="219456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2801600" cy="2194560"/>
            </a:xfrm>
            <a:custGeom>
              <a:avLst/>
              <a:gdLst/>
              <a:ahLst/>
              <a:cxnLst/>
              <a:rect r="r" b="b" t="t" l="l"/>
              <a:pathLst>
                <a:path h="2194560" w="12801600">
                  <a:moveTo>
                    <a:pt x="0" y="0"/>
                  </a:moveTo>
                  <a:lnTo>
                    <a:pt x="12801600" y="0"/>
                  </a:lnTo>
                  <a:lnTo>
                    <a:pt x="1280160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63662" r="0" b="-63662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95250"/>
              <a:ext cx="12801600" cy="22898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12"/>
                </a:lnSpc>
              </a:pPr>
              <a:r>
                <a:rPr lang="en-US" sz="1875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Safiya Nursyahadah Binti Masnoor  A23CS0176</a:t>
              </a:r>
            </a:p>
            <a:p>
              <a:pPr algn="l">
                <a:lnSpc>
                  <a:spcPts val="2812"/>
                </a:lnSpc>
              </a:pPr>
              <a:r>
                <a:rPr lang="en-US" sz="1875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Ain Nurnabila Binti Mohd Azhar  A23CS0207</a:t>
              </a:r>
            </a:p>
            <a:p>
              <a:pPr algn="l">
                <a:lnSpc>
                  <a:spcPts val="2812"/>
                </a:lnSpc>
              </a:pPr>
              <a:r>
                <a:rPr lang="en-US" sz="1875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Farra Nurzahin Binti Zaharil Anuar  A23CS0079</a:t>
              </a:r>
            </a:p>
            <a:p>
              <a:pPr algn="l">
                <a:lnSpc>
                  <a:spcPts val="2812"/>
                </a:lnSpc>
              </a:pPr>
              <a:r>
                <a:rPr lang="en-US" sz="1875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Dayang Farah Farzana Binti Abang Idham  A23CS0071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1795760" y="7296912"/>
            <a:ext cx="4389120" cy="1645920"/>
            <a:chOff x="0" y="0"/>
            <a:chExt cx="5852160" cy="219456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5852160" cy="2194560"/>
            </a:xfrm>
            <a:custGeom>
              <a:avLst/>
              <a:gdLst/>
              <a:ahLst/>
              <a:cxnLst/>
              <a:rect r="r" b="b" t="t" l="l"/>
              <a:pathLst>
                <a:path h="2194560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960" r="0" b="-1960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114300"/>
              <a:ext cx="5852160" cy="23088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3042"/>
                </a:lnSpc>
              </a:pPr>
              <a:r>
                <a:rPr lang="en-US" sz="195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Prepared for</a:t>
              </a:r>
            </a:p>
            <a:p>
              <a:pPr algn="r">
                <a:lnSpc>
                  <a:spcPts val="3042"/>
                </a:lnSpc>
              </a:pPr>
              <a:r>
                <a:rPr lang="en-US" sz="19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Dr. Seah Choon Sen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617220"/>
            <a:ext cx="16459200" cy="1097280"/>
            <a:chOff x="0" y="0"/>
            <a:chExt cx="21945600" cy="14630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9050"/>
              <a:ext cx="21945600" cy="14820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13262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Introduction &amp; Objectives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22960" y="1440180"/>
            <a:ext cx="16459200" cy="548640"/>
            <a:chOff x="0" y="0"/>
            <a:chExt cx="21945600" cy="7315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945600" cy="731520"/>
            </a:xfrm>
            <a:custGeom>
              <a:avLst/>
              <a:gdLst/>
              <a:ahLst/>
              <a:cxnLst/>
              <a:rect r="r" b="b" t="t" l="l"/>
              <a:pathLst>
                <a:path h="73152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4551" r="0" b="-534551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2194560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i="true">
                  <a:solidFill>
                    <a:srgbClr val="5C7278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SECP3133 requires a large-scale web crawler + HPC processing pipeline at 100,000+ record scale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22960" y="2263140"/>
            <a:ext cx="7818120" cy="6926580"/>
            <a:chOff x="0" y="0"/>
            <a:chExt cx="10424160" cy="923544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424161" cy="9235440"/>
            </a:xfrm>
            <a:custGeom>
              <a:avLst/>
              <a:gdLst/>
              <a:ahLst/>
              <a:cxnLst/>
              <a:rect r="r" b="b" t="t" l="l"/>
              <a:pathLst>
                <a:path h="9235440" w="10424161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10277856" y="0"/>
                  </a:lnTo>
                  <a:cubicBezTo>
                    <a:pt x="10358628" y="0"/>
                    <a:pt x="10424161" y="65532"/>
                    <a:pt x="10424161" y="146304"/>
                  </a:cubicBezTo>
                  <a:lnTo>
                    <a:pt x="10424161" y="9089136"/>
                  </a:lnTo>
                  <a:cubicBezTo>
                    <a:pt x="10424161" y="9169908"/>
                    <a:pt x="10358628" y="9235440"/>
                    <a:pt x="10277856" y="9235440"/>
                  </a:cubicBezTo>
                  <a:lnTo>
                    <a:pt x="146304" y="9235440"/>
                  </a:lnTo>
                  <a:cubicBezTo>
                    <a:pt x="65532" y="9235440"/>
                    <a:pt x="0" y="9169908"/>
                    <a:pt x="0" y="9089136"/>
                  </a:cubicBezTo>
                  <a:close/>
                </a:path>
              </a:pathLst>
            </a:custGeom>
            <a:solidFill>
              <a:srgbClr val="F4F8F8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303020" y="2674620"/>
            <a:ext cx="754380" cy="754380"/>
            <a:chOff x="0" y="0"/>
            <a:chExt cx="1005840" cy="100584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0584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005840">
                  <a:moveTo>
                    <a:pt x="0" y="502920"/>
                  </a:moveTo>
                  <a:cubicBezTo>
                    <a:pt x="0" y="225171"/>
                    <a:pt x="225171" y="0"/>
                    <a:pt x="502920" y="0"/>
                  </a:cubicBezTo>
                  <a:cubicBezTo>
                    <a:pt x="780669" y="0"/>
                    <a:pt x="1005840" y="225171"/>
                    <a:pt x="1005840" y="502920"/>
                  </a:cubicBezTo>
                  <a:cubicBezTo>
                    <a:pt x="1005840" y="780669"/>
                    <a:pt x="780669" y="1005840"/>
                    <a:pt x="502920" y="1005840"/>
                  </a:cubicBezTo>
                  <a:cubicBezTo>
                    <a:pt x="225171" y="1005840"/>
                    <a:pt x="0" y="780669"/>
                    <a:pt x="0" y="502920"/>
                  </a:cubicBezTo>
                  <a:close/>
                </a:path>
              </a:pathLst>
            </a:custGeom>
            <a:solidFill>
              <a:srgbClr val="0F7A82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393546" y="2765146"/>
            <a:ext cx="573329" cy="573329"/>
            <a:chOff x="0" y="0"/>
            <a:chExt cx="764438" cy="764438"/>
          </a:xfrm>
        </p:grpSpPr>
        <p:sp>
          <p:nvSpPr>
            <p:cNvPr name="Freeform 13" id="13" descr="preencoded.png"/>
            <p:cNvSpPr/>
            <p:nvPr/>
          </p:nvSpPr>
          <p:spPr>
            <a:xfrm flipH="false" flipV="false" rot="0">
              <a:off x="0" y="0"/>
              <a:ext cx="764413" cy="764413"/>
            </a:xfrm>
            <a:custGeom>
              <a:avLst/>
              <a:gdLst/>
              <a:ahLst/>
              <a:cxnLst/>
              <a:rect r="r" b="b" t="t" l="l"/>
              <a:pathLst>
                <a:path h="764413" w="764413">
                  <a:moveTo>
                    <a:pt x="0" y="0"/>
                  </a:moveTo>
                  <a:lnTo>
                    <a:pt x="764413" y="0"/>
                  </a:lnTo>
                  <a:lnTo>
                    <a:pt x="764413" y="764413"/>
                  </a:lnTo>
                  <a:lnTo>
                    <a:pt x="0" y="76441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3" b="-3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2263140" y="2674620"/>
            <a:ext cx="5486400" cy="754380"/>
            <a:chOff x="0" y="0"/>
            <a:chExt cx="7315200" cy="100584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7315200" cy="1005840"/>
            </a:xfrm>
            <a:custGeom>
              <a:avLst/>
              <a:gdLst/>
              <a:ahLst/>
              <a:cxnLst/>
              <a:rect r="r" b="b" t="t" l="l"/>
              <a:pathLst>
                <a:path h="100584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1709" r="0" b="-91709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19050"/>
              <a:ext cx="7315200" cy="10248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 b="true">
                  <a:solidFill>
                    <a:srgbClr val="13262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Background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303020" y="3634740"/>
            <a:ext cx="6926580" cy="5349240"/>
            <a:chOff x="0" y="0"/>
            <a:chExt cx="9235440" cy="713232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9235440" cy="7132320"/>
            </a:xfrm>
            <a:custGeom>
              <a:avLst/>
              <a:gdLst/>
              <a:ahLst/>
              <a:cxnLst/>
              <a:rect r="r" b="b" t="t" l="l"/>
              <a:pathLst>
                <a:path h="7132320" w="9235440">
                  <a:moveTo>
                    <a:pt x="0" y="0"/>
                  </a:moveTo>
                  <a:lnTo>
                    <a:pt x="9235440" y="0"/>
                  </a:lnTo>
                  <a:lnTo>
                    <a:pt x="9235440" y="7132320"/>
                  </a:lnTo>
                  <a:lnTo>
                    <a:pt x="0" y="71323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9085" t="0" r="-49085" b="0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47625"/>
              <a:ext cx="9235440" cy="71799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380048" indent="-190024" lvl="1">
                <a:lnSpc>
                  <a:spcPts val="2520"/>
                </a:lnSpc>
                <a:buFont typeface="Arial"/>
                <a:buChar char="•"/>
              </a:pPr>
              <a:r>
                <a:rPr lang="en-US" sz="2100">
                  <a:solidFill>
                    <a:srgbClr val="13262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Target: MyFutureJobs (myfuturejobs.gov.my), Malaysia's government job portal</a:t>
              </a:r>
            </a:p>
            <a:p>
              <a:pPr algn="l" marL="380048" indent="-190024" lvl="1">
                <a:lnSpc>
                  <a:spcPts val="2520"/>
                </a:lnSpc>
                <a:buFont typeface="Arial"/>
                <a:buChar char="•"/>
              </a:pPr>
              <a:r>
                <a:rPr lang="en-US" sz="2100">
                  <a:solidFill>
                    <a:srgbClr val="13262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Job vacancy data is public, well-structured, and large in volume</a:t>
              </a:r>
            </a:p>
            <a:p>
              <a:pPr algn="l" marL="380048" indent="-190024" lvl="1">
                <a:lnSpc>
                  <a:spcPts val="2520"/>
                </a:lnSpc>
                <a:buFont typeface="Arial"/>
                <a:buChar char="•"/>
              </a:pPr>
              <a:r>
                <a:rPr lang="en-US" sz="2100">
                  <a:solidFill>
                    <a:srgbClr val="13262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Pipeline built as one continuous flow: crawl → clean → optimize → evaluate</a:t>
              </a:r>
            </a:p>
            <a:p>
              <a:pPr algn="l" marL="380048" indent="-190024" lvl="1">
                <a:lnSpc>
                  <a:spcPts val="2520"/>
                </a:lnSpc>
                <a:buFont typeface="Arial"/>
                <a:buChar char="•"/>
              </a:pPr>
              <a:r>
                <a:rPr lang="en-US" sz="2100">
                  <a:solidFill>
                    <a:srgbClr val="13262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Built entirely on Google Colab with Google Drive as shared storage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8983980" y="2263140"/>
            <a:ext cx="8503920" cy="6926580"/>
            <a:chOff x="0" y="0"/>
            <a:chExt cx="11338560" cy="923544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1338561" cy="9235440"/>
            </a:xfrm>
            <a:custGeom>
              <a:avLst/>
              <a:gdLst/>
              <a:ahLst/>
              <a:cxnLst/>
              <a:rect r="r" b="b" t="t" l="l"/>
              <a:pathLst>
                <a:path h="9235440" w="11338561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11192256" y="0"/>
                  </a:lnTo>
                  <a:cubicBezTo>
                    <a:pt x="11273028" y="0"/>
                    <a:pt x="11338561" y="65532"/>
                    <a:pt x="11338561" y="146304"/>
                  </a:cubicBezTo>
                  <a:lnTo>
                    <a:pt x="11338561" y="9089136"/>
                  </a:lnTo>
                  <a:cubicBezTo>
                    <a:pt x="11338561" y="9169908"/>
                    <a:pt x="11273028" y="9235440"/>
                    <a:pt x="11192256" y="9235440"/>
                  </a:cubicBezTo>
                  <a:lnTo>
                    <a:pt x="146304" y="9235440"/>
                  </a:lnTo>
                  <a:cubicBezTo>
                    <a:pt x="65532" y="9235440"/>
                    <a:pt x="0" y="9169908"/>
                    <a:pt x="0" y="9089136"/>
                  </a:cubicBezTo>
                  <a:close/>
                </a:path>
              </a:pathLst>
            </a:custGeom>
            <a:solidFill>
              <a:srgbClr val="0B2E36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9464040" y="2606040"/>
            <a:ext cx="7680960" cy="685800"/>
            <a:chOff x="0" y="0"/>
            <a:chExt cx="10241280" cy="9144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0241280" cy="914400"/>
            </a:xfrm>
            <a:custGeom>
              <a:avLst/>
              <a:gdLst/>
              <a:ahLst/>
              <a:cxnLst/>
              <a:rect r="r" b="b" t="t" l="l"/>
              <a:pathLst>
                <a:path h="914400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8232" r="0" b="-168232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19050"/>
              <a:ext cx="10241280" cy="9334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Project Objectives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9464040" y="3497580"/>
            <a:ext cx="548640" cy="548640"/>
            <a:chOff x="0" y="0"/>
            <a:chExt cx="731520" cy="73152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365760"/>
                  </a:moveTo>
                  <a:cubicBezTo>
                    <a:pt x="0" y="163703"/>
                    <a:pt x="163703" y="0"/>
                    <a:pt x="365760" y="0"/>
                  </a:cubicBezTo>
                  <a:cubicBezTo>
                    <a:pt x="567817" y="0"/>
                    <a:pt x="731520" y="163703"/>
                    <a:pt x="731520" y="365760"/>
                  </a:cubicBezTo>
                  <a:cubicBezTo>
                    <a:pt x="731520" y="567817"/>
                    <a:pt x="567817" y="731520"/>
                    <a:pt x="365760" y="731520"/>
                  </a:cubicBezTo>
                  <a:cubicBezTo>
                    <a:pt x="163703" y="731520"/>
                    <a:pt x="0" y="567817"/>
                    <a:pt x="0" y="365760"/>
                  </a:cubicBezTo>
                  <a:close/>
                </a:path>
              </a:pathLst>
            </a:custGeom>
            <a:solidFill>
              <a:srgbClr val="5FB8B0"/>
            </a:soli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9464040" y="3497580"/>
            <a:ext cx="548640" cy="548640"/>
            <a:chOff x="0" y="0"/>
            <a:chExt cx="731520" cy="73152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47625"/>
              <a:ext cx="73152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0B2E3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10218420" y="3415284"/>
            <a:ext cx="7063740" cy="754380"/>
            <a:chOff x="0" y="0"/>
            <a:chExt cx="9418320" cy="100584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9418320" cy="1005840"/>
            </a:xfrm>
            <a:custGeom>
              <a:avLst/>
              <a:gdLst/>
              <a:ahLst/>
              <a:cxnLst/>
              <a:rect r="r" b="b" t="t" l="l"/>
              <a:pathLst>
                <a:path h="1005840" w="9418320">
                  <a:moveTo>
                    <a:pt x="0" y="0"/>
                  </a:moveTo>
                  <a:lnTo>
                    <a:pt x="9418320" y="0"/>
                  </a:lnTo>
                  <a:lnTo>
                    <a:pt x="941832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2450" r="0" b="-132450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47625"/>
              <a:ext cx="9418320" cy="10534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Crawl 100,000+ structured job vacancy records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9464040" y="4663440"/>
            <a:ext cx="548640" cy="548640"/>
            <a:chOff x="0" y="0"/>
            <a:chExt cx="731520" cy="73152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365760"/>
                  </a:moveTo>
                  <a:cubicBezTo>
                    <a:pt x="0" y="163703"/>
                    <a:pt x="163703" y="0"/>
                    <a:pt x="365760" y="0"/>
                  </a:cubicBezTo>
                  <a:cubicBezTo>
                    <a:pt x="567817" y="0"/>
                    <a:pt x="731520" y="163703"/>
                    <a:pt x="731520" y="365760"/>
                  </a:cubicBezTo>
                  <a:cubicBezTo>
                    <a:pt x="731520" y="567817"/>
                    <a:pt x="567817" y="731520"/>
                    <a:pt x="365760" y="731520"/>
                  </a:cubicBezTo>
                  <a:cubicBezTo>
                    <a:pt x="163703" y="731520"/>
                    <a:pt x="0" y="567817"/>
                    <a:pt x="0" y="365760"/>
                  </a:cubicBezTo>
                  <a:close/>
                </a:path>
              </a:pathLst>
            </a:custGeom>
            <a:solidFill>
              <a:srgbClr val="5FB8B0"/>
            </a:solid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9464040" y="4663440"/>
            <a:ext cx="548640" cy="548640"/>
            <a:chOff x="0" y="0"/>
            <a:chExt cx="731520" cy="73152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47625"/>
              <a:ext cx="73152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0B2E3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10218420" y="4581144"/>
            <a:ext cx="7063740" cy="754380"/>
            <a:chOff x="0" y="0"/>
            <a:chExt cx="9418320" cy="100584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9418320" cy="1005840"/>
            </a:xfrm>
            <a:custGeom>
              <a:avLst/>
              <a:gdLst/>
              <a:ahLst/>
              <a:cxnLst/>
              <a:rect r="r" b="b" t="t" l="l"/>
              <a:pathLst>
                <a:path h="1005840" w="9418320">
                  <a:moveTo>
                    <a:pt x="0" y="0"/>
                  </a:moveTo>
                  <a:lnTo>
                    <a:pt x="9418320" y="0"/>
                  </a:lnTo>
                  <a:lnTo>
                    <a:pt x="941832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2450" r="0" b="-132450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47625"/>
              <a:ext cx="9418320" cy="10534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Clean &amp; transform into an analysis-ready dataset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9464040" y="5829300"/>
            <a:ext cx="548640" cy="548640"/>
            <a:chOff x="0" y="0"/>
            <a:chExt cx="731520" cy="73152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365760"/>
                  </a:moveTo>
                  <a:cubicBezTo>
                    <a:pt x="0" y="163703"/>
                    <a:pt x="163703" y="0"/>
                    <a:pt x="365760" y="0"/>
                  </a:cubicBezTo>
                  <a:cubicBezTo>
                    <a:pt x="567817" y="0"/>
                    <a:pt x="731520" y="163703"/>
                    <a:pt x="731520" y="365760"/>
                  </a:cubicBezTo>
                  <a:cubicBezTo>
                    <a:pt x="731520" y="567817"/>
                    <a:pt x="567817" y="731520"/>
                    <a:pt x="365760" y="731520"/>
                  </a:cubicBezTo>
                  <a:cubicBezTo>
                    <a:pt x="163703" y="731520"/>
                    <a:pt x="0" y="567817"/>
                    <a:pt x="0" y="365760"/>
                  </a:cubicBezTo>
                  <a:close/>
                </a:path>
              </a:pathLst>
            </a:custGeom>
            <a:solidFill>
              <a:srgbClr val="5FB8B0"/>
            </a:solidFill>
          </p:spPr>
        </p:sp>
      </p:grpSp>
      <p:grpSp>
        <p:nvGrpSpPr>
          <p:cNvPr name="Group 43" id="43"/>
          <p:cNvGrpSpPr/>
          <p:nvPr/>
        </p:nvGrpSpPr>
        <p:grpSpPr>
          <a:xfrm rot="0">
            <a:off x="9464040" y="5829300"/>
            <a:ext cx="548640" cy="548640"/>
            <a:chOff x="0" y="0"/>
            <a:chExt cx="731520" cy="73152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47625"/>
              <a:ext cx="73152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0B2E3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10218420" y="5747004"/>
            <a:ext cx="7063740" cy="754380"/>
            <a:chOff x="0" y="0"/>
            <a:chExt cx="9418320" cy="100584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9418320" cy="1005840"/>
            </a:xfrm>
            <a:custGeom>
              <a:avLst/>
              <a:gdLst/>
              <a:ahLst/>
              <a:cxnLst/>
              <a:rect r="r" b="b" t="t" l="l"/>
              <a:pathLst>
                <a:path h="1005840" w="9418320">
                  <a:moveTo>
                    <a:pt x="0" y="0"/>
                  </a:moveTo>
                  <a:lnTo>
                    <a:pt x="9418320" y="0"/>
                  </a:lnTo>
                  <a:lnTo>
                    <a:pt x="941832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2450" r="0" b="-132450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47625"/>
              <a:ext cx="9418320" cy="10534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Apply ≥ 2 HPC techniques (Multiprocessing &amp; Polars) vs a Pandas baseline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9464040" y="6995160"/>
            <a:ext cx="548640" cy="548640"/>
            <a:chOff x="0" y="0"/>
            <a:chExt cx="731520" cy="73152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365760"/>
                  </a:moveTo>
                  <a:cubicBezTo>
                    <a:pt x="0" y="163703"/>
                    <a:pt x="163703" y="0"/>
                    <a:pt x="365760" y="0"/>
                  </a:cubicBezTo>
                  <a:cubicBezTo>
                    <a:pt x="567817" y="0"/>
                    <a:pt x="731520" y="163703"/>
                    <a:pt x="731520" y="365760"/>
                  </a:cubicBezTo>
                  <a:cubicBezTo>
                    <a:pt x="731520" y="567817"/>
                    <a:pt x="567817" y="731520"/>
                    <a:pt x="365760" y="731520"/>
                  </a:cubicBezTo>
                  <a:cubicBezTo>
                    <a:pt x="163703" y="731520"/>
                    <a:pt x="0" y="567817"/>
                    <a:pt x="0" y="365760"/>
                  </a:cubicBezTo>
                  <a:close/>
                </a:path>
              </a:pathLst>
            </a:custGeom>
            <a:solidFill>
              <a:srgbClr val="5FB8B0"/>
            </a:solidFill>
          </p:spPr>
        </p:sp>
      </p:grpSp>
      <p:grpSp>
        <p:nvGrpSpPr>
          <p:cNvPr name="Group 51" id="51"/>
          <p:cNvGrpSpPr/>
          <p:nvPr/>
        </p:nvGrpSpPr>
        <p:grpSpPr>
          <a:xfrm rot="0">
            <a:off x="9464040" y="6995160"/>
            <a:ext cx="548640" cy="548640"/>
            <a:chOff x="0" y="0"/>
            <a:chExt cx="731520" cy="73152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-47625"/>
              <a:ext cx="73152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0B2E3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4</a:t>
              </a: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10218420" y="6912864"/>
            <a:ext cx="7063740" cy="754380"/>
            <a:chOff x="0" y="0"/>
            <a:chExt cx="9418320" cy="100584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9418320" cy="1005840"/>
            </a:xfrm>
            <a:custGeom>
              <a:avLst/>
              <a:gdLst/>
              <a:ahLst/>
              <a:cxnLst/>
              <a:rect r="r" b="b" t="t" l="l"/>
              <a:pathLst>
                <a:path h="1005840" w="9418320">
                  <a:moveTo>
                    <a:pt x="0" y="0"/>
                  </a:moveTo>
                  <a:lnTo>
                    <a:pt x="9418320" y="0"/>
                  </a:lnTo>
                  <a:lnTo>
                    <a:pt x="941832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2450" r="0" b="-132450"/>
              </a:stretch>
            </a:blipFill>
          </p:spPr>
        </p:sp>
        <p:sp>
          <p:nvSpPr>
            <p:cNvPr name="TextBox 56" id="56"/>
            <p:cNvSpPr txBox="true"/>
            <p:nvPr/>
          </p:nvSpPr>
          <p:spPr>
            <a:xfrm>
              <a:off x="0" y="-47625"/>
              <a:ext cx="9418320" cy="10534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Evaluate using time, memory, CPU, and throughput</a:t>
              </a:r>
            </a:p>
          </p:txBody>
        </p:sp>
      </p:grpSp>
      <p:grpSp>
        <p:nvGrpSpPr>
          <p:cNvPr name="Group 57" id="57"/>
          <p:cNvGrpSpPr/>
          <p:nvPr/>
        </p:nvGrpSpPr>
        <p:grpSpPr>
          <a:xfrm rot="0">
            <a:off x="9464040" y="8161020"/>
            <a:ext cx="548640" cy="548640"/>
            <a:chOff x="0" y="0"/>
            <a:chExt cx="731520" cy="731520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365760"/>
                  </a:moveTo>
                  <a:cubicBezTo>
                    <a:pt x="0" y="163703"/>
                    <a:pt x="163703" y="0"/>
                    <a:pt x="365760" y="0"/>
                  </a:cubicBezTo>
                  <a:cubicBezTo>
                    <a:pt x="567817" y="0"/>
                    <a:pt x="731520" y="163703"/>
                    <a:pt x="731520" y="365760"/>
                  </a:cubicBezTo>
                  <a:cubicBezTo>
                    <a:pt x="731520" y="567817"/>
                    <a:pt x="567817" y="731520"/>
                    <a:pt x="365760" y="731520"/>
                  </a:cubicBezTo>
                  <a:cubicBezTo>
                    <a:pt x="163703" y="731520"/>
                    <a:pt x="0" y="567817"/>
                    <a:pt x="0" y="365760"/>
                  </a:cubicBezTo>
                  <a:close/>
                </a:path>
              </a:pathLst>
            </a:custGeom>
            <a:solidFill>
              <a:srgbClr val="5FB8B0"/>
            </a:solidFill>
          </p:spPr>
        </p:sp>
      </p:grpSp>
      <p:grpSp>
        <p:nvGrpSpPr>
          <p:cNvPr name="Group 59" id="59"/>
          <p:cNvGrpSpPr/>
          <p:nvPr/>
        </p:nvGrpSpPr>
        <p:grpSpPr>
          <a:xfrm rot="0">
            <a:off x="9464040" y="8161020"/>
            <a:ext cx="548640" cy="548640"/>
            <a:chOff x="0" y="0"/>
            <a:chExt cx="731520" cy="73152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47625"/>
              <a:ext cx="73152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0B2E3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5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10218420" y="8078724"/>
            <a:ext cx="7063740" cy="754380"/>
            <a:chOff x="0" y="0"/>
            <a:chExt cx="9418320" cy="1005840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9418320" cy="1005840"/>
            </a:xfrm>
            <a:custGeom>
              <a:avLst/>
              <a:gdLst/>
              <a:ahLst/>
              <a:cxnLst/>
              <a:rect r="r" b="b" t="t" l="l"/>
              <a:pathLst>
                <a:path h="1005840" w="9418320">
                  <a:moveTo>
                    <a:pt x="0" y="0"/>
                  </a:moveTo>
                  <a:lnTo>
                    <a:pt x="9418320" y="0"/>
                  </a:lnTo>
                  <a:lnTo>
                    <a:pt x="941832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2450" r="0" b="-132450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47625"/>
              <a:ext cx="9418320" cy="10534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Present findings via tables, charts &amp; clear interpretation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685800" y="9710928"/>
            <a:ext cx="10972800" cy="411480"/>
            <a:chOff x="0" y="0"/>
            <a:chExt cx="14630400" cy="548640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14630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9601" r="0" b="-469601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-28575"/>
              <a:ext cx="146304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5C727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Sparkling Sparkmind  |  SECP3133-02 High Performance Data Processing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17048988" y="9710928"/>
            <a:ext cx="685800" cy="411480"/>
            <a:chOff x="0" y="0"/>
            <a:chExt cx="914400" cy="548640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70" id="70"/>
            <p:cNvSpPr txBox="true"/>
            <p:nvPr/>
          </p:nvSpPr>
          <p:spPr>
            <a:xfrm>
              <a:off x="0" y="-28575"/>
              <a:ext cx="9144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5C727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2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617220"/>
            <a:ext cx="16459200" cy="1097280"/>
            <a:chOff x="0" y="0"/>
            <a:chExt cx="21945600" cy="14630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9050"/>
              <a:ext cx="21945600" cy="14820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13262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Target Website &amp; Data Fields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22960" y="1577340"/>
            <a:ext cx="7680960" cy="7612380"/>
            <a:chOff x="0" y="0"/>
            <a:chExt cx="10241280" cy="1014984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0241280" cy="10149840"/>
            </a:xfrm>
            <a:custGeom>
              <a:avLst/>
              <a:gdLst/>
              <a:ahLst/>
              <a:cxnLst/>
              <a:rect r="r" b="b" t="t" l="l"/>
              <a:pathLst>
                <a:path h="10149840" w="1024128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10094976" y="0"/>
                  </a:lnTo>
                  <a:cubicBezTo>
                    <a:pt x="10175748" y="0"/>
                    <a:pt x="10241280" y="65532"/>
                    <a:pt x="10241280" y="146304"/>
                  </a:cubicBezTo>
                  <a:lnTo>
                    <a:pt x="10241280" y="10003536"/>
                  </a:lnTo>
                  <a:cubicBezTo>
                    <a:pt x="10241280" y="10084308"/>
                    <a:pt x="10175748" y="10149840"/>
                    <a:pt x="10094976" y="10149840"/>
                  </a:cubicBezTo>
                  <a:lnTo>
                    <a:pt x="146304" y="10149840"/>
                  </a:lnTo>
                  <a:cubicBezTo>
                    <a:pt x="65532" y="10149840"/>
                    <a:pt x="0" y="10084308"/>
                    <a:pt x="0" y="10003536"/>
                  </a:cubicBezTo>
                  <a:close/>
                </a:path>
              </a:pathLst>
            </a:custGeom>
            <a:solidFill>
              <a:srgbClr val="0F7A82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1303020" y="1988820"/>
            <a:ext cx="754380" cy="754380"/>
            <a:chOff x="0" y="0"/>
            <a:chExt cx="1005840" cy="100584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00584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005840">
                  <a:moveTo>
                    <a:pt x="0" y="502920"/>
                  </a:moveTo>
                  <a:cubicBezTo>
                    <a:pt x="0" y="225171"/>
                    <a:pt x="225171" y="0"/>
                    <a:pt x="502920" y="0"/>
                  </a:cubicBezTo>
                  <a:cubicBezTo>
                    <a:pt x="780669" y="0"/>
                    <a:pt x="1005840" y="225171"/>
                    <a:pt x="1005840" y="502920"/>
                  </a:cubicBezTo>
                  <a:cubicBezTo>
                    <a:pt x="1005840" y="780669"/>
                    <a:pt x="780669" y="1005840"/>
                    <a:pt x="502920" y="1005840"/>
                  </a:cubicBezTo>
                  <a:cubicBezTo>
                    <a:pt x="225171" y="1005840"/>
                    <a:pt x="0" y="780669"/>
                    <a:pt x="0" y="50292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1393546" y="2079346"/>
            <a:ext cx="573329" cy="573329"/>
            <a:chOff x="0" y="0"/>
            <a:chExt cx="764438" cy="764438"/>
          </a:xfrm>
        </p:grpSpPr>
        <p:sp>
          <p:nvSpPr>
            <p:cNvPr name="Freeform 10" id="10" descr="preencoded.png"/>
            <p:cNvSpPr/>
            <p:nvPr/>
          </p:nvSpPr>
          <p:spPr>
            <a:xfrm flipH="false" flipV="false" rot="0">
              <a:off x="0" y="0"/>
              <a:ext cx="764413" cy="764413"/>
            </a:xfrm>
            <a:custGeom>
              <a:avLst/>
              <a:gdLst/>
              <a:ahLst/>
              <a:cxnLst/>
              <a:rect r="r" b="b" t="t" l="l"/>
              <a:pathLst>
                <a:path h="764413" w="764413">
                  <a:moveTo>
                    <a:pt x="0" y="0"/>
                  </a:moveTo>
                  <a:lnTo>
                    <a:pt x="764413" y="0"/>
                  </a:lnTo>
                  <a:lnTo>
                    <a:pt x="764413" y="764413"/>
                  </a:lnTo>
                  <a:lnTo>
                    <a:pt x="0" y="76441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3" b="-3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2263140" y="1988820"/>
            <a:ext cx="5486400" cy="754380"/>
            <a:chOff x="0" y="0"/>
            <a:chExt cx="7315200" cy="100584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7315200" cy="1005840"/>
            </a:xfrm>
            <a:custGeom>
              <a:avLst/>
              <a:gdLst/>
              <a:ahLst/>
              <a:cxnLst/>
              <a:rect r="r" b="b" t="t" l="l"/>
              <a:pathLst>
                <a:path h="100584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1709" r="0" b="-91709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9525"/>
              <a:ext cx="7315200" cy="10153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19"/>
                </a:lnSpc>
              </a:pPr>
              <a:r>
                <a:rPr lang="en-US" sz="285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MyFutureJobs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303020" y="2948940"/>
            <a:ext cx="6720840" cy="548640"/>
            <a:chOff x="0" y="0"/>
            <a:chExt cx="8961120" cy="73152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961120" cy="731520"/>
            </a:xfrm>
            <a:custGeom>
              <a:avLst/>
              <a:gdLst/>
              <a:ahLst/>
              <a:cxnLst/>
              <a:rect r="r" b="b" t="t" l="l"/>
              <a:pathLst>
                <a:path h="731520" w="8961120">
                  <a:moveTo>
                    <a:pt x="0" y="0"/>
                  </a:moveTo>
                  <a:lnTo>
                    <a:pt x="8961120" y="0"/>
                  </a:lnTo>
                  <a:lnTo>
                    <a:pt x="89611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8691" r="0" b="-188691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47625"/>
              <a:ext cx="896112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i="true">
                  <a:solidFill>
                    <a:srgbClr val="EAF4F4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myfuturejobs.gov.my — Government job portal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303020" y="3771900"/>
            <a:ext cx="6789420" cy="5074920"/>
            <a:chOff x="0" y="0"/>
            <a:chExt cx="9052560" cy="676656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9052560" cy="6766560"/>
            </a:xfrm>
            <a:custGeom>
              <a:avLst/>
              <a:gdLst/>
              <a:ahLst/>
              <a:cxnLst/>
              <a:rect r="r" b="b" t="t" l="l"/>
              <a:pathLst>
                <a:path h="6766560" w="9052560">
                  <a:moveTo>
                    <a:pt x="0" y="0"/>
                  </a:moveTo>
                  <a:lnTo>
                    <a:pt x="9052560" y="0"/>
                  </a:lnTo>
                  <a:lnTo>
                    <a:pt x="9052560" y="6766560"/>
                  </a:lnTo>
                  <a:lnTo>
                    <a:pt x="0" y="67665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5903" t="0" r="-45903" b="0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9052560" cy="68046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366474" indent="-183237" lvl="1">
                <a:lnSpc>
                  <a:spcPts val="2430"/>
                </a:lnSpc>
                <a:buFont typeface="Arial"/>
                <a:buChar char="•"/>
              </a:pPr>
              <a:r>
                <a:rPr lang="en-US" sz="2025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Lists vacancies across administrative, technology, manufacturing, healthcare, education, finance &amp; more</a:t>
              </a:r>
            </a:p>
            <a:p>
              <a:pPr algn="l" marL="366474" indent="-183237" lvl="1">
                <a:lnSpc>
                  <a:spcPts val="2430"/>
                </a:lnSpc>
                <a:buFont typeface="Arial"/>
                <a:buChar char="•"/>
              </a:pPr>
              <a:r>
                <a:rPr lang="en-US" sz="2025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Covers multiple Malaysian states → varied, representative dataset</a:t>
              </a:r>
            </a:p>
            <a:p>
              <a:pPr algn="l" marL="366474" indent="-183237" lvl="1">
                <a:lnSpc>
                  <a:spcPts val="2430"/>
                </a:lnSpc>
                <a:buFont typeface="Arial"/>
                <a:buChar char="•"/>
              </a:pPr>
              <a:r>
                <a:rPr lang="en-US" sz="2025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Collected: 120,000+ raw records</a:t>
              </a:r>
            </a:p>
            <a:p>
              <a:pPr algn="l" marL="366474" indent="-183237" lvl="1">
                <a:lnSpc>
                  <a:spcPts val="2430"/>
                </a:lnSpc>
                <a:buFont typeface="Arial"/>
                <a:buChar char="•"/>
              </a:pPr>
              <a:r>
                <a:rPr lang="en-US" sz="2025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After cleaning: 112,499 records → cleaned_data.csv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8915400" y="1577340"/>
            <a:ext cx="8229600" cy="617220"/>
            <a:chOff x="0" y="0"/>
            <a:chExt cx="10972800" cy="82296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0972800" cy="822960"/>
            </a:xfrm>
            <a:custGeom>
              <a:avLst/>
              <a:gdLst/>
              <a:ahLst/>
              <a:cxnLst/>
              <a:rect r="r" b="b" t="t" l="l"/>
              <a:pathLst>
                <a:path h="82296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9800" r="0" b="-209800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9525"/>
              <a:ext cx="10972800" cy="8324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13262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Fields Extracted per Listing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8915400" y="2400300"/>
            <a:ext cx="2743200" cy="1577340"/>
            <a:chOff x="0" y="0"/>
            <a:chExt cx="3657600" cy="210312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3657600" cy="2103120"/>
            </a:xfrm>
            <a:custGeom>
              <a:avLst/>
              <a:gdLst/>
              <a:ahLst/>
              <a:cxnLst/>
              <a:rect r="r" b="b" t="t" l="l"/>
              <a:pathLst>
                <a:path h="2103120" w="3657600">
                  <a:moveTo>
                    <a:pt x="0" y="128016"/>
                  </a:moveTo>
                  <a:cubicBezTo>
                    <a:pt x="0" y="57277"/>
                    <a:pt x="57277" y="0"/>
                    <a:pt x="128016" y="0"/>
                  </a:cubicBezTo>
                  <a:lnTo>
                    <a:pt x="3529584" y="0"/>
                  </a:lnTo>
                  <a:cubicBezTo>
                    <a:pt x="3600323" y="0"/>
                    <a:pt x="3657600" y="57277"/>
                    <a:pt x="3657600" y="128016"/>
                  </a:cubicBezTo>
                  <a:lnTo>
                    <a:pt x="3657600" y="1975104"/>
                  </a:lnTo>
                  <a:cubicBezTo>
                    <a:pt x="3657600" y="2045843"/>
                    <a:pt x="3600323" y="2103120"/>
                    <a:pt x="3529584" y="2103120"/>
                  </a:cubicBezTo>
                  <a:lnTo>
                    <a:pt x="128016" y="2103120"/>
                  </a:lnTo>
                  <a:cubicBezTo>
                    <a:pt x="57277" y="2103120"/>
                    <a:pt x="0" y="2045843"/>
                    <a:pt x="0" y="1975104"/>
                  </a:cubicBezTo>
                  <a:close/>
                </a:path>
              </a:pathLst>
            </a:custGeom>
            <a:solidFill>
              <a:srgbClr val="F4F8F8"/>
            </a:solid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9052560" y="2400300"/>
            <a:ext cx="2468880" cy="1577340"/>
            <a:chOff x="0" y="0"/>
            <a:chExt cx="3291840" cy="210312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3291840" cy="2103120"/>
            </a:xfrm>
            <a:custGeom>
              <a:avLst/>
              <a:gdLst/>
              <a:ahLst/>
              <a:cxnLst/>
              <a:rect r="r" b="b" t="t" l="l"/>
              <a:pathLst>
                <a:path h="2103120" w="3291840">
                  <a:moveTo>
                    <a:pt x="0" y="0"/>
                  </a:moveTo>
                  <a:lnTo>
                    <a:pt x="3291840" y="0"/>
                  </a:lnTo>
                  <a:lnTo>
                    <a:pt x="3291840" y="2103120"/>
                  </a:lnTo>
                  <a:lnTo>
                    <a:pt x="0" y="2103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1971" t="0" r="-31971" b="0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38100"/>
              <a:ext cx="3291840" cy="21412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50"/>
                </a:lnSpc>
              </a:pPr>
              <a:r>
                <a:rPr lang="en-US" sz="1875" b="true">
                  <a:solidFill>
                    <a:srgbClr val="1326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Job Title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1864340" y="2400300"/>
            <a:ext cx="2743200" cy="1577340"/>
            <a:chOff x="0" y="0"/>
            <a:chExt cx="3657600" cy="210312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3657600" cy="2103120"/>
            </a:xfrm>
            <a:custGeom>
              <a:avLst/>
              <a:gdLst/>
              <a:ahLst/>
              <a:cxnLst/>
              <a:rect r="r" b="b" t="t" l="l"/>
              <a:pathLst>
                <a:path h="2103120" w="3657600">
                  <a:moveTo>
                    <a:pt x="0" y="128016"/>
                  </a:moveTo>
                  <a:cubicBezTo>
                    <a:pt x="0" y="57277"/>
                    <a:pt x="57277" y="0"/>
                    <a:pt x="128016" y="0"/>
                  </a:cubicBezTo>
                  <a:lnTo>
                    <a:pt x="3529584" y="0"/>
                  </a:lnTo>
                  <a:cubicBezTo>
                    <a:pt x="3600323" y="0"/>
                    <a:pt x="3657600" y="57277"/>
                    <a:pt x="3657600" y="128016"/>
                  </a:cubicBezTo>
                  <a:lnTo>
                    <a:pt x="3657600" y="1975104"/>
                  </a:lnTo>
                  <a:cubicBezTo>
                    <a:pt x="3657600" y="2045843"/>
                    <a:pt x="3600323" y="2103120"/>
                    <a:pt x="3529584" y="2103120"/>
                  </a:cubicBezTo>
                  <a:lnTo>
                    <a:pt x="128016" y="2103120"/>
                  </a:lnTo>
                  <a:cubicBezTo>
                    <a:pt x="57277" y="2103120"/>
                    <a:pt x="0" y="2045843"/>
                    <a:pt x="0" y="1975104"/>
                  </a:cubicBezTo>
                  <a:close/>
                </a:path>
              </a:pathLst>
            </a:custGeom>
            <a:solidFill>
              <a:srgbClr val="F4F8F8"/>
            </a:solid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12001500" y="2400300"/>
            <a:ext cx="2468880" cy="1577340"/>
            <a:chOff x="0" y="0"/>
            <a:chExt cx="3291840" cy="210312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3291840" cy="2103120"/>
            </a:xfrm>
            <a:custGeom>
              <a:avLst/>
              <a:gdLst/>
              <a:ahLst/>
              <a:cxnLst/>
              <a:rect r="r" b="b" t="t" l="l"/>
              <a:pathLst>
                <a:path h="2103120" w="3291840">
                  <a:moveTo>
                    <a:pt x="0" y="0"/>
                  </a:moveTo>
                  <a:lnTo>
                    <a:pt x="3291840" y="0"/>
                  </a:lnTo>
                  <a:lnTo>
                    <a:pt x="3291840" y="2103120"/>
                  </a:lnTo>
                  <a:lnTo>
                    <a:pt x="0" y="2103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1971" t="0" r="-31971" b="0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38100"/>
              <a:ext cx="3291840" cy="21412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50"/>
                </a:lnSpc>
              </a:pPr>
              <a:r>
                <a:rPr lang="en-US" sz="1875" b="true">
                  <a:solidFill>
                    <a:srgbClr val="1326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Occupation Category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14813280" y="2400300"/>
            <a:ext cx="2743200" cy="1577340"/>
            <a:chOff x="0" y="0"/>
            <a:chExt cx="3657600" cy="210312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3657600" cy="2103120"/>
            </a:xfrm>
            <a:custGeom>
              <a:avLst/>
              <a:gdLst/>
              <a:ahLst/>
              <a:cxnLst/>
              <a:rect r="r" b="b" t="t" l="l"/>
              <a:pathLst>
                <a:path h="2103120" w="3657600">
                  <a:moveTo>
                    <a:pt x="0" y="128016"/>
                  </a:moveTo>
                  <a:cubicBezTo>
                    <a:pt x="0" y="57277"/>
                    <a:pt x="57277" y="0"/>
                    <a:pt x="128016" y="0"/>
                  </a:cubicBezTo>
                  <a:lnTo>
                    <a:pt x="3529584" y="0"/>
                  </a:lnTo>
                  <a:cubicBezTo>
                    <a:pt x="3600323" y="0"/>
                    <a:pt x="3657600" y="57277"/>
                    <a:pt x="3657600" y="128016"/>
                  </a:cubicBezTo>
                  <a:lnTo>
                    <a:pt x="3657600" y="1975104"/>
                  </a:lnTo>
                  <a:cubicBezTo>
                    <a:pt x="3657600" y="2045843"/>
                    <a:pt x="3600323" y="2103120"/>
                    <a:pt x="3529584" y="2103120"/>
                  </a:cubicBezTo>
                  <a:lnTo>
                    <a:pt x="128016" y="2103120"/>
                  </a:lnTo>
                  <a:cubicBezTo>
                    <a:pt x="57277" y="2103120"/>
                    <a:pt x="0" y="2045843"/>
                    <a:pt x="0" y="1975104"/>
                  </a:cubicBezTo>
                  <a:close/>
                </a:path>
              </a:pathLst>
            </a:custGeom>
            <a:solidFill>
              <a:srgbClr val="F4F8F8"/>
            </a:solid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14950440" y="2400300"/>
            <a:ext cx="2468880" cy="1577340"/>
            <a:chOff x="0" y="0"/>
            <a:chExt cx="3291840" cy="210312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3291840" cy="2103120"/>
            </a:xfrm>
            <a:custGeom>
              <a:avLst/>
              <a:gdLst/>
              <a:ahLst/>
              <a:cxnLst/>
              <a:rect r="r" b="b" t="t" l="l"/>
              <a:pathLst>
                <a:path h="2103120" w="3291840">
                  <a:moveTo>
                    <a:pt x="0" y="0"/>
                  </a:moveTo>
                  <a:lnTo>
                    <a:pt x="3291840" y="0"/>
                  </a:lnTo>
                  <a:lnTo>
                    <a:pt x="3291840" y="2103120"/>
                  </a:lnTo>
                  <a:lnTo>
                    <a:pt x="0" y="2103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1971" t="0" r="-31971" b="0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38100"/>
              <a:ext cx="3291840" cy="21412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50"/>
                </a:lnSpc>
              </a:pPr>
              <a:r>
                <a:rPr lang="en-US" sz="1875" b="true">
                  <a:solidFill>
                    <a:srgbClr val="1326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Salary Range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8915400" y="4183380"/>
            <a:ext cx="2743200" cy="1577340"/>
            <a:chOff x="0" y="0"/>
            <a:chExt cx="3657600" cy="210312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3657600" cy="2103120"/>
            </a:xfrm>
            <a:custGeom>
              <a:avLst/>
              <a:gdLst/>
              <a:ahLst/>
              <a:cxnLst/>
              <a:rect r="r" b="b" t="t" l="l"/>
              <a:pathLst>
                <a:path h="2103120" w="3657600">
                  <a:moveTo>
                    <a:pt x="0" y="128016"/>
                  </a:moveTo>
                  <a:cubicBezTo>
                    <a:pt x="0" y="57277"/>
                    <a:pt x="57277" y="0"/>
                    <a:pt x="128016" y="0"/>
                  </a:cubicBezTo>
                  <a:lnTo>
                    <a:pt x="3529584" y="0"/>
                  </a:lnTo>
                  <a:cubicBezTo>
                    <a:pt x="3600323" y="0"/>
                    <a:pt x="3657600" y="57277"/>
                    <a:pt x="3657600" y="128016"/>
                  </a:cubicBezTo>
                  <a:lnTo>
                    <a:pt x="3657600" y="1975104"/>
                  </a:lnTo>
                  <a:cubicBezTo>
                    <a:pt x="3657600" y="2045843"/>
                    <a:pt x="3600323" y="2103120"/>
                    <a:pt x="3529584" y="2103120"/>
                  </a:cubicBezTo>
                  <a:lnTo>
                    <a:pt x="128016" y="2103120"/>
                  </a:lnTo>
                  <a:cubicBezTo>
                    <a:pt x="57277" y="2103120"/>
                    <a:pt x="0" y="2045843"/>
                    <a:pt x="0" y="1975104"/>
                  </a:cubicBezTo>
                  <a:close/>
                </a:path>
              </a:pathLst>
            </a:custGeom>
            <a:solidFill>
              <a:srgbClr val="F4F8F8"/>
            </a:solid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9052560" y="4183380"/>
            <a:ext cx="2468880" cy="1577340"/>
            <a:chOff x="0" y="0"/>
            <a:chExt cx="3291840" cy="210312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3291840" cy="2103120"/>
            </a:xfrm>
            <a:custGeom>
              <a:avLst/>
              <a:gdLst/>
              <a:ahLst/>
              <a:cxnLst/>
              <a:rect r="r" b="b" t="t" l="l"/>
              <a:pathLst>
                <a:path h="2103120" w="3291840">
                  <a:moveTo>
                    <a:pt x="0" y="0"/>
                  </a:moveTo>
                  <a:lnTo>
                    <a:pt x="3291840" y="0"/>
                  </a:lnTo>
                  <a:lnTo>
                    <a:pt x="3291840" y="2103120"/>
                  </a:lnTo>
                  <a:lnTo>
                    <a:pt x="0" y="2103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1971" t="0" r="-31971" b="0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38100"/>
              <a:ext cx="3291840" cy="21412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50"/>
                </a:lnSpc>
              </a:pPr>
              <a:r>
                <a:rPr lang="en-US" sz="1875" b="true">
                  <a:solidFill>
                    <a:srgbClr val="1326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Contract Type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11864340" y="4183380"/>
            <a:ext cx="2743200" cy="1577340"/>
            <a:chOff x="0" y="0"/>
            <a:chExt cx="3657600" cy="210312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3657600" cy="2103120"/>
            </a:xfrm>
            <a:custGeom>
              <a:avLst/>
              <a:gdLst/>
              <a:ahLst/>
              <a:cxnLst/>
              <a:rect r="r" b="b" t="t" l="l"/>
              <a:pathLst>
                <a:path h="2103120" w="3657600">
                  <a:moveTo>
                    <a:pt x="0" y="128016"/>
                  </a:moveTo>
                  <a:cubicBezTo>
                    <a:pt x="0" y="57277"/>
                    <a:pt x="57277" y="0"/>
                    <a:pt x="128016" y="0"/>
                  </a:cubicBezTo>
                  <a:lnTo>
                    <a:pt x="3529584" y="0"/>
                  </a:lnTo>
                  <a:cubicBezTo>
                    <a:pt x="3600323" y="0"/>
                    <a:pt x="3657600" y="57277"/>
                    <a:pt x="3657600" y="128016"/>
                  </a:cubicBezTo>
                  <a:lnTo>
                    <a:pt x="3657600" y="1975104"/>
                  </a:lnTo>
                  <a:cubicBezTo>
                    <a:pt x="3657600" y="2045843"/>
                    <a:pt x="3600323" y="2103120"/>
                    <a:pt x="3529584" y="2103120"/>
                  </a:cubicBezTo>
                  <a:lnTo>
                    <a:pt x="128016" y="2103120"/>
                  </a:lnTo>
                  <a:cubicBezTo>
                    <a:pt x="57277" y="2103120"/>
                    <a:pt x="0" y="2045843"/>
                    <a:pt x="0" y="1975104"/>
                  </a:cubicBezTo>
                  <a:close/>
                </a:path>
              </a:pathLst>
            </a:custGeom>
            <a:solidFill>
              <a:srgbClr val="F4F8F8"/>
            </a:solidFill>
          </p:spPr>
        </p:sp>
      </p:grpSp>
      <p:grpSp>
        <p:nvGrpSpPr>
          <p:cNvPr name="Group 45" id="45"/>
          <p:cNvGrpSpPr/>
          <p:nvPr/>
        </p:nvGrpSpPr>
        <p:grpSpPr>
          <a:xfrm rot="0">
            <a:off x="12001500" y="4183380"/>
            <a:ext cx="2468880" cy="1577340"/>
            <a:chOff x="0" y="0"/>
            <a:chExt cx="3291840" cy="210312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3291840" cy="2103120"/>
            </a:xfrm>
            <a:custGeom>
              <a:avLst/>
              <a:gdLst/>
              <a:ahLst/>
              <a:cxnLst/>
              <a:rect r="r" b="b" t="t" l="l"/>
              <a:pathLst>
                <a:path h="2103120" w="3291840">
                  <a:moveTo>
                    <a:pt x="0" y="0"/>
                  </a:moveTo>
                  <a:lnTo>
                    <a:pt x="3291840" y="0"/>
                  </a:lnTo>
                  <a:lnTo>
                    <a:pt x="3291840" y="2103120"/>
                  </a:lnTo>
                  <a:lnTo>
                    <a:pt x="0" y="2103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1971" t="0" r="-31971" b="0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38100"/>
              <a:ext cx="3291840" cy="21412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50"/>
                </a:lnSpc>
              </a:pPr>
              <a:r>
                <a:rPr lang="en-US" sz="1875" b="true">
                  <a:solidFill>
                    <a:srgbClr val="1326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Working Hours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14813280" y="4183380"/>
            <a:ext cx="2743200" cy="1577340"/>
            <a:chOff x="0" y="0"/>
            <a:chExt cx="3657600" cy="210312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3657600" cy="2103120"/>
            </a:xfrm>
            <a:custGeom>
              <a:avLst/>
              <a:gdLst/>
              <a:ahLst/>
              <a:cxnLst/>
              <a:rect r="r" b="b" t="t" l="l"/>
              <a:pathLst>
                <a:path h="2103120" w="3657600">
                  <a:moveTo>
                    <a:pt x="0" y="128016"/>
                  </a:moveTo>
                  <a:cubicBezTo>
                    <a:pt x="0" y="57277"/>
                    <a:pt x="57277" y="0"/>
                    <a:pt x="128016" y="0"/>
                  </a:cubicBezTo>
                  <a:lnTo>
                    <a:pt x="3529584" y="0"/>
                  </a:lnTo>
                  <a:cubicBezTo>
                    <a:pt x="3600323" y="0"/>
                    <a:pt x="3657600" y="57277"/>
                    <a:pt x="3657600" y="128016"/>
                  </a:cubicBezTo>
                  <a:lnTo>
                    <a:pt x="3657600" y="1975104"/>
                  </a:lnTo>
                  <a:cubicBezTo>
                    <a:pt x="3657600" y="2045843"/>
                    <a:pt x="3600323" y="2103120"/>
                    <a:pt x="3529584" y="2103120"/>
                  </a:cubicBezTo>
                  <a:lnTo>
                    <a:pt x="128016" y="2103120"/>
                  </a:lnTo>
                  <a:cubicBezTo>
                    <a:pt x="57277" y="2103120"/>
                    <a:pt x="0" y="2045843"/>
                    <a:pt x="0" y="1975104"/>
                  </a:cubicBezTo>
                  <a:close/>
                </a:path>
              </a:pathLst>
            </a:custGeom>
            <a:solidFill>
              <a:srgbClr val="F4F8F8"/>
            </a:solid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14950440" y="4183380"/>
            <a:ext cx="2468880" cy="1577340"/>
            <a:chOff x="0" y="0"/>
            <a:chExt cx="3291840" cy="210312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3291840" cy="2103120"/>
            </a:xfrm>
            <a:custGeom>
              <a:avLst/>
              <a:gdLst/>
              <a:ahLst/>
              <a:cxnLst/>
              <a:rect r="r" b="b" t="t" l="l"/>
              <a:pathLst>
                <a:path h="2103120" w="3291840">
                  <a:moveTo>
                    <a:pt x="0" y="0"/>
                  </a:moveTo>
                  <a:lnTo>
                    <a:pt x="3291840" y="0"/>
                  </a:lnTo>
                  <a:lnTo>
                    <a:pt x="3291840" y="2103120"/>
                  </a:lnTo>
                  <a:lnTo>
                    <a:pt x="0" y="2103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1971" t="0" r="-31971" b="0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38100"/>
              <a:ext cx="3291840" cy="21412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50"/>
                </a:lnSpc>
              </a:pPr>
              <a:r>
                <a:rPr lang="en-US" sz="1875" b="true">
                  <a:solidFill>
                    <a:srgbClr val="1326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Education Level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8915400" y="5966460"/>
            <a:ext cx="2743200" cy="1577340"/>
            <a:chOff x="0" y="0"/>
            <a:chExt cx="3657600" cy="210312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3657600" cy="2103120"/>
            </a:xfrm>
            <a:custGeom>
              <a:avLst/>
              <a:gdLst/>
              <a:ahLst/>
              <a:cxnLst/>
              <a:rect r="r" b="b" t="t" l="l"/>
              <a:pathLst>
                <a:path h="2103120" w="3657600">
                  <a:moveTo>
                    <a:pt x="0" y="128016"/>
                  </a:moveTo>
                  <a:cubicBezTo>
                    <a:pt x="0" y="57277"/>
                    <a:pt x="57277" y="0"/>
                    <a:pt x="128016" y="0"/>
                  </a:cubicBezTo>
                  <a:lnTo>
                    <a:pt x="3529584" y="0"/>
                  </a:lnTo>
                  <a:cubicBezTo>
                    <a:pt x="3600323" y="0"/>
                    <a:pt x="3657600" y="57277"/>
                    <a:pt x="3657600" y="128016"/>
                  </a:cubicBezTo>
                  <a:lnTo>
                    <a:pt x="3657600" y="1975104"/>
                  </a:lnTo>
                  <a:cubicBezTo>
                    <a:pt x="3657600" y="2045843"/>
                    <a:pt x="3600323" y="2103120"/>
                    <a:pt x="3529584" y="2103120"/>
                  </a:cubicBezTo>
                  <a:lnTo>
                    <a:pt x="128016" y="2103120"/>
                  </a:lnTo>
                  <a:cubicBezTo>
                    <a:pt x="57277" y="2103120"/>
                    <a:pt x="0" y="2045843"/>
                    <a:pt x="0" y="1975104"/>
                  </a:cubicBezTo>
                  <a:close/>
                </a:path>
              </a:pathLst>
            </a:custGeom>
            <a:solidFill>
              <a:srgbClr val="F4F8F8"/>
            </a:solidFill>
          </p:spPr>
        </p:sp>
      </p:grpSp>
      <p:grpSp>
        <p:nvGrpSpPr>
          <p:cNvPr name="Group 55" id="55"/>
          <p:cNvGrpSpPr/>
          <p:nvPr/>
        </p:nvGrpSpPr>
        <p:grpSpPr>
          <a:xfrm rot="0">
            <a:off x="9052560" y="5966460"/>
            <a:ext cx="2468880" cy="1577340"/>
            <a:chOff x="0" y="0"/>
            <a:chExt cx="3291840" cy="2103120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3291840" cy="2103120"/>
            </a:xfrm>
            <a:custGeom>
              <a:avLst/>
              <a:gdLst/>
              <a:ahLst/>
              <a:cxnLst/>
              <a:rect r="r" b="b" t="t" l="l"/>
              <a:pathLst>
                <a:path h="2103120" w="3291840">
                  <a:moveTo>
                    <a:pt x="0" y="0"/>
                  </a:moveTo>
                  <a:lnTo>
                    <a:pt x="3291840" y="0"/>
                  </a:lnTo>
                  <a:lnTo>
                    <a:pt x="3291840" y="2103120"/>
                  </a:lnTo>
                  <a:lnTo>
                    <a:pt x="0" y="2103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1971" t="0" r="-31971" b="0"/>
              </a:stretch>
            </a:blipFill>
          </p:spPr>
        </p:sp>
        <p:sp>
          <p:nvSpPr>
            <p:cNvPr name="TextBox 57" id="57"/>
            <p:cNvSpPr txBox="true"/>
            <p:nvPr/>
          </p:nvSpPr>
          <p:spPr>
            <a:xfrm>
              <a:off x="0" y="-38100"/>
              <a:ext cx="3291840" cy="21412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50"/>
                </a:lnSpc>
              </a:pPr>
              <a:r>
                <a:rPr lang="en-US" sz="1875" b="true">
                  <a:solidFill>
                    <a:srgbClr val="1326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Location</a:t>
              </a:r>
            </a:p>
          </p:txBody>
        </p:sp>
      </p:grpSp>
      <p:grpSp>
        <p:nvGrpSpPr>
          <p:cNvPr name="Group 58" id="58"/>
          <p:cNvGrpSpPr/>
          <p:nvPr/>
        </p:nvGrpSpPr>
        <p:grpSpPr>
          <a:xfrm rot="0">
            <a:off x="11864340" y="5966460"/>
            <a:ext cx="2743200" cy="1577340"/>
            <a:chOff x="0" y="0"/>
            <a:chExt cx="3657600" cy="2103120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3657600" cy="2103120"/>
            </a:xfrm>
            <a:custGeom>
              <a:avLst/>
              <a:gdLst/>
              <a:ahLst/>
              <a:cxnLst/>
              <a:rect r="r" b="b" t="t" l="l"/>
              <a:pathLst>
                <a:path h="2103120" w="3657600">
                  <a:moveTo>
                    <a:pt x="0" y="128016"/>
                  </a:moveTo>
                  <a:cubicBezTo>
                    <a:pt x="0" y="57277"/>
                    <a:pt x="57277" y="0"/>
                    <a:pt x="128016" y="0"/>
                  </a:cubicBezTo>
                  <a:lnTo>
                    <a:pt x="3529584" y="0"/>
                  </a:lnTo>
                  <a:cubicBezTo>
                    <a:pt x="3600323" y="0"/>
                    <a:pt x="3657600" y="57277"/>
                    <a:pt x="3657600" y="128016"/>
                  </a:cubicBezTo>
                  <a:lnTo>
                    <a:pt x="3657600" y="1975104"/>
                  </a:lnTo>
                  <a:cubicBezTo>
                    <a:pt x="3657600" y="2045843"/>
                    <a:pt x="3600323" y="2103120"/>
                    <a:pt x="3529584" y="2103120"/>
                  </a:cubicBezTo>
                  <a:lnTo>
                    <a:pt x="128016" y="2103120"/>
                  </a:lnTo>
                  <a:cubicBezTo>
                    <a:pt x="57277" y="2103120"/>
                    <a:pt x="0" y="2045843"/>
                    <a:pt x="0" y="1975104"/>
                  </a:cubicBezTo>
                  <a:close/>
                </a:path>
              </a:pathLst>
            </a:custGeom>
            <a:solidFill>
              <a:srgbClr val="F4F8F8"/>
            </a:solidFill>
          </p:spPr>
        </p:sp>
      </p:grpSp>
      <p:grpSp>
        <p:nvGrpSpPr>
          <p:cNvPr name="Group 60" id="60"/>
          <p:cNvGrpSpPr/>
          <p:nvPr/>
        </p:nvGrpSpPr>
        <p:grpSpPr>
          <a:xfrm rot="0">
            <a:off x="12001500" y="5966460"/>
            <a:ext cx="2468880" cy="1577340"/>
            <a:chOff x="0" y="0"/>
            <a:chExt cx="3291840" cy="2103120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3291840" cy="2103120"/>
            </a:xfrm>
            <a:custGeom>
              <a:avLst/>
              <a:gdLst/>
              <a:ahLst/>
              <a:cxnLst/>
              <a:rect r="r" b="b" t="t" l="l"/>
              <a:pathLst>
                <a:path h="2103120" w="3291840">
                  <a:moveTo>
                    <a:pt x="0" y="0"/>
                  </a:moveTo>
                  <a:lnTo>
                    <a:pt x="3291840" y="0"/>
                  </a:lnTo>
                  <a:lnTo>
                    <a:pt x="3291840" y="2103120"/>
                  </a:lnTo>
                  <a:lnTo>
                    <a:pt x="0" y="2103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1971" t="0" r="-31971" b="0"/>
              </a:stretch>
            </a:blipFill>
          </p:spPr>
        </p:sp>
        <p:sp>
          <p:nvSpPr>
            <p:cNvPr name="TextBox 62" id="62"/>
            <p:cNvSpPr txBox="true"/>
            <p:nvPr/>
          </p:nvSpPr>
          <p:spPr>
            <a:xfrm>
              <a:off x="0" y="-38100"/>
              <a:ext cx="3291840" cy="21412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50"/>
                </a:lnSpc>
              </a:pPr>
              <a:r>
                <a:rPr lang="en-US" sz="1875" b="true">
                  <a:solidFill>
                    <a:srgbClr val="1326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Vacancy ID</a:t>
              </a:r>
            </a:p>
          </p:txBody>
        </p:sp>
      </p:grpSp>
      <p:grpSp>
        <p:nvGrpSpPr>
          <p:cNvPr name="Group 63" id="63"/>
          <p:cNvGrpSpPr/>
          <p:nvPr/>
        </p:nvGrpSpPr>
        <p:grpSpPr>
          <a:xfrm rot="0">
            <a:off x="14813280" y="5966460"/>
            <a:ext cx="2743200" cy="1577340"/>
            <a:chOff x="0" y="0"/>
            <a:chExt cx="3657600" cy="2103120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3657600" cy="2103120"/>
            </a:xfrm>
            <a:custGeom>
              <a:avLst/>
              <a:gdLst/>
              <a:ahLst/>
              <a:cxnLst/>
              <a:rect r="r" b="b" t="t" l="l"/>
              <a:pathLst>
                <a:path h="2103120" w="3657600">
                  <a:moveTo>
                    <a:pt x="0" y="128016"/>
                  </a:moveTo>
                  <a:cubicBezTo>
                    <a:pt x="0" y="57277"/>
                    <a:pt x="57277" y="0"/>
                    <a:pt x="128016" y="0"/>
                  </a:cubicBezTo>
                  <a:lnTo>
                    <a:pt x="3529584" y="0"/>
                  </a:lnTo>
                  <a:cubicBezTo>
                    <a:pt x="3600323" y="0"/>
                    <a:pt x="3657600" y="57277"/>
                    <a:pt x="3657600" y="128016"/>
                  </a:cubicBezTo>
                  <a:lnTo>
                    <a:pt x="3657600" y="1975104"/>
                  </a:lnTo>
                  <a:cubicBezTo>
                    <a:pt x="3657600" y="2045843"/>
                    <a:pt x="3600323" y="2103120"/>
                    <a:pt x="3529584" y="2103120"/>
                  </a:cubicBezTo>
                  <a:lnTo>
                    <a:pt x="128016" y="2103120"/>
                  </a:lnTo>
                  <a:cubicBezTo>
                    <a:pt x="57277" y="2103120"/>
                    <a:pt x="0" y="2045843"/>
                    <a:pt x="0" y="1975104"/>
                  </a:cubicBezTo>
                  <a:close/>
                </a:path>
              </a:pathLst>
            </a:custGeom>
            <a:solidFill>
              <a:srgbClr val="F4F8F8"/>
            </a:solidFill>
          </p:spPr>
        </p:sp>
      </p:grpSp>
      <p:grpSp>
        <p:nvGrpSpPr>
          <p:cNvPr name="Group 65" id="65"/>
          <p:cNvGrpSpPr/>
          <p:nvPr/>
        </p:nvGrpSpPr>
        <p:grpSpPr>
          <a:xfrm rot="0">
            <a:off x="14950440" y="5966460"/>
            <a:ext cx="2468880" cy="1577340"/>
            <a:chOff x="0" y="0"/>
            <a:chExt cx="3291840" cy="2103120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3291840" cy="2103120"/>
            </a:xfrm>
            <a:custGeom>
              <a:avLst/>
              <a:gdLst/>
              <a:ahLst/>
              <a:cxnLst/>
              <a:rect r="r" b="b" t="t" l="l"/>
              <a:pathLst>
                <a:path h="2103120" w="3291840">
                  <a:moveTo>
                    <a:pt x="0" y="0"/>
                  </a:moveTo>
                  <a:lnTo>
                    <a:pt x="3291840" y="0"/>
                  </a:lnTo>
                  <a:lnTo>
                    <a:pt x="3291840" y="2103120"/>
                  </a:lnTo>
                  <a:lnTo>
                    <a:pt x="0" y="2103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1971" t="0" r="-31971" b="0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-38100"/>
              <a:ext cx="3291840" cy="21412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50"/>
                </a:lnSpc>
              </a:pPr>
              <a:r>
                <a:rPr lang="en-US" sz="1875" b="true">
                  <a:solidFill>
                    <a:srgbClr val="1326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Job URL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685800" y="9710928"/>
            <a:ext cx="10972800" cy="411480"/>
            <a:chOff x="0" y="0"/>
            <a:chExt cx="14630400" cy="548640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14630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9601" r="0" b="-469601"/>
              </a:stretch>
            </a:blipFill>
          </p:spPr>
        </p:sp>
        <p:sp>
          <p:nvSpPr>
            <p:cNvPr name="TextBox 70" id="70"/>
            <p:cNvSpPr txBox="true"/>
            <p:nvPr/>
          </p:nvSpPr>
          <p:spPr>
            <a:xfrm>
              <a:off x="0" y="-28575"/>
              <a:ext cx="146304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5C727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Sparkling Sparkmind  |  SECP3133-02 High Performance Data Processing</a:t>
              </a:r>
            </a:p>
          </p:txBody>
        </p:sp>
      </p:grpSp>
      <p:grpSp>
        <p:nvGrpSpPr>
          <p:cNvPr name="Group 71" id="71"/>
          <p:cNvGrpSpPr/>
          <p:nvPr/>
        </p:nvGrpSpPr>
        <p:grpSpPr>
          <a:xfrm rot="0">
            <a:off x="17048988" y="9710928"/>
            <a:ext cx="685800" cy="411480"/>
            <a:chOff x="0" y="0"/>
            <a:chExt cx="914400" cy="548640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73" id="73"/>
            <p:cNvSpPr txBox="true"/>
            <p:nvPr/>
          </p:nvSpPr>
          <p:spPr>
            <a:xfrm>
              <a:off x="0" y="-28575"/>
              <a:ext cx="9144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5C727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3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617220"/>
            <a:ext cx="16459200" cy="1097280"/>
            <a:chOff x="0" y="0"/>
            <a:chExt cx="21945600" cy="14630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9050"/>
              <a:ext cx="21945600" cy="14820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13262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System Design &amp; Architecture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22960" y="1440180"/>
            <a:ext cx="16459200" cy="548640"/>
            <a:chOff x="0" y="0"/>
            <a:chExt cx="21945600" cy="7315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945600" cy="731520"/>
            </a:xfrm>
            <a:custGeom>
              <a:avLst/>
              <a:gdLst/>
              <a:ahLst/>
              <a:cxnLst/>
              <a:rect r="r" b="b" t="t" l="l"/>
              <a:pathLst>
                <a:path h="73152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4551" r="0" b="-534551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2194560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30"/>
                </a:lnSpc>
              </a:pPr>
              <a:r>
                <a:rPr lang="en-US" sz="2025" i="true">
                  <a:solidFill>
                    <a:srgbClr val="5C7278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A three-stage pipeline running end-to-end on Google Colab, with Google Drive as shared storage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22960" y="2400300"/>
            <a:ext cx="5143500" cy="5692140"/>
            <a:chOff x="0" y="0"/>
            <a:chExt cx="6858000" cy="758952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858000" cy="7589520"/>
            </a:xfrm>
            <a:custGeom>
              <a:avLst/>
              <a:gdLst/>
              <a:ahLst/>
              <a:cxnLst/>
              <a:rect r="r" b="b" t="t" l="l"/>
              <a:pathLst>
                <a:path h="7589520" w="6858000">
                  <a:moveTo>
                    <a:pt x="0" y="164592"/>
                  </a:moveTo>
                  <a:cubicBezTo>
                    <a:pt x="0" y="73660"/>
                    <a:pt x="73660" y="0"/>
                    <a:pt x="164592" y="0"/>
                  </a:cubicBezTo>
                  <a:lnTo>
                    <a:pt x="6693408" y="0"/>
                  </a:lnTo>
                  <a:cubicBezTo>
                    <a:pt x="6784340" y="0"/>
                    <a:pt x="6858000" y="73660"/>
                    <a:pt x="6858000" y="164592"/>
                  </a:cubicBezTo>
                  <a:lnTo>
                    <a:pt x="6858000" y="7424928"/>
                  </a:lnTo>
                  <a:cubicBezTo>
                    <a:pt x="6858000" y="7515860"/>
                    <a:pt x="6784340" y="7589520"/>
                    <a:pt x="6693408" y="7589520"/>
                  </a:cubicBezTo>
                  <a:lnTo>
                    <a:pt x="164592" y="7589520"/>
                  </a:lnTo>
                  <a:cubicBezTo>
                    <a:pt x="73660" y="7589520"/>
                    <a:pt x="0" y="7515860"/>
                    <a:pt x="0" y="7424928"/>
                  </a:cubicBezTo>
                  <a:close/>
                </a:path>
              </a:pathLst>
            </a:custGeom>
            <a:solidFill>
              <a:srgbClr val="F4F8F8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303020" y="2880360"/>
            <a:ext cx="891540" cy="891540"/>
            <a:chOff x="0" y="0"/>
            <a:chExt cx="1188720" cy="118872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188720" cy="1188720"/>
            </a:xfrm>
            <a:custGeom>
              <a:avLst/>
              <a:gdLst/>
              <a:ahLst/>
              <a:cxnLst/>
              <a:rect r="r" b="b" t="t" l="l"/>
              <a:pathLst>
                <a:path h="1188720" w="1188720">
                  <a:moveTo>
                    <a:pt x="0" y="594360"/>
                  </a:moveTo>
                  <a:cubicBezTo>
                    <a:pt x="0" y="266065"/>
                    <a:pt x="266065" y="0"/>
                    <a:pt x="594360" y="0"/>
                  </a:cubicBezTo>
                  <a:cubicBezTo>
                    <a:pt x="922655" y="0"/>
                    <a:pt x="1188720" y="266065"/>
                    <a:pt x="1188720" y="594360"/>
                  </a:cubicBezTo>
                  <a:cubicBezTo>
                    <a:pt x="1188720" y="922655"/>
                    <a:pt x="922655" y="1188720"/>
                    <a:pt x="594360" y="1188720"/>
                  </a:cubicBezTo>
                  <a:cubicBezTo>
                    <a:pt x="266065" y="1188720"/>
                    <a:pt x="0" y="922655"/>
                    <a:pt x="0" y="594360"/>
                  </a:cubicBezTo>
                  <a:close/>
                </a:path>
              </a:pathLst>
            </a:custGeom>
            <a:solidFill>
              <a:srgbClr val="0F7A82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410005" y="2987345"/>
            <a:ext cx="677570" cy="677570"/>
            <a:chOff x="0" y="0"/>
            <a:chExt cx="903427" cy="903427"/>
          </a:xfrm>
        </p:grpSpPr>
        <p:sp>
          <p:nvSpPr>
            <p:cNvPr name="Freeform 13" id="13" descr="preencoded.png"/>
            <p:cNvSpPr/>
            <p:nvPr/>
          </p:nvSpPr>
          <p:spPr>
            <a:xfrm flipH="false" flipV="false" rot="0">
              <a:off x="0" y="0"/>
              <a:ext cx="903478" cy="903478"/>
            </a:xfrm>
            <a:custGeom>
              <a:avLst/>
              <a:gdLst/>
              <a:ahLst/>
              <a:cxnLst/>
              <a:rect r="r" b="b" t="t" l="l"/>
              <a:pathLst>
                <a:path h="903478" w="903478">
                  <a:moveTo>
                    <a:pt x="0" y="0"/>
                  </a:moveTo>
                  <a:lnTo>
                    <a:pt x="903478" y="0"/>
                  </a:lnTo>
                  <a:lnTo>
                    <a:pt x="903478" y="903478"/>
                  </a:lnTo>
                  <a:lnTo>
                    <a:pt x="0" y="90347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5" b="5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234440" y="3977640"/>
            <a:ext cx="4320540" cy="685800"/>
            <a:chOff x="0" y="0"/>
            <a:chExt cx="5760720" cy="9144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5760720" cy="914400"/>
            </a:xfrm>
            <a:custGeom>
              <a:avLst/>
              <a:gdLst/>
              <a:ahLst/>
              <a:cxnLst/>
              <a:rect r="r" b="b" t="t" l="l"/>
              <a:pathLst>
                <a:path h="914400" w="5760720">
                  <a:moveTo>
                    <a:pt x="0" y="0"/>
                  </a:moveTo>
                  <a:lnTo>
                    <a:pt x="5760720" y="0"/>
                  </a:lnTo>
                  <a:lnTo>
                    <a:pt x="576072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2755" r="0" b="-72755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9525"/>
              <a:ext cx="5760720" cy="9239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60"/>
                </a:lnSpc>
              </a:pPr>
              <a:r>
                <a:rPr lang="en-US" sz="2550" b="true">
                  <a:solidFill>
                    <a:srgbClr val="13262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1. Collection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234440" y="4732020"/>
            <a:ext cx="4320540" cy="2057400"/>
            <a:chOff x="0" y="0"/>
            <a:chExt cx="5760720" cy="27432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5760720" cy="2743200"/>
            </a:xfrm>
            <a:custGeom>
              <a:avLst/>
              <a:gdLst/>
              <a:ahLst/>
              <a:cxnLst/>
              <a:rect r="r" b="b" t="t" l="l"/>
              <a:pathLst>
                <a:path h="2743200" w="5760720">
                  <a:moveTo>
                    <a:pt x="0" y="0"/>
                  </a:moveTo>
                  <a:lnTo>
                    <a:pt x="5760720" y="0"/>
                  </a:lnTo>
                  <a:lnTo>
                    <a:pt x="5760720" y="2743200"/>
                  </a:lnTo>
                  <a:lnTo>
                    <a:pt x="0" y="2743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1096" t="0" r="-11096" b="0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85725"/>
              <a:ext cx="5760720" cy="28289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1875">
                  <a:solidFill>
                    <a:srgbClr val="13262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Crawl sector pages, extract fields, save JSON progressively to Drive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234440" y="7200900"/>
            <a:ext cx="4320540" cy="617220"/>
            <a:chOff x="0" y="0"/>
            <a:chExt cx="5760720" cy="82296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5760720" cy="822960"/>
            </a:xfrm>
            <a:custGeom>
              <a:avLst/>
              <a:gdLst/>
              <a:ahLst/>
              <a:cxnLst/>
              <a:rect r="r" b="b" t="t" l="l"/>
              <a:pathLst>
                <a:path h="822960" w="5760720">
                  <a:moveTo>
                    <a:pt x="0" y="0"/>
                  </a:moveTo>
                  <a:lnTo>
                    <a:pt x="5760720" y="0"/>
                  </a:lnTo>
                  <a:lnTo>
                    <a:pt x="576072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6395" r="0" b="-86395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5760720" cy="8610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b="true" sz="1725" i="true">
                  <a:solidFill>
                    <a:srgbClr val="0F7A82"/>
                  </a:solidFill>
                  <a:latin typeface="Calibri (MS) Bold Italics"/>
                  <a:ea typeface="Calibri (MS) Bold Italics"/>
                  <a:cs typeface="Calibri (MS) Bold Italics"/>
                  <a:sym typeface="Calibri (MS) Bold Italics"/>
                </a:rPr>
                <a:t>Requests, BeautifulSoup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5993892" y="4834890"/>
            <a:ext cx="425196" cy="822960"/>
            <a:chOff x="0" y="0"/>
            <a:chExt cx="566928" cy="109728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566928" cy="1097280"/>
            </a:xfrm>
            <a:custGeom>
              <a:avLst/>
              <a:gdLst/>
              <a:ahLst/>
              <a:cxnLst/>
              <a:rect r="r" b="b" t="t" l="l"/>
              <a:pathLst>
                <a:path h="1097280" w="566928">
                  <a:moveTo>
                    <a:pt x="0" y="0"/>
                  </a:moveTo>
                  <a:lnTo>
                    <a:pt x="566928" y="0"/>
                  </a:lnTo>
                  <a:lnTo>
                    <a:pt x="566928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98329" t="0" r="-198329" b="0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76200"/>
              <a:ext cx="566928" cy="11734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680"/>
                </a:lnSpc>
              </a:pPr>
              <a:r>
                <a:rPr lang="en-US" sz="3900" b="true">
                  <a:solidFill>
                    <a:srgbClr val="0F7A8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→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6446520" y="2400300"/>
            <a:ext cx="5143500" cy="5692140"/>
            <a:chOff x="0" y="0"/>
            <a:chExt cx="6858000" cy="758952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6858000" cy="7589520"/>
            </a:xfrm>
            <a:custGeom>
              <a:avLst/>
              <a:gdLst/>
              <a:ahLst/>
              <a:cxnLst/>
              <a:rect r="r" b="b" t="t" l="l"/>
              <a:pathLst>
                <a:path h="7589520" w="6858000">
                  <a:moveTo>
                    <a:pt x="0" y="164592"/>
                  </a:moveTo>
                  <a:cubicBezTo>
                    <a:pt x="0" y="73660"/>
                    <a:pt x="73660" y="0"/>
                    <a:pt x="164592" y="0"/>
                  </a:cubicBezTo>
                  <a:lnTo>
                    <a:pt x="6693408" y="0"/>
                  </a:lnTo>
                  <a:cubicBezTo>
                    <a:pt x="6784340" y="0"/>
                    <a:pt x="6858000" y="73660"/>
                    <a:pt x="6858000" y="164592"/>
                  </a:cubicBezTo>
                  <a:lnTo>
                    <a:pt x="6858000" y="7424928"/>
                  </a:lnTo>
                  <a:cubicBezTo>
                    <a:pt x="6858000" y="7515860"/>
                    <a:pt x="6784340" y="7589520"/>
                    <a:pt x="6693408" y="7589520"/>
                  </a:cubicBezTo>
                  <a:lnTo>
                    <a:pt x="164592" y="7589520"/>
                  </a:lnTo>
                  <a:cubicBezTo>
                    <a:pt x="73660" y="7589520"/>
                    <a:pt x="0" y="7515860"/>
                    <a:pt x="0" y="7424928"/>
                  </a:cubicBezTo>
                  <a:close/>
                </a:path>
              </a:pathLst>
            </a:custGeom>
            <a:solidFill>
              <a:srgbClr val="0B2E36"/>
            </a:solid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6926580" y="2880360"/>
            <a:ext cx="891540" cy="891540"/>
            <a:chOff x="0" y="0"/>
            <a:chExt cx="1188720" cy="118872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188720" cy="1188720"/>
            </a:xfrm>
            <a:custGeom>
              <a:avLst/>
              <a:gdLst/>
              <a:ahLst/>
              <a:cxnLst/>
              <a:rect r="r" b="b" t="t" l="l"/>
              <a:pathLst>
                <a:path h="1188720" w="1188720">
                  <a:moveTo>
                    <a:pt x="0" y="594360"/>
                  </a:moveTo>
                  <a:cubicBezTo>
                    <a:pt x="0" y="266065"/>
                    <a:pt x="266065" y="0"/>
                    <a:pt x="594360" y="0"/>
                  </a:cubicBezTo>
                  <a:cubicBezTo>
                    <a:pt x="922655" y="0"/>
                    <a:pt x="1188720" y="266065"/>
                    <a:pt x="1188720" y="594360"/>
                  </a:cubicBezTo>
                  <a:cubicBezTo>
                    <a:pt x="1188720" y="922655"/>
                    <a:pt x="922655" y="1188720"/>
                    <a:pt x="594360" y="1188720"/>
                  </a:cubicBezTo>
                  <a:cubicBezTo>
                    <a:pt x="266065" y="1188720"/>
                    <a:pt x="0" y="922655"/>
                    <a:pt x="0" y="594360"/>
                  </a:cubicBezTo>
                  <a:close/>
                </a:path>
              </a:pathLst>
            </a:custGeom>
            <a:solidFill>
              <a:srgbClr val="5FB8B0"/>
            </a:solid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7033565" y="2987345"/>
            <a:ext cx="677570" cy="677570"/>
            <a:chOff x="0" y="0"/>
            <a:chExt cx="903427" cy="903427"/>
          </a:xfrm>
        </p:grpSpPr>
        <p:sp>
          <p:nvSpPr>
            <p:cNvPr name="Freeform 31" id="31" descr="preencoded.png"/>
            <p:cNvSpPr/>
            <p:nvPr/>
          </p:nvSpPr>
          <p:spPr>
            <a:xfrm flipH="false" flipV="false" rot="0">
              <a:off x="0" y="0"/>
              <a:ext cx="903478" cy="903478"/>
            </a:xfrm>
            <a:custGeom>
              <a:avLst/>
              <a:gdLst/>
              <a:ahLst/>
              <a:cxnLst/>
              <a:rect r="r" b="b" t="t" l="l"/>
              <a:pathLst>
                <a:path h="903478" w="903478">
                  <a:moveTo>
                    <a:pt x="0" y="0"/>
                  </a:moveTo>
                  <a:lnTo>
                    <a:pt x="903478" y="0"/>
                  </a:lnTo>
                  <a:lnTo>
                    <a:pt x="903478" y="903478"/>
                  </a:lnTo>
                  <a:lnTo>
                    <a:pt x="0" y="90347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5" b="5"/>
              </a:stretch>
            </a:blip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6858000" y="3977640"/>
            <a:ext cx="4320540" cy="685800"/>
            <a:chOff x="0" y="0"/>
            <a:chExt cx="5760720" cy="9144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5760720" cy="914400"/>
            </a:xfrm>
            <a:custGeom>
              <a:avLst/>
              <a:gdLst/>
              <a:ahLst/>
              <a:cxnLst/>
              <a:rect r="r" b="b" t="t" l="l"/>
              <a:pathLst>
                <a:path h="914400" w="5760720">
                  <a:moveTo>
                    <a:pt x="0" y="0"/>
                  </a:moveTo>
                  <a:lnTo>
                    <a:pt x="5760720" y="0"/>
                  </a:lnTo>
                  <a:lnTo>
                    <a:pt x="576072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2755" r="0" b="-72755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9525"/>
              <a:ext cx="5760720" cy="9239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60"/>
                </a:lnSpc>
              </a:pPr>
              <a:r>
                <a:rPr lang="en-US" sz="255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2. Cleaning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6858000" y="4732020"/>
            <a:ext cx="4320540" cy="2057400"/>
            <a:chOff x="0" y="0"/>
            <a:chExt cx="5760720" cy="274320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5760720" cy="2743200"/>
            </a:xfrm>
            <a:custGeom>
              <a:avLst/>
              <a:gdLst/>
              <a:ahLst/>
              <a:cxnLst/>
              <a:rect r="r" b="b" t="t" l="l"/>
              <a:pathLst>
                <a:path h="2743200" w="5760720">
                  <a:moveTo>
                    <a:pt x="0" y="0"/>
                  </a:moveTo>
                  <a:lnTo>
                    <a:pt x="5760720" y="0"/>
                  </a:lnTo>
                  <a:lnTo>
                    <a:pt x="5760720" y="2743200"/>
                  </a:lnTo>
                  <a:lnTo>
                    <a:pt x="0" y="2743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1096" t="0" r="-11096" b="0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85725"/>
              <a:ext cx="5760720" cy="28289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1875">
                  <a:solidFill>
                    <a:srgbClr val="EAF4F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Parse titles/IDs &amp; salary text, drop duplicates &amp; incomplete rows, export CSV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6858000" y="7200900"/>
            <a:ext cx="4320540" cy="617220"/>
            <a:chOff x="0" y="0"/>
            <a:chExt cx="5760720" cy="82296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5760720" cy="822960"/>
            </a:xfrm>
            <a:custGeom>
              <a:avLst/>
              <a:gdLst/>
              <a:ahLst/>
              <a:cxnLst/>
              <a:rect r="r" b="b" t="t" l="l"/>
              <a:pathLst>
                <a:path h="822960" w="5760720">
                  <a:moveTo>
                    <a:pt x="0" y="0"/>
                  </a:moveTo>
                  <a:lnTo>
                    <a:pt x="5760720" y="0"/>
                  </a:lnTo>
                  <a:lnTo>
                    <a:pt x="576072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6395" r="0" b="-86395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38100"/>
              <a:ext cx="5760720" cy="8610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b="true" sz="1725" i="true">
                  <a:solidFill>
                    <a:srgbClr val="5FB8B0"/>
                  </a:solidFill>
                  <a:latin typeface="Calibri (MS) Bold Italics"/>
                  <a:ea typeface="Calibri (MS) Bold Italics"/>
                  <a:cs typeface="Calibri (MS) Bold Italics"/>
                  <a:sym typeface="Calibri (MS) Bold Italics"/>
                </a:rPr>
                <a:t>Pandas, JSON, CSV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11617452" y="4834890"/>
            <a:ext cx="425196" cy="822960"/>
            <a:chOff x="0" y="0"/>
            <a:chExt cx="566928" cy="109728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566928" cy="1097280"/>
            </a:xfrm>
            <a:custGeom>
              <a:avLst/>
              <a:gdLst/>
              <a:ahLst/>
              <a:cxnLst/>
              <a:rect r="r" b="b" t="t" l="l"/>
              <a:pathLst>
                <a:path h="1097280" w="566928">
                  <a:moveTo>
                    <a:pt x="0" y="0"/>
                  </a:moveTo>
                  <a:lnTo>
                    <a:pt x="566928" y="0"/>
                  </a:lnTo>
                  <a:lnTo>
                    <a:pt x="566928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98329" t="0" r="-198329" b="0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76200"/>
              <a:ext cx="566928" cy="11734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680"/>
                </a:lnSpc>
              </a:pPr>
              <a:r>
                <a:rPr lang="en-US" sz="3900" b="true">
                  <a:solidFill>
                    <a:srgbClr val="0F7A8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→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12070080" y="2400300"/>
            <a:ext cx="5143500" cy="5692140"/>
            <a:chOff x="0" y="0"/>
            <a:chExt cx="6858000" cy="758952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6858000" cy="7589520"/>
            </a:xfrm>
            <a:custGeom>
              <a:avLst/>
              <a:gdLst/>
              <a:ahLst/>
              <a:cxnLst/>
              <a:rect r="r" b="b" t="t" l="l"/>
              <a:pathLst>
                <a:path h="7589520" w="6858000">
                  <a:moveTo>
                    <a:pt x="0" y="164592"/>
                  </a:moveTo>
                  <a:cubicBezTo>
                    <a:pt x="0" y="73660"/>
                    <a:pt x="73660" y="0"/>
                    <a:pt x="164592" y="0"/>
                  </a:cubicBezTo>
                  <a:lnTo>
                    <a:pt x="6693408" y="0"/>
                  </a:lnTo>
                  <a:cubicBezTo>
                    <a:pt x="6784340" y="0"/>
                    <a:pt x="6858000" y="73660"/>
                    <a:pt x="6858000" y="164592"/>
                  </a:cubicBezTo>
                  <a:lnTo>
                    <a:pt x="6858000" y="7424928"/>
                  </a:lnTo>
                  <a:cubicBezTo>
                    <a:pt x="6858000" y="7515860"/>
                    <a:pt x="6784340" y="7589520"/>
                    <a:pt x="6693408" y="7589520"/>
                  </a:cubicBezTo>
                  <a:lnTo>
                    <a:pt x="164592" y="7589520"/>
                  </a:lnTo>
                  <a:cubicBezTo>
                    <a:pt x="73660" y="7589520"/>
                    <a:pt x="0" y="7515860"/>
                    <a:pt x="0" y="7424928"/>
                  </a:cubicBezTo>
                  <a:close/>
                </a:path>
              </a:pathLst>
            </a:custGeom>
            <a:solidFill>
              <a:srgbClr val="F4F8F8"/>
            </a:solid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12550140" y="2880360"/>
            <a:ext cx="891540" cy="891540"/>
            <a:chOff x="0" y="0"/>
            <a:chExt cx="1188720" cy="118872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1188720" cy="1188720"/>
            </a:xfrm>
            <a:custGeom>
              <a:avLst/>
              <a:gdLst/>
              <a:ahLst/>
              <a:cxnLst/>
              <a:rect r="r" b="b" t="t" l="l"/>
              <a:pathLst>
                <a:path h="1188720" w="1188720">
                  <a:moveTo>
                    <a:pt x="0" y="594360"/>
                  </a:moveTo>
                  <a:cubicBezTo>
                    <a:pt x="0" y="266065"/>
                    <a:pt x="266065" y="0"/>
                    <a:pt x="594360" y="0"/>
                  </a:cubicBezTo>
                  <a:cubicBezTo>
                    <a:pt x="922655" y="0"/>
                    <a:pt x="1188720" y="266065"/>
                    <a:pt x="1188720" y="594360"/>
                  </a:cubicBezTo>
                  <a:cubicBezTo>
                    <a:pt x="1188720" y="922655"/>
                    <a:pt x="922655" y="1188720"/>
                    <a:pt x="594360" y="1188720"/>
                  </a:cubicBezTo>
                  <a:cubicBezTo>
                    <a:pt x="266065" y="1188720"/>
                    <a:pt x="0" y="922655"/>
                    <a:pt x="0" y="594360"/>
                  </a:cubicBezTo>
                  <a:close/>
                </a:path>
              </a:pathLst>
            </a:custGeom>
            <a:solidFill>
              <a:srgbClr val="0F7A82"/>
            </a:solidFill>
          </p:spPr>
        </p:sp>
      </p:grpSp>
      <p:grpSp>
        <p:nvGrpSpPr>
          <p:cNvPr name="Group 48" id="48"/>
          <p:cNvGrpSpPr/>
          <p:nvPr/>
        </p:nvGrpSpPr>
        <p:grpSpPr>
          <a:xfrm rot="0">
            <a:off x="12657125" y="2987345"/>
            <a:ext cx="677570" cy="677570"/>
            <a:chOff x="0" y="0"/>
            <a:chExt cx="903427" cy="903427"/>
          </a:xfrm>
        </p:grpSpPr>
        <p:sp>
          <p:nvSpPr>
            <p:cNvPr name="Freeform 49" id="49" descr="preencoded.png"/>
            <p:cNvSpPr/>
            <p:nvPr/>
          </p:nvSpPr>
          <p:spPr>
            <a:xfrm flipH="false" flipV="false" rot="0">
              <a:off x="0" y="0"/>
              <a:ext cx="903478" cy="903478"/>
            </a:xfrm>
            <a:custGeom>
              <a:avLst/>
              <a:gdLst/>
              <a:ahLst/>
              <a:cxnLst/>
              <a:rect r="r" b="b" t="t" l="l"/>
              <a:pathLst>
                <a:path h="903478" w="903478">
                  <a:moveTo>
                    <a:pt x="0" y="0"/>
                  </a:moveTo>
                  <a:lnTo>
                    <a:pt x="903478" y="0"/>
                  </a:lnTo>
                  <a:lnTo>
                    <a:pt x="903478" y="903478"/>
                  </a:lnTo>
                  <a:lnTo>
                    <a:pt x="0" y="90347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5" b="5"/>
              </a:stretch>
            </a:blip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12481560" y="3977640"/>
            <a:ext cx="4320540" cy="685800"/>
            <a:chOff x="0" y="0"/>
            <a:chExt cx="5760720" cy="91440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5760720" cy="914400"/>
            </a:xfrm>
            <a:custGeom>
              <a:avLst/>
              <a:gdLst/>
              <a:ahLst/>
              <a:cxnLst/>
              <a:rect r="r" b="b" t="t" l="l"/>
              <a:pathLst>
                <a:path h="914400" w="5760720">
                  <a:moveTo>
                    <a:pt x="0" y="0"/>
                  </a:moveTo>
                  <a:lnTo>
                    <a:pt x="5760720" y="0"/>
                  </a:lnTo>
                  <a:lnTo>
                    <a:pt x="576072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2755" r="0" b="-72755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9525"/>
              <a:ext cx="5760720" cy="9239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60"/>
                </a:lnSpc>
              </a:pPr>
              <a:r>
                <a:rPr lang="en-US" sz="2550" b="true">
                  <a:solidFill>
                    <a:srgbClr val="13262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3. Optimize &amp; Evaluate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12481560" y="4732020"/>
            <a:ext cx="4320540" cy="2057400"/>
            <a:chOff x="0" y="0"/>
            <a:chExt cx="5760720" cy="274320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5760720" cy="2743200"/>
            </a:xfrm>
            <a:custGeom>
              <a:avLst/>
              <a:gdLst/>
              <a:ahLst/>
              <a:cxnLst/>
              <a:rect r="r" b="b" t="t" l="l"/>
              <a:pathLst>
                <a:path h="2743200" w="5760720">
                  <a:moveTo>
                    <a:pt x="0" y="0"/>
                  </a:moveTo>
                  <a:lnTo>
                    <a:pt x="5760720" y="0"/>
                  </a:lnTo>
                  <a:lnTo>
                    <a:pt x="5760720" y="2743200"/>
                  </a:lnTo>
                  <a:lnTo>
                    <a:pt x="0" y="2743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1096" t="0" r="-11096" b="0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85725"/>
              <a:ext cx="5760720" cy="28289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1875">
                  <a:solidFill>
                    <a:srgbClr val="13262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Run Pandas / Multiprocessing / Polars on identical data, measure metrics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12481560" y="7200900"/>
            <a:ext cx="4320540" cy="617220"/>
            <a:chOff x="0" y="0"/>
            <a:chExt cx="5760720" cy="82296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5760720" cy="822960"/>
            </a:xfrm>
            <a:custGeom>
              <a:avLst/>
              <a:gdLst/>
              <a:ahLst/>
              <a:cxnLst/>
              <a:rect r="r" b="b" t="t" l="l"/>
              <a:pathLst>
                <a:path h="822960" w="5760720">
                  <a:moveTo>
                    <a:pt x="0" y="0"/>
                  </a:moveTo>
                  <a:lnTo>
                    <a:pt x="5760720" y="0"/>
                  </a:lnTo>
                  <a:lnTo>
                    <a:pt x="576072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6395" r="0" b="-86395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38100"/>
              <a:ext cx="5760720" cy="8610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b="true" sz="1725" i="true">
                  <a:solidFill>
                    <a:srgbClr val="0F7A82"/>
                  </a:solidFill>
                  <a:latin typeface="Calibri (MS) Bold Italics"/>
                  <a:ea typeface="Calibri (MS) Bold Italics"/>
                  <a:cs typeface="Calibri (MS) Bold Italics"/>
                  <a:sym typeface="Calibri (MS) Bold Italics"/>
                </a:rPr>
                <a:t>Joblib, Polars, psutil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822960" y="8435340"/>
            <a:ext cx="16596360" cy="685800"/>
            <a:chOff x="0" y="0"/>
            <a:chExt cx="22128480" cy="91440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22128480" cy="914400"/>
            </a:xfrm>
            <a:custGeom>
              <a:avLst/>
              <a:gdLst/>
              <a:ahLst/>
              <a:cxnLst/>
              <a:rect r="r" b="b" t="t" l="l"/>
              <a:pathLst>
                <a:path h="914400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21537" r="0" b="-421537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38100"/>
              <a:ext cx="22128480" cy="9525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i="true">
                  <a:solidFill>
                    <a:srgbClr val="5C7278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Dataset scale (~112K rows) did not justify heavier frameworks like Spark — a decision later supported by the results.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685800" y="9710928"/>
            <a:ext cx="10972800" cy="411480"/>
            <a:chOff x="0" y="0"/>
            <a:chExt cx="14630400" cy="548640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14630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9601" r="0" b="-469601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28575"/>
              <a:ext cx="146304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5C727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Sparkling Sparkmind  |  SECP3133-02 High Performance Data Processing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17048988" y="9710928"/>
            <a:ext cx="685800" cy="411480"/>
            <a:chOff x="0" y="0"/>
            <a:chExt cx="914400" cy="548640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-28575"/>
              <a:ext cx="9144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5C727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4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617220"/>
            <a:ext cx="16459200" cy="1097280"/>
            <a:chOff x="0" y="0"/>
            <a:chExt cx="21945600" cy="14630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9050"/>
              <a:ext cx="21945600" cy="14820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13262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Data Collection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22960" y="2125980"/>
            <a:ext cx="5074920" cy="2057400"/>
            <a:chOff x="0" y="0"/>
            <a:chExt cx="6766560" cy="27432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766561" cy="2743200"/>
            </a:xfrm>
            <a:custGeom>
              <a:avLst/>
              <a:gdLst/>
              <a:ahLst/>
              <a:cxnLst/>
              <a:rect r="r" b="b" t="t" l="l"/>
              <a:pathLst>
                <a:path h="2743200" w="6766561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6620256" y="0"/>
                  </a:lnTo>
                  <a:cubicBezTo>
                    <a:pt x="6701028" y="0"/>
                    <a:pt x="6766561" y="65532"/>
                    <a:pt x="6766561" y="146304"/>
                  </a:cubicBezTo>
                  <a:lnTo>
                    <a:pt x="6766561" y="2596896"/>
                  </a:lnTo>
                  <a:cubicBezTo>
                    <a:pt x="6766561" y="2677668"/>
                    <a:pt x="6701028" y="2743200"/>
                    <a:pt x="6620256" y="2743200"/>
                  </a:cubicBezTo>
                  <a:lnTo>
                    <a:pt x="146304" y="2743200"/>
                  </a:lnTo>
                  <a:cubicBezTo>
                    <a:pt x="65532" y="2743200"/>
                    <a:pt x="0" y="2677668"/>
                    <a:pt x="0" y="2596896"/>
                  </a:cubicBezTo>
                  <a:close/>
                </a:path>
              </a:pathLst>
            </a:custGeom>
            <a:solidFill>
              <a:srgbClr val="F4F8F8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1028700" y="2331720"/>
            <a:ext cx="4663440" cy="1028700"/>
            <a:chOff x="0" y="0"/>
            <a:chExt cx="6217920" cy="13716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6217920" cy="1371600"/>
            </a:xfrm>
            <a:custGeom>
              <a:avLst/>
              <a:gdLst/>
              <a:ahLst/>
              <a:cxnLst/>
              <a:rect r="r" b="b" t="t" l="l"/>
              <a:pathLst>
                <a:path h="1371600" w="6217920">
                  <a:moveTo>
                    <a:pt x="0" y="0"/>
                  </a:moveTo>
                  <a:lnTo>
                    <a:pt x="6217920" y="0"/>
                  </a:lnTo>
                  <a:lnTo>
                    <a:pt x="6217920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8332" r="0" b="-38332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19050"/>
              <a:ext cx="6217920" cy="13906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0F7A82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120,000+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028700" y="3429000"/>
            <a:ext cx="4663440" cy="617220"/>
            <a:chOff x="0" y="0"/>
            <a:chExt cx="6217920" cy="82296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217920" cy="822960"/>
            </a:xfrm>
            <a:custGeom>
              <a:avLst/>
              <a:gdLst/>
              <a:ahLst/>
              <a:cxnLst/>
              <a:rect r="r" b="b" t="t" l="l"/>
              <a:pathLst>
                <a:path h="822960" w="6217920">
                  <a:moveTo>
                    <a:pt x="0" y="0"/>
                  </a:moveTo>
                  <a:lnTo>
                    <a:pt x="6217920" y="0"/>
                  </a:lnTo>
                  <a:lnTo>
                    <a:pt x="621792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7220" r="0" b="-9722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6217920" cy="8610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sz="1875">
                  <a:solidFill>
                    <a:srgbClr val="5C727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raw records crawled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822960" y="4526280"/>
            <a:ext cx="5074920" cy="2057400"/>
            <a:chOff x="0" y="0"/>
            <a:chExt cx="6766560" cy="27432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6766561" cy="2743200"/>
            </a:xfrm>
            <a:custGeom>
              <a:avLst/>
              <a:gdLst/>
              <a:ahLst/>
              <a:cxnLst/>
              <a:rect r="r" b="b" t="t" l="l"/>
              <a:pathLst>
                <a:path h="2743200" w="6766561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6620256" y="0"/>
                  </a:lnTo>
                  <a:cubicBezTo>
                    <a:pt x="6701028" y="0"/>
                    <a:pt x="6766561" y="65532"/>
                    <a:pt x="6766561" y="146304"/>
                  </a:cubicBezTo>
                  <a:lnTo>
                    <a:pt x="6766561" y="2596896"/>
                  </a:lnTo>
                  <a:cubicBezTo>
                    <a:pt x="6766561" y="2677668"/>
                    <a:pt x="6701028" y="2743200"/>
                    <a:pt x="6620256" y="2743200"/>
                  </a:cubicBezTo>
                  <a:lnTo>
                    <a:pt x="146304" y="2743200"/>
                  </a:lnTo>
                  <a:cubicBezTo>
                    <a:pt x="65532" y="2743200"/>
                    <a:pt x="0" y="2677668"/>
                    <a:pt x="0" y="2596896"/>
                  </a:cubicBezTo>
                  <a:close/>
                </a:path>
              </a:pathLst>
            </a:custGeom>
            <a:solidFill>
              <a:srgbClr val="0F7A82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1028700" y="4732020"/>
            <a:ext cx="4663440" cy="1028700"/>
            <a:chOff x="0" y="0"/>
            <a:chExt cx="6217920" cy="13716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6217920" cy="1371600"/>
            </a:xfrm>
            <a:custGeom>
              <a:avLst/>
              <a:gdLst/>
              <a:ahLst/>
              <a:cxnLst/>
              <a:rect r="r" b="b" t="t" l="l"/>
              <a:pathLst>
                <a:path h="1371600" w="6217920">
                  <a:moveTo>
                    <a:pt x="0" y="0"/>
                  </a:moveTo>
                  <a:lnTo>
                    <a:pt x="6217920" y="0"/>
                  </a:lnTo>
                  <a:lnTo>
                    <a:pt x="6217920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8332" r="0" b="-38332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19050"/>
              <a:ext cx="6217920" cy="13906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112,499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028700" y="5829300"/>
            <a:ext cx="4663440" cy="617220"/>
            <a:chOff x="0" y="0"/>
            <a:chExt cx="6217920" cy="82296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6217920" cy="822960"/>
            </a:xfrm>
            <a:custGeom>
              <a:avLst/>
              <a:gdLst/>
              <a:ahLst/>
              <a:cxnLst/>
              <a:rect r="r" b="b" t="t" l="l"/>
              <a:pathLst>
                <a:path h="822960" w="6217920">
                  <a:moveTo>
                    <a:pt x="0" y="0"/>
                  </a:moveTo>
                  <a:lnTo>
                    <a:pt x="6217920" y="0"/>
                  </a:lnTo>
                  <a:lnTo>
                    <a:pt x="621792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7220" r="0" b="-97220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6217920" cy="8610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sz="1875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cleaned records retained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822960" y="6926580"/>
            <a:ext cx="5074920" cy="2057400"/>
            <a:chOff x="0" y="0"/>
            <a:chExt cx="6766560" cy="27432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6766561" cy="2743200"/>
            </a:xfrm>
            <a:custGeom>
              <a:avLst/>
              <a:gdLst/>
              <a:ahLst/>
              <a:cxnLst/>
              <a:rect r="r" b="b" t="t" l="l"/>
              <a:pathLst>
                <a:path h="2743200" w="6766561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6620256" y="0"/>
                  </a:lnTo>
                  <a:cubicBezTo>
                    <a:pt x="6701028" y="0"/>
                    <a:pt x="6766561" y="65532"/>
                    <a:pt x="6766561" y="146304"/>
                  </a:cubicBezTo>
                  <a:lnTo>
                    <a:pt x="6766561" y="2596896"/>
                  </a:lnTo>
                  <a:cubicBezTo>
                    <a:pt x="6766561" y="2677668"/>
                    <a:pt x="6701028" y="2743200"/>
                    <a:pt x="6620256" y="2743200"/>
                  </a:cubicBezTo>
                  <a:lnTo>
                    <a:pt x="146304" y="2743200"/>
                  </a:lnTo>
                  <a:cubicBezTo>
                    <a:pt x="65532" y="2743200"/>
                    <a:pt x="0" y="2677668"/>
                    <a:pt x="0" y="2596896"/>
                  </a:cubicBezTo>
                  <a:close/>
                </a:path>
              </a:pathLst>
            </a:custGeom>
            <a:solidFill>
              <a:srgbClr val="F4F8F8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1028700" y="7132320"/>
            <a:ext cx="4663440" cy="1028700"/>
            <a:chOff x="0" y="0"/>
            <a:chExt cx="6217920" cy="13716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6217920" cy="1371600"/>
            </a:xfrm>
            <a:custGeom>
              <a:avLst/>
              <a:gdLst/>
              <a:ahLst/>
              <a:cxnLst/>
              <a:rect r="r" b="b" t="t" l="l"/>
              <a:pathLst>
                <a:path h="1371600" w="6217920">
                  <a:moveTo>
                    <a:pt x="0" y="0"/>
                  </a:moveTo>
                  <a:lnTo>
                    <a:pt x="6217920" y="0"/>
                  </a:lnTo>
                  <a:lnTo>
                    <a:pt x="6217920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8332" r="0" b="-38332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19050"/>
              <a:ext cx="6217920" cy="13906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0F7A82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2–4s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028700" y="8229600"/>
            <a:ext cx="4663440" cy="617220"/>
            <a:chOff x="0" y="0"/>
            <a:chExt cx="6217920" cy="82296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6217920" cy="822960"/>
            </a:xfrm>
            <a:custGeom>
              <a:avLst/>
              <a:gdLst/>
              <a:ahLst/>
              <a:cxnLst/>
              <a:rect r="r" b="b" t="t" l="l"/>
              <a:pathLst>
                <a:path h="822960" w="6217920">
                  <a:moveTo>
                    <a:pt x="0" y="0"/>
                  </a:moveTo>
                  <a:lnTo>
                    <a:pt x="6217920" y="0"/>
                  </a:lnTo>
                  <a:lnTo>
                    <a:pt x="621792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7220" r="0" b="-97220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38100"/>
              <a:ext cx="6217920" cy="8610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sz="1875">
                  <a:solidFill>
                    <a:srgbClr val="5C727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randomized crawl delay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6446520" y="2125980"/>
            <a:ext cx="10972800" cy="7132320"/>
            <a:chOff x="0" y="0"/>
            <a:chExt cx="14630400" cy="950976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4630400" cy="9509761"/>
            </a:xfrm>
            <a:custGeom>
              <a:avLst/>
              <a:gdLst/>
              <a:ahLst/>
              <a:cxnLst/>
              <a:rect r="r" b="b" t="t" l="l"/>
              <a:pathLst>
                <a:path h="9509761" w="1463040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14484096" y="0"/>
                  </a:lnTo>
                  <a:cubicBezTo>
                    <a:pt x="14564868" y="0"/>
                    <a:pt x="14630400" y="65532"/>
                    <a:pt x="14630400" y="146304"/>
                  </a:cubicBezTo>
                  <a:lnTo>
                    <a:pt x="14630400" y="9363456"/>
                  </a:lnTo>
                  <a:cubicBezTo>
                    <a:pt x="14630400" y="9444228"/>
                    <a:pt x="14564868" y="9509761"/>
                    <a:pt x="14484096" y="9509761"/>
                  </a:cubicBezTo>
                  <a:lnTo>
                    <a:pt x="146304" y="9509761"/>
                  </a:lnTo>
                  <a:cubicBezTo>
                    <a:pt x="65532" y="9509760"/>
                    <a:pt x="0" y="9444228"/>
                    <a:pt x="0" y="9363456"/>
                  </a:cubicBezTo>
                  <a:close/>
                </a:path>
              </a:pathLst>
            </a:custGeom>
            <a:solidFill>
              <a:srgbClr val="0B2E36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6858000" y="2537460"/>
            <a:ext cx="754380" cy="754380"/>
            <a:chOff x="0" y="0"/>
            <a:chExt cx="1005840" cy="100584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00584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005840">
                  <a:moveTo>
                    <a:pt x="0" y="502920"/>
                  </a:moveTo>
                  <a:cubicBezTo>
                    <a:pt x="0" y="225171"/>
                    <a:pt x="225171" y="0"/>
                    <a:pt x="502920" y="0"/>
                  </a:cubicBezTo>
                  <a:cubicBezTo>
                    <a:pt x="780669" y="0"/>
                    <a:pt x="1005840" y="225171"/>
                    <a:pt x="1005840" y="502920"/>
                  </a:cubicBezTo>
                  <a:cubicBezTo>
                    <a:pt x="1005840" y="780669"/>
                    <a:pt x="780669" y="1005840"/>
                    <a:pt x="502920" y="1005840"/>
                  </a:cubicBezTo>
                  <a:cubicBezTo>
                    <a:pt x="225171" y="1005840"/>
                    <a:pt x="0" y="780669"/>
                    <a:pt x="0" y="502920"/>
                  </a:cubicBezTo>
                  <a:close/>
                </a:path>
              </a:pathLst>
            </a:custGeom>
            <a:solidFill>
              <a:srgbClr val="5FB8B0"/>
            </a:solid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6948526" y="2627986"/>
            <a:ext cx="573329" cy="573329"/>
            <a:chOff x="0" y="0"/>
            <a:chExt cx="764438" cy="764438"/>
          </a:xfrm>
        </p:grpSpPr>
        <p:sp>
          <p:nvSpPr>
            <p:cNvPr name="Freeform 34" id="34" descr="preencoded.png"/>
            <p:cNvSpPr/>
            <p:nvPr/>
          </p:nvSpPr>
          <p:spPr>
            <a:xfrm flipH="false" flipV="false" rot="0">
              <a:off x="0" y="0"/>
              <a:ext cx="764413" cy="764413"/>
            </a:xfrm>
            <a:custGeom>
              <a:avLst/>
              <a:gdLst/>
              <a:ahLst/>
              <a:cxnLst/>
              <a:rect r="r" b="b" t="t" l="l"/>
              <a:pathLst>
                <a:path h="764413" w="764413">
                  <a:moveTo>
                    <a:pt x="0" y="0"/>
                  </a:moveTo>
                  <a:lnTo>
                    <a:pt x="764413" y="0"/>
                  </a:lnTo>
                  <a:lnTo>
                    <a:pt x="764413" y="764413"/>
                  </a:lnTo>
                  <a:lnTo>
                    <a:pt x="0" y="76441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3" b="-3"/>
              </a:stretch>
            </a:blip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7818120" y="2537460"/>
            <a:ext cx="8229600" cy="754380"/>
            <a:chOff x="0" y="0"/>
            <a:chExt cx="10972800" cy="100584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097280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2564" r="0" b="-162564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19050"/>
              <a:ext cx="10972800" cy="10248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Crawling Method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6858000" y="3566160"/>
            <a:ext cx="10149840" cy="5486400"/>
            <a:chOff x="0" y="0"/>
            <a:chExt cx="13533120" cy="731520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3533120" cy="7315200"/>
            </a:xfrm>
            <a:custGeom>
              <a:avLst/>
              <a:gdLst/>
              <a:ahLst/>
              <a:cxnLst/>
              <a:rect r="r" b="b" t="t" l="l"/>
              <a:pathLst>
                <a:path h="7315200" w="13533120">
                  <a:moveTo>
                    <a:pt x="0" y="0"/>
                  </a:moveTo>
                  <a:lnTo>
                    <a:pt x="13533120" y="0"/>
                  </a:lnTo>
                  <a:lnTo>
                    <a:pt x="13533120" y="7315200"/>
                  </a:lnTo>
                  <a:lnTo>
                    <a:pt x="0" y="7315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9353" t="0" r="-19353" b="0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47625"/>
              <a:ext cx="13533120" cy="73628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380048" indent="-190024" lvl="1">
                <a:lnSpc>
                  <a:spcPts val="2520"/>
                </a:lnSpc>
                <a:buFont typeface="Arial"/>
                <a:buChar char="•"/>
              </a:pPr>
              <a:r>
                <a:rPr lang="en-US" sz="21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Requests + BeautifulSoup, with a browser-like User-Agent to reduce blocking</a:t>
              </a:r>
            </a:p>
            <a:p>
              <a:pPr algn="l" marL="380048" indent="-190024" lvl="1">
                <a:lnSpc>
                  <a:spcPts val="2520"/>
                </a:lnSpc>
                <a:buFont typeface="Arial"/>
                <a:buChar char="•"/>
              </a:pPr>
              <a:r>
                <a:rPr lang="en-US" sz="21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Sector-by-sector crawl across MyFutureJobs categories for variety across industries &amp; states</a:t>
              </a:r>
            </a:p>
            <a:p>
              <a:pPr algn="l" marL="380048" indent="-190024" lvl="1">
                <a:lnSpc>
                  <a:spcPts val="2520"/>
                </a:lnSpc>
                <a:buFont typeface="Arial"/>
                <a:buChar char="•"/>
              </a:pPr>
              <a:r>
                <a:rPr lang="en-US" sz="21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Each listing appended and saved progressively to JSON — no data lost on interruption</a:t>
              </a:r>
            </a:p>
            <a:p>
              <a:pPr algn="l" marL="380048" indent="-190024" lvl="1">
                <a:lnSpc>
                  <a:spcPts val="2520"/>
                </a:lnSpc>
                <a:buFont typeface="Arial"/>
                <a:buChar char="•"/>
              </a:pPr>
              <a:r>
                <a:rPr lang="en-US" sz="21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Ethics: only public listings, no login-protected content, no personal applicant data collected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685800" y="9710928"/>
            <a:ext cx="10972800" cy="411480"/>
            <a:chOff x="0" y="0"/>
            <a:chExt cx="14630400" cy="54864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14630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9601" r="0" b="-469601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28575"/>
              <a:ext cx="146304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5C727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Sparkling Sparkmind  |  SECP3133-02 High Performance Data Processing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17048988" y="9710928"/>
            <a:ext cx="685800" cy="411480"/>
            <a:chOff x="0" y="0"/>
            <a:chExt cx="914400" cy="54864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28575"/>
              <a:ext cx="9144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5C727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5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617220"/>
            <a:ext cx="16459200" cy="1097280"/>
            <a:chOff x="0" y="0"/>
            <a:chExt cx="21945600" cy="14630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9050"/>
              <a:ext cx="21945600" cy="14820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13262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Data Processing: The Cleaning Pipeline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22960" y="1440180"/>
            <a:ext cx="16596360" cy="548640"/>
            <a:chOff x="0" y="0"/>
            <a:chExt cx="22128480" cy="7315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128480" cy="731520"/>
            </a:xfrm>
            <a:custGeom>
              <a:avLst/>
              <a:gdLst/>
              <a:ahLst/>
              <a:cxnLst/>
              <a:rect r="r" b="b" t="t" l="l"/>
              <a:pathLst>
                <a:path h="731520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9422" r="0" b="-539422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2212848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30"/>
                </a:lnSpc>
              </a:pPr>
              <a:r>
                <a:rPr lang="en-US" sz="2025" i="true">
                  <a:solidFill>
                    <a:srgbClr val="5C7278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raw_data.json → five-step cleaning pipeline → cleaned_data.csv (used identically by all 3 approaches)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22960" y="2606040"/>
            <a:ext cx="3099816" cy="6172200"/>
            <a:chOff x="0" y="0"/>
            <a:chExt cx="4133088" cy="82296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133088" cy="8229600"/>
            </a:xfrm>
            <a:custGeom>
              <a:avLst/>
              <a:gdLst/>
              <a:ahLst/>
              <a:cxnLst/>
              <a:rect r="r" b="b" t="t" l="l"/>
              <a:pathLst>
                <a:path h="8229600" w="4133088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3986784" y="0"/>
                  </a:lnTo>
                  <a:cubicBezTo>
                    <a:pt x="4067556" y="0"/>
                    <a:pt x="4133088" y="65532"/>
                    <a:pt x="4133088" y="146304"/>
                  </a:cubicBezTo>
                  <a:lnTo>
                    <a:pt x="4133088" y="8083296"/>
                  </a:lnTo>
                  <a:cubicBezTo>
                    <a:pt x="4133088" y="8164068"/>
                    <a:pt x="4067556" y="8229600"/>
                    <a:pt x="3986784" y="8229600"/>
                  </a:cubicBezTo>
                  <a:lnTo>
                    <a:pt x="146304" y="8229600"/>
                  </a:lnTo>
                  <a:cubicBezTo>
                    <a:pt x="65532" y="8229600"/>
                    <a:pt x="0" y="8164068"/>
                    <a:pt x="0" y="8083296"/>
                  </a:cubicBezTo>
                  <a:close/>
                </a:path>
              </a:pathLst>
            </a:custGeom>
            <a:solidFill>
              <a:srgbClr val="F4F8F8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988820" y="2948940"/>
            <a:ext cx="768096" cy="768096"/>
            <a:chOff x="0" y="0"/>
            <a:chExt cx="1024128" cy="102412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24128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24128">
                  <a:moveTo>
                    <a:pt x="0" y="512064"/>
                  </a:moveTo>
                  <a:cubicBezTo>
                    <a:pt x="0" y="229235"/>
                    <a:pt x="229235" y="0"/>
                    <a:pt x="512064" y="0"/>
                  </a:cubicBezTo>
                  <a:cubicBezTo>
                    <a:pt x="794893" y="0"/>
                    <a:pt x="1024128" y="229235"/>
                    <a:pt x="1024128" y="512064"/>
                  </a:cubicBezTo>
                  <a:cubicBezTo>
                    <a:pt x="1024128" y="794893"/>
                    <a:pt x="794893" y="1024128"/>
                    <a:pt x="512064" y="1024128"/>
                  </a:cubicBezTo>
                  <a:cubicBezTo>
                    <a:pt x="229235" y="1024128"/>
                    <a:pt x="0" y="794893"/>
                    <a:pt x="0" y="512064"/>
                  </a:cubicBezTo>
                  <a:close/>
                </a:path>
              </a:pathLst>
            </a:custGeom>
            <a:solidFill>
              <a:srgbClr val="0F7A82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988820" y="2948940"/>
            <a:ext cx="768096" cy="768096"/>
            <a:chOff x="0" y="0"/>
            <a:chExt cx="1024128" cy="102412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24128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24128">
                  <a:moveTo>
                    <a:pt x="0" y="0"/>
                  </a:moveTo>
                  <a:lnTo>
                    <a:pt x="1024128" y="0"/>
                  </a:lnTo>
                  <a:lnTo>
                    <a:pt x="1024128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19050"/>
              <a:ext cx="1024128" cy="10431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40"/>
                </a:lnSpc>
              </a:pPr>
              <a:r>
                <a:rPr lang="en-US" sz="27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1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987552" y="3977640"/>
            <a:ext cx="2770632" cy="960120"/>
            <a:chOff x="0" y="0"/>
            <a:chExt cx="3694176" cy="128016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3694176" cy="1280160"/>
            </a:xfrm>
            <a:custGeom>
              <a:avLst/>
              <a:gdLst/>
              <a:ahLst/>
              <a:cxnLst/>
              <a:rect r="r" b="b" t="t" l="l"/>
              <a:pathLst>
                <a:path h="1280160" w="3694176">
                  <a:moveTo>
                    <a:pt x="0" y="0"/>
                  </a:moveTo>
                  <a:lnTo>
                    <a:pt x="3694176" y="0"/>
                  </a:lnTo>
                  <a:lnTo>
                    <a:pt x="3694176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228" r="0" b="-6228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3694176" cy="13182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50"/>
                </a:lnSpc>
              </a:pPr>
              <a:r>
                <a:rPr lang="en-US" sz="1875" b="true">
                  <a:solidFill>
                    <a:srgbClr val="1326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Extract titles &amp; IDs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987552" y="4937760"/>
            <a:ext cx="2770632" cy="3566160"/>
            <a:chOff x="0" y="0"/>
            <a:chExt cx="3694176" cy="475488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3694176" cy="4754880"/>
            </a:xfrm>
            <a:custGeom>
              <a:avLst/>
              <a:gdLst/>
              <a:ahLst/>
              <a:cxnLst/>
              <a:rect r="r" b="b" t="t" l="l"/>
              <a:pathLst>
                <a:path h="4754880" w="3694176">
                  <a:moveTo>
                    <a:pt x="0" y="0"/>
                  </a:moveTo>
                  <a:lnTo>
                    <a:pt x="3694176" y="0"/>
                  </a:lnTo>
                  <a:lnTo>
                    <a:pt x="3694176" y="4754880"/>
                  </a:lnTo>
                  <a:lnTo>
                    <a:pt x="0" y="47548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15143" t="0" r="-115143" b="0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47625"/>
              <a:ext cx="3694176" cy="48025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73"/>
                </a:lnSpc>
              </a:pPr>
              <a:r>
                <a:rPr lang="en-US" sz="1575">
                  <a:solidFill>
                    <a:srgbClr val="5C727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Regex splits combined “Title (Ref: #ID)” text into job_title and vacancy_id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4197096" y="2606040"/>
            <a:ext cx="3099816" cy="6172200"/>
            <a:chOff x="0" y="0"/>
            <a:chExt cx="4133088" cy="82296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4133088" cy="8229600"/>
            </a:xfrm>
            <a:custGeom>
              <a:avLst/>
              <a:gdLst/>
              <a:ahLst/>
              <a:cxnLst/>
              <a:rect r="r" b="b" t="t" l="l"/>
              <a:pathLst>
                <a:path h="8229600" w="4133088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3986784" y="0"/>
                  </a:lnTo>
                  <a:cubicBezTo>
                    <a:pt x="4067556" y="0"/>
                    <a:pt x="4133088" y="65532"/>
                    <a:pt x="4133088" y="146304"/>
                  </a:cubicBezTo>
                  <a:lnTo>
                    <a:pt x="4133088" y="8083296"/>
                  </a:lnTo>
                  <a:cubicBezTo>
                    <a:pt x="4133088" y="8164068"/>
                    <a:pt x="4067556" y="8229600"/>
                    <a:pt x="3986784" y="8229600"/>
                  </a:cubicBezTo>
                  <a:lnTo>
                    <a:pt x="146304" y="8229600"/>
                  </a:lnTo>
                  <a:cubicBezTo>
                    <a:pt x="65532" y="8229600"/>
                    <a:pt x="0" y="8164068"/>
                    <a:pt x="0" y="8083296"/>
                  </a:cubicBezTo>
                  <a:close/>
                </a:path>
              </a:pathLst>
            </a:custGeom>
            <a:solidFill>
              <a:srgbClr val="F4F8F8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5362956" y="2948940"/>
            <a:ext cx="768096" cy="768096"/>
            <a:chOff x="0" y="0"/>
            <a:chExt cx="1024128" cy="1024128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024128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24128">
                  <a:moveTo>
                    <a:pt x="0" y="512064"/>
                  </a:moveTo>
                  <a:cubicBezTo>
                    <a:pt x="0" y="229235"/>
                    <a:pt x="229235" y="0"/>
                    <a:pt x="512064" y="0"/>
                  </a:cubicBezTo>
                  <a:cubicBezTo>
                    <a:pt x="794893" y="0"/>
                    <a:pt x="1024128" y="229235"/>
                    <a:pt x="1024128" y="512064"/>
                  </a:cubicBezTo>
                  <a:cubicBezTo>
                    <a:pt x="1024128" y="794893"/>
                    <a:pt x="794893" y="1024128"/>
                    <a:pt x="512064" y="1024128"/>
                  </a:cubicBezTo>
                  <a:cubicBezTo>
                    <a:pt x="229235" y="1024128"/>
                    <a:pt x="0" y="794893"/>
                    <a:pt x="0" y="512064"/>
                  </a:cubicBezTo>
                  <a:close/>
                </a:path>
              </a:pathLst>
            </a:custGeom>
            <a:solidFill>
              <a:srgbClr val="0F7A82"/>
            </a:solid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5362956" y="2948940"/>
            <a:ext cx="768096" cy="768096"/>
            <a:chOff x="0" y="0"/>
            <a:chExt cx="1024128" cy="1024128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024128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24128">
                  <a:moveTo>
                    <a:pt x="0" y="0"/>
                  </a:moveTo>
                  <a:lnTo>
                    <a:pt x="1024128" y="0"/>
                  </a:lnTo>
                  <a:lnTo>
                    <a:pt x="1024128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19050"/>
              <a:ext cx="1024128" cy="10431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40"/>
                </a:lnSpc>
              </a:pPr>
              <a:r>
                <a:rPr lang="en-US" sz="27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2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4361688" y="3977640"/>
            <a:ext cx="2770632" cy="960120"/>
            <a:chOff x="0" y="0"/>
            <a:chExt cx="3694176" cy="128016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3694176" cy="1280160"/>
            </a:xfrm>
            <a:custGeom>
              <a:avLst/>
              <a:gdLst/>
              <a:ahLst/>
              <a:cxnLst/>
              <a:rect r="r" b="b" t="t" l="l"/>
              <a:pathLst>
                <a:path h="1280160" w="3694176">
                  <a:moveTo>
                    <a:pt x="0" y="0"/>
                  </a:moveTo>
                  <a:lnTo>
                    <a:pt x="3694176" y="0"/>
                  </a:lnTo>
                  <a:lnTo>
                    <a:pt x="3694176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228" r="0" b="-6228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38100"/>
              <a:ext cx="3694176" cy="13182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50"/>
                </a:lnSpc>
              </a:pPr>
              <a:r>
                <a:rPr lang="en-US" sz="1875" b="true">
                  <a:solidFill>
                    <a:srgbClr val="1326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Parse salary text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4361688" y="4937760"/>
            <a:ext cx="2770632" cy="3566160"/>
            <a:chOff x="0" y="0"/>
            <a:chExt cx="3694176" cy="475488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3694176" cy="4754880"/>
            </a:xfrm>
            <a:custGeom>
              <a:avLst/>
              <a:gdLst/>
              <a:ahLst/>
              <a:cxnLst/>
              <a:rect r="r" b="b" t="t" l="l"/>
              <a:pathLst>
                <a:path h="4754880" w="3694176">
                  <a:moveTo>
                    <a:pt x="0" y="0"/>
                  </a:moveTo>
                  <a:lnTo>
                    <a:pt x="3694176" y="0"/>
                  </a:lnTo>
                  <a:lnTo>
                    <a:pt x="3694176" y="4754880"/>
                  </a:lnTo>
                  <a:lnTo>
                    <a:pt x="0" y="47548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15143" t="0" r="-115143" b="0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47625"/>
              <a:ext cx="3694176" cy="48025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73"/>
                </a:lnSpc>
              </a:pPr>
              <a:r>
                <a:rPr lang="en-US" sz="1575">
                  <a:solidFill>
                    <a:srgbClr val="5C727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“RM 2530 - RM 3946” → salary_min, salary_max, salary_average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7571232" y="2606040"/>
            <a:ext cx="3099816" cy="6172200"/>
            <a:chOff x="0" y="0"/>
            <a:chExt cx="4133088" cy="82296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4133088" cy="8229600"/>
            </a:xfrm>
            <a:custGeom>
              <a:avLst/>
              <a:gdLst/>
              <a:ahLst/>
              <a:cxnLst/>
              <a:rect r="r" b="b" t="t" l="l"/>
              <a:pathLst>
                <a:path h="8229600" w="4133088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3986784" y="0"/>
                  </a:lnTo>
                  <a:cubicBezTo>
                    <a:pt x="4067556" y="0"/>
                    <a:pt x="4133088" y="65532"/>
                    <a:pt x="4133088" y="146304"/>
                  </a:cubicBezTo>
                  <a:lnTo>
                    <a:pt x="4133088" y="8083296"/>
                  </a:lnTo>
                  <a:cubicBezTo>
                    <a:pt x="4133088" y="8164068"/>
                    <a:pt x="4067556" y="8229600"/>
                    <a:pt x="3986784" y="8229600"/>
                  </a:cubicBezTo>
                  <a:lnTo>
                    <a:pt x="146304" y="8229600"/>
                  </a:lnTo>
                  <a:cubicBezTo>
                    <a:pt x="65532" y="8229600"/>
                    <a:pt x="0" y="8164068"/>
                    <a:pt x="0" y="8083296"/>
                  </a:cubicBezTo>
                  <a:close/>
                </a:path>
              </a:pathLst>
            </a:custGeom>
            <a:solidFill>
              <a:srgbClr val="F4F8F8"/>
            </a:solid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8737092" y="2948940"/>
            <a:ext cx="768096" cy="768096"/>
            <a:chOff x="0" y="0"/>
            <a:chExt cx="1024128" cy="1024128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024128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24128">
                  <a:moveTo>
                    <a:pt x="0" y="512064"/>
                  </a:moveTo>
                  <a:cubicBezTo>
                    <a:pt x="0" y="229235"/>
                    <a:pt x="229235" y="0"/>
                    <a:pt x="512064" y="0"/>
                  </a:cubicBezTo>
                  <a:cubicBezTo>
                    <a:pt x="794893" y="0"/>
                    <a:pt x="1024128" y="229235"/>
                    <a:pt x="1024128" y="512064"/>
                  </a:cubicBezTo>
                  <a:cubicBezTo>
                    <a:pt x="1024128" y="794893"/>
                    <a:pt x="794893" y="1024128"/>
                    <a:pt x="512064" y="1024128"/>
                  </a:cubicBezTo>
                  <a:cubicBezTo>
                    <a:pt x="229235" y="1024128"/>
                    <a:pt x="0" y="794893"/>
                    <a:pt x="0" y="512064"/>
                  </a:cubicBezTo>
                  <a:close/>
                </a:path>
              </a:pathLst>
            </a:custGeom>
            <a:solidFill>
              <a:srgbClr val="0F7A82"/>
            </a:solid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8737092" y="2948940"/>
            <a:ext cx="768096" cy="768096"/>
            <a:chOff x="0" y="0"/>
            <a:chExt cx="1024128" cy="1024128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024128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24128">
                  <a:moveTo>
                    <a:pt x="0" y="0"/>
                  </a:moveTo>
                  <a:lnTo>
                    <a:pt x="1024128" y="0"/>
                  </a:lnTo>
                  <a:lnTo>
                    <a:pt x="1024128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19050"/>
              <a:ext cx="1024128" cy="10431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40"/>
                </a:lnSpc>
              </a:pPr>
              <a:r>
                <a:rPr lang="en-US" sz="27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3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7735824" y="3977640"/>
            <a:ext cx="2770632" cy="960120"/>
            <a:chOff x="0" y="0"/>
            <a:chExt cx="3694176" cy="128016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3694176" cy="1280160"/>
            </a:xfrm>
            <a:custGeom>
              <a:avLst/>
              <a:gdLst/>
              <a:ahLst/>
              <a:cxnLst/>
              <a:rect r="r" b="b" t="t" l="l"/>
              <a:pathLst>
                <a:path h="1280160" w="3694176">
                  <a:moveTo>
                    <a:pt x="0" y="0"/>
                  </a:moveTo>
                  <a:lnTo>
                    <a:pt x="3694176" y="0"/>
                  </a:lnTo>
                  <a:lnTo>
                    <a:pt x="3694176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228" r="0" b="-6228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38100"/>
              <a:ext cx="3694176" cy="13182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50"/>
                </a:lnSpc>
              </a:pPr>
              <a:r>
                <a:rPr lang="en-US" sz="1875" b="true">
                  <a:solidFill>
                    <a:srgbClr val="1326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Remove duplicates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7735824" y="4937760"/>
            <a:ext cx="2770632" cy="3566160"/>
            <a:chOff x="0" y="0"/>
            <a:chExt cx="3694176" cy="475488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3694176" cy="4754880"/>
            </a:xfrm>
            <a:custGeom>
              <a:avLst/>
              <a:gdLst/>
              <a:ahLst/>
              <a:cxnLst/>
              <a:rect r="r" b="b" t="t" l="l"/>
              <a:pathLst>
                <a:path h="4754880" w="3694176">
                  <a:moveTo>
                    <a:pt x="0" y="0"/>
                  </a:moveTo>
                  <a:lnTo>
                    <a:pt x="3694176" y="0"/>
                  </a:lnTo>
                  <a:lnTo>
                    <a:pt x="3694176" y="4754880"/>
                  </a:lnTo>
                  <a:lnTo>
                    <a:pt x="0" y="47548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15143" t="0" r="-115143" b="0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47625"/>
              <a:ext cx="3694176" cy="48025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73"/>
                </a:lnSpc>
              </a:pPr>
              <a:r>
                <a:rPr lang="en-US" sz="1575">
                  <a:solidFill>
                    <a:srgbClr val="5C727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drop_duplicates() on vacancy_id, keeping first occurrence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10945368" y="2606040"/>
            <a:ext cx="3099816" cy="6172200"/>
            <a:chOff x="0" y="0"/>
            <a:chExt cx="4133088" cy="822960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4133088" cy="8229600"/>
            </a:xfrm>
            <a:custGeom>
              <a:avLst/>
              <a:gdLst/>
              <a:ahLst/>
              <a:cxnLst/>
              <a:rect r="r" b="b" t="t" l="l"/>
              <a:pathLst>
                <a:path h="8229600" w="4133088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3986784" y="0"/>
                  </a:lnTo>
                  <a:cubicBezTo>
                    <a:pt x="4067556" y="0"/>
                    <a:pt x="4133088" y="65532"/>
                    <a:pt x="4133088" y="146304"/>
                  </a:cubicBezTo>
                  <a:lnTo>
                    <a:pt x="4133088" y="8083296"/>
                  </a:lnTo>
                  <a:cubicBezTo>
                    <a:pt x="4133088" y="8164068"/>
                    <a:pt x="4067556" y="8229600"/>
                    <a:pt x="3986784" y="8229600"/>
                  </a:cubicBezTo>
                  <a:lnTo>
                    <a:pt x="146304" y="8229600"/>
                  </a:lnTo>
                  <a:cubicBezTo>
                    <a:pt x="65532" y="8229600"/>
                    <a:pt x="0" y="8164068"/>
                    <a:pt x="0" y="8083296"/>
                  </a:cubicBezTo>
                  <a:close/>
                </a:path>
              </a:pathLst>
            </a:custGeom>
            <a:solidFill>
              <a:srgbClr val="F4F8F8"/>
            </a:solidFill>
          </p:spPr>
        </p:sp>
      </p:grpSp>
      <p:grpSp>
        <p:nvGrpSpPr>
          <p:cNvPr name="Group 49" id="49"/>
          <p:cNvGrpSpPr/>
          <p:nvPr/>
        </p:nvGrpSpPr>
        <p:grpSpPr>
          <a:xfrm rot="0">
            <a:off x="12111228" y="2948940"/>
            <a:ext cx="768096" cy="768096"/>
            <a:chOff x="0" y="0"/>
            <a:chExt cx="1024128" cy="1024128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1024128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24128">
                  <a:moveTo>
                    <a:pt x="0" y="512064"/>
                  </a:moveTo>
                  <a:cubicBezTo>
                    <a:pt x="0" y="229235"/>
                    <a:pt x="229235" y="0"/>
                    <a:pt x="512064" y="0"/>
                  </a:cubicBezTo>
                  <a:cubicBezTo>
                    <a:pt x="794893" y="0"/>
                    <a:pt x="1024128" y="229235"/>
                    <a:pt x="1024128" y="512064"/>
                  </a:cubicBezTo>
                  <a:cubicBezTo>
                    <a:pt x="1024128" y="794893"/>
                    <a:pt x="794893" y="1024128"/>
                    <a:pt x="512064" y="1024128"/>
                  </a:cubicBezTo>
                  <a:cubicBezTo>
                    <a:pt x="229235" y="1024128"/>
                    <a:pt x="0" y="794893"/>
                    <a:pt x="0" y="512064"/>
                  </a:cubicBezTo>
                  <a:close/>
                </a:path>
              </a:pathLst>
            </a:custGeom>
            <a:solidFill>
              <a:srgbClr val="0F7A82"/>
            </a:solidFill>
          </p:spPr>
        </p:sp>
      </p:grpSp>
      <p:grpSp>
        <p:nvGrpSpPr>
          <p:cNvPr name="Group 51" id="51"/>
          <p:cNvGrpSpPr/>
          <p:nvPr/>
        </p:nvGrpSpPr>
        <p:grpSpPr>
          <a:xfrm rot="0">
            <a:off x="12111228" y="2948940"/>
            <a:ext cx="768096" cy="768096"/>
            <a:chOff x="0" y="0"/>
            <a:chExt cx="1024128" cy="1024128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1024128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24128">
                  <a:moveTo>
                    <a:pt x="0" y="0"/>
                  </a:moveTo>
                  <a:lnTo>
                    <a:pt x="1024128" y="0"/>
                  </a:lnTo>
                  <a:lnTo>
                    <a:pt x="1024128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-19050"/>
              <a:ext cx="1024128" cy="10431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40"/>
                </a:lnSpc>
              </a:pPr>
              <a:r>
                <a:rPr lang="en-US" sz="27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4</a:t>
              </a: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11109960" y="3977640"/>
            <a:ext cx="2770632" cy="960120"/>
            <a:chOff x="0" y="0"/>
            <a:chExt cx="3694176" cy="128016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3694176" cy="1280160"/>
            </a:xfrm>
            <a:custGeom>
              <a:avLst/>
              <a:gdLst/>
              <a:ahLst/>
              <a:cxnLst/>
              <a:rect r="r" b="b" t="t" l="l"/>
              <a:pathLst>
                <a:path h="1280160" w="3694176">
                  <a:moveTo>
                    <a:pt x="0" y="0"/>
                  </a:moveTo>
                  <a:lnTo>
                    <a:pt x="3694176" y="0"/>
                  </a:lnTo>
                  <a:lnTo>
                    <a:pt x="3694176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228" r="0" b="-6228"/>
              </a:stretch>
            </a:blipFill>
          </p:spPr>
        </p:sp>
        <p:sp>
          <p:nvSpPr>
            <p:cNvPr name="TextBox 56" id="56"/>
            <p:cNvSpPr txBox="true"/>
            <p:nvPr/>
          </p:nvSpPr>
          <p:spPr>
            <a:xfrm>
              <a:off x="0" y="-38100"/>
              <a:ext cx="3694176" cy="13182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50"/>
                </a:lnSpc>
              </a:pPr>
              <a:r>
                <a:rPr lang="en-US" sz="1875" b="true">
                  <a:solidFill>
                    <a:srgbClr val="1326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Handle missing values</a:t>
              </a:r>
            </a:p>
          </p:txBody>
        </p:sp>
      </p:grpSp>
      <p:grpSp>
        <p:nvGrpSpPr>
          <p:cNvPr name="Group 57" id="57"/>
          <p:cNvGrpSpPr/>
          <p:nvPr/>
        </p:nvGrpSpPr>
        <p:grpSpPr>
          <a:xfrm rot="0">
            <a:off x="11109960" y="4937760"/>
            <a:ext cx="2770632" cy="3566160"/>
            <a:chOff x="0" y="0"/>
            <a:chExt cx="3694176" cy="4754880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3694176" cy="4754880"/>
            </a:xfrm>
            <a:custGeom>
              <a:avLst/>
              <a:gdLst/>
              <a:ahLst/>
              <a:cxnLst/>
              <a:rect r="r" b="b" t="t" l="l"/>
              <a:pathLst>
                <a:path h="4754880" w="3694176">
                  <a:moveTo>
                    <a:pt x="0" y="0"/>
                  </a:moveTo>
                  <a:lnTo>
                    <a:pt x="3694176" y="0"/>
                  </a:lnTo>
                  <a:lnTo>
                    <a:pt x="3694176" y="4754880"/>
                  </a:lnTo>
                  <a:lnTo>
                    <a:pt x="0" y="47548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15143" t="0" r="-115143" b="0"/>
              </a:stretch>
            </a:blipFill>
          </p:spPr>
        </p:sp>
        <p:sp>
          <p:nvSpPr>
            <p:cNvPr name="TextBox 59" id="59"/>
            <p:cNvSpPr txBox="true"/>
            <p:nvPr/>
          </p:nvSpPr>
          <p:spPr>
            <a:xfrm>
              <a:off x="0" y="-47625"/>
              <a:ext cx="3694176" cy="48025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73"/>
                </a:lnSpc>
              </a:pPr>
              <a:r>
                <a:rPr lang="en-US" sz="1575">
                  <a:solidFill>
                    <a:srgbClr val="5C727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Standardize “N/A” to NaN; drop unused employer_name column</a:t>
              </a:r>
            </a:p>
          </p:txBody>
        </p:sp>
      </p:grpSp>
      <p:grpSp>
        <p:nvGrpSpPr>
          <p:cNvPr name="Group 60" id="60"/>
          <p:cNvGrpSpPr/>
          <p:nvPr/>
        </p:nvGrpSpPr>
        <p:grpSpPr>
          <a:xfrm rot="0">
            <a:off x="14319504" y="2606040"/>
            <a:ext cx="3099816" cy="6172200"/>
            <a:chOff x="0" y="0"/>
            <a:chExt cx="4133088" cy="8229600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4133088" cy="8229600"/>
            </a:xfrm>
            <a:custGeom>
              <a:avLst/>
              <a:gdLst/>
              <a:ahLst/>
              <a:cxnLst/>
              <a:rect r="r" b="b" t="t" l="l"/>
              <a:pathLst>
                <a:path h="8229600" w="4133088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3986784" y="0"/>
                  </a:lnTo>
                  <a:cubicBezTo>
                    <a:pt x="4067556" y="0"/>
                    <a:pt x="4133088" y="65532"/>
                    <a:pt x="4133088" y="146304"/>
                  </a:cubicBezTo>
                  <a:lnTo>
                    <a:pt x="4133088" y="8083296"/>
                  </a:lnTo>
                  <a:cubicBezTo>
                    <a:pt x="4133088" y="8164068"/>
                    <a:pt x="4067556" y="8229600"/>
                    <a:pt x="3986784" y="8229600"/>
                  </a:cubicBezTo>
                  <a:lnTo>
                    <a:pt x="146304" y="8229600"/>
                  </a:lnTo>
                  <a:cubicBezTo>
                    <a:pt x="65532" y="8229600"/>
                    <a:pt x="0" y="8164068"/>
                    <a:pt x="0" y="8083296"/>
                  </a:cubicBezTo>
                  <a:close/>
                </a:path>
              </a:pathLst>
            </a:custGeom>
            <a:solidFill>
              <a:srgbClr val="F4F8F8"/>
            </a:solidFill>
          </p:spPr>
        </p:sp>
      </p:grpSp>
      <p:grpSp>
        <p:nvGrpSpPr>
          <p:cNvPr name="Group 62" id="62"/>
          <p:cNvGrpSpPr/>
          <p:nvPr/>
        </p:nvGrpSpPr>
        <p:grpSpPr>
          <a:xfrm rot="0">
            <a:off x="15485364" y="2948940"/>
            <a:ext cx="768096" cy="768096"/>
            <a:chOff x="0" y="0"/>
            <a:chExt cx="1024128" cy="1024128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1024128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24128">
                  <a:moveTo>
                    <a:pt x="0" y="512064"/>
                  </a:moveTo>
                  <a:cubicBezTo>
                    <a:pt x="0" y="229235"/>
                    <a:pt x="229235" y="0"/>
                    <a:pt x="512064" y="0"/>
                  </a:cubicBezTo>
                  <a:cubicBezTo>
                    <a:pt x="794893" y="0"/>
                    <a:pt x="1024128" y="229235"/>
                    <a:pt x="1024128" y="512064"/>
                  </a:cubicBezTo>
                  <a:cubicBezTo>
                    <a:pt x="1024128" y="794893"/>
                    <a:pt x="794893" y="1024128"/>
                    <a:pt x="512064" y="1024128"/>
                  </a:cubicBezTo>
                  <a:cubicBezTo>
                    <a:pt x="229235" y="1024128"/>
                    <a:pt x="0" y="794893"/>
                    <a:pt x="0" y="512064"/>
                  </a:cubicBezTo>
                  <a:close/>
                </a:path>
              </a:pathLst>
            </a:custGeom>
            <a:solidFill>
              <a:srgbClr val="0F7A82"/>
            </a:solidFill>
          </p:spPr>
        </p:sp>
      </p:grpSp>
      <p:grpSp>
        <p:nvGrpSpPr>
          <p:cNvPr name="Group 64" id="64"/>
          <p:cNvGrpSpPr/>
          <p:nvPr/>
        </p:nvGrpSpPr>
        <p:grpSpPr>
          <a:xfrm rot="0">
            <a:off x="15485364" y="2948940"/>
            <a:ext cx="768096" cy="768096"/>
            <a:chOff x="0" y="0"/>
            <a:chExt cx="1024128" cy="1024128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1024128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24128">
                  <a:moveTo>
                    <a:pt x="0" y="0"/>
                  </a:moveTo>
                  <a:lnTo>
                    <a:pt x="1024128" y="0"/>
                  </a:lnTo>
                  <a:lnTo>
                    <a:pt x="1024128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66" id="66"/>
            <p:cNvSpPr txBox="true"/>
            <p:nvPr/>
          </p:nvSpPr>
          <p:spPr>
            <a:xfrm>
              <a:off x="0" y="-19050"/>
              <a:ext cx="1024128" cy="10431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40"/>
                </a:lnSpc>
              </a:pPr>
              <a:r>
                <a:rPr lang="en-US" sz="27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5</a:t>
              </a:r>
            </a:p>
          </p:txBody>
        </p:sp>
      </p:grpSp>
      <p:grpSp>
        <p:nvGrpSpPr>
          <p:cNvPr name="Group 67" id="67"/>
          <p:cNvGrpSpPr/>
          <p:nvPr/>
        </p:nvGrpSpPr>
        <p:grpSpPr>
          <a:xfrm rot="0">
            <a:off x="14484096" y="3977640"/>
            <a:ext cx="2770632" cy="960120"/>
            <a:chOff x="0" y="0"/>
            <a:chExt cx="3694176" cy="1280160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3694176" cy="1280160"/>
            </a:xfrm>
            <a:custGeom>
              <a:avLst/>
              <a:gdLst/>
              <a:ahLst/>
              <a:cxnLst/>
              <a:rect r="r" b="b" t="t" l="l"/>
              <a:pathLst>
                <a:path h="1280160" w="3694176">
                  <a:moveTo>
                    <a:pt x="0" y="0"/>
                  </a:moveTo>
                  <a:lnTo>
                    <a:pt x="3694176" y="0"/>
                  </a:lnTo>
                  <a:lnTo>
                    <a:pt x="3694176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228" r="0" b="-6228"/>
              </a:stretch>
            </a:blipFill>
          </p:spPr>
        </p:sp>
        <p:sp>
          <p:nvSpPr>
            <p:cNvPr name="TextBox 69" id="69"/>
            <p:cNvSpPr txBox="true"/>
            <p:nvPr/>
          </p:nvSpPr>
          <p:spPr>
            <a:xfrm>
              <a:off x="0" y="-38100"/>
              <a:ext cx="3694176" cy="13182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50"/>
                </a:lnSpc>
              </a:pPr>
              <a:r>
                <a:rPr lang="en-US" sz="1875" b="true">
                  <a:solidFill>
                    <a:srgbClr val="1326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Export dataset</a:t>
              </a:r>
            </a:p>
          </p:txBody>
        </p:sp>
      </p:grpSp>
      <p:grpSp>
        <p:nvGrpSpPr>
          <p:cNvPr name="Group 70" id="70"/>
          <p:cNvGrpSpPr/>
          <p:nvPr/>
        </p:nvGrpSpPr>
        <p:grpSpPr>
          <a:xfrm rot="0">
            <a:off x="14484096" y="4937760"/>
            <a:ext cx="2770632" cy="3566160"/>
            <a:chOff x="0" y="0"/>
            <a:chExt cx="3694176" cy="4754880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3694176" cy="4754880"/>
            </a:xfrm>
            <a:custGeom>
              <a:avLst/>
              <a:gdLst/>
              <a:ahLst/>
              <a:cxnLst/>
              <a:rect r="r" b="b" t="t" l="l"/>
              <a:pathLst>
                <a:path h="4754880" w="3694176">
                  <a:moveTo>
                    <a:pt x="0" y="0"/>
                  </a:moveTo>
                  <a:lnTo>
                    <a:pt x="3694176" y="0"/>
                  </a:lnTo>
                  <a:lnTo>
                    <a:pt x="3694176" y="4754880"/>
                  </a:lnTo>
                  <a:lnTo>
                    <a:pt x="0" y="47548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15143" t="0" r="-115143" b="0"/>
              </a:stretch>
            </a:blipFill>
          </p:spPr>
        </p:sp>
        <p:sp>
          <p:nvSpPr>
            <p:cNvPr name="TextBox 72" id="72"/>
            <p:cNvSpPr txBox="true"/>
            <p:nvPr/>
          </p:nvSpPr>
          <p:spPr>
            <a:xfrm>
              <a:off x="0" y="-47625"/>
              <a:ext cx="3694176" cy="48025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73"/>
                </a:lnSpc>
              </a:pPr>
              <a:r>
                <a:rPr lang="en-US" sz="1575">
                  <a:solidFill>
                    <a:srgbClr val="5C727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Final DataFrame written to cleaned_data.csv as the shared benchmark input</a:t>
              </a:r>
            </a:p>
          </p:txBody>
        </p:sp>
      </p:grpSp>
      <p:grpSp>
        <p:nvGrpSpPr>
          <p:cNvPr name="Group 73" id="73"/>
          <p:cNvGrpSpPr/>
          <p:nvPr/>
        </p:nvGrpSpPr>
        <p:grpSpPr>
          <a:xfrm rot="0">
            <a:off x="685800" y="9710928"/>
            <a:ext cx="10972800" cy="411480"/>
            <a:chOff x="0" y="0"/>
            <a:chExt cx="14630400" cy="548640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14630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9601" r="0" b="-469601"/>
              </a:stretch>
            </a:blipFill>
          </p:spPr>
        </p:sp>
        <p:sp>
          <p:nvSpPr>
            <p:cNvPr name="TextBox 75" id="75"/>
            <p:cNvSpPr txBox="true"/>
            <p:nvPr/>
          </p:nvSpPr>
          <p:spPr>
            <a:xfrm>
              <a:off x="0" y="-28575"/>
              <a:ext cx="146304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5C727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Sparkling Sparkmind  |  SECP3133-02 High Performance Data Processing</a:t>
              </a:r>
            </a:p>
          </p:txBody>
        </p:sp>
      </p:grpSp>
      <p:grpSp>
        <p:nvGrpSpPr>
          <p:cNvPr name="Group 76" id="76"/>
          <p:cNvGrpSpPr/>
          <p:nvPr/>
        </p:nvGrpSpPr>
        <p:grpSpPr>
          <a:xfrm rot="0">
            <a:off x="17048988" y="9710928"/>
            <a:ext cx="685800" cy="411480"/>
            <a:chOff x="0" y="0"/>
            <a:chExt cx="914400" cy="548640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78" id="78"/>
            <p:cNvSpPr txBox="true"/>
            <p:nvPr/>
          </p:nvSpPr>
          <p:spPr>
            <a:xfrm>
              <a:off x="0" y="-28575"/>
              <a:ext cx="9144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5C727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6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617220"/>
            <a:ext cx="16459200" cy="1097280"/>
            <a:chOff x="0" y="0"/>
            <a:chExt cx="21945600" cy="14630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9050"/>
              <a:ext cx="21945600" cy="14820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13262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Optimization Techniques Compared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22960" y="1440180"/>
            <a:ext cx="16596360" cy="548640"/>
            <a:chOff x="0" y="0"/>
            <a:chExt cx="22128480" cy="7315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128480" cy="731520"/>
            </a:xfrm>
            <a:custGeom>
              <a:avLst/>
              <a:gdLst/>
              <a:ahLst/>
              <a:cxnLst/>
              <a:rect r="r" b="b" t="t" l="l"/>
              <a:pathLst>
                <a:path h="731520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9422" r="0" b="-539422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2212848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30"/>
                </a:lnSpc>
              </a:pPr>
              <a:r>
                <a:rPr lang="en-US" sz="2025" i="true">
                  <a:solidFill>
                    <a:srgbClr val="5C7278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Same workflow (filter → feature engineering → group-by aggregation) run three different ways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22960" y="2263140"/>
            <a:ext cx="5280660" cy="6652260"/>
            <a:chOff x="0" y="0"/>
            <a:chExt cx="7040880" cy="886968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040880" cy="8869680"/>
            </a:xfrm>
            <a:custGeom>
              <a:avLst/>
              <a:gdLst/>
              <a:ahLst/>
              <a:cxnLst/>
              <a:rect r="r" b="b" t="t" l="l"/>
              <a:pathLst>
                <a:path h="8869680" w="7040880">
                  <a:moveTo>
                    <a:pt x="0" y="164592"/>
                  </a:moveTo>
                  <a:cubicBezTo>
                    <a:pt x="0" y="73660"/>
                    <a:pt x="73660" y="0"/>
                    <a:pt x="164592" y="0"/>
                  </a:cubicBezTo>
                  <a:lnTo>
                    <a:pt x="6876288" y="0"/>
                  </a:lnTo>
                  <a:cubicBezTo>
                    <a:pt x="6967220" y="0"/>
                    <a:pt x="7040880" y="73660"/>
                    <a:pt x="7040880" y="164592"/>
                  </a:cubicBezTo>
                  <a:lnTo>
                    <a:pt x="7040880" y="8705088"/>
                  </a:lnTo>
                  <a:cubicBezTo>
                    <a:pt x="7040880" y="8796020"/>
                    <a:pt x="6967220" y="8869680"/>
                    <a:pt x="6876288" y="8869680"/>
                  </a:cubicBezTo>
                  <a:lnTo>
                    <a:pt x="164592" y="8869680"/>
                  </a:lnTo>
                  <a:cubicBezTo>
                    <a:pt x="73660" y="8869680"/>
                    <a:pt x="0" y="8796020"/>
                    <a:pt x="0" y="8705088"/>
                  </a:cubicBezTo>
                  <a:close/>
                </a:path>
              </a:pathLst>
            </a:custGeom>
            <a:solidFill>
              <a:srgbClr val="F4F8F8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234440" y="2674620"/>
            <a:ext cx="822960" cy="822960"/>
            <a:chOff x="0" y="0"/>
            <a:chExt cx="1097280" cy="109728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972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97280">
                  <a:moveTo>
                    <a:pt x="0" y="548640"/>
                  </a:moveTo>
                  <a:cubicBezTo>
                    <a:pt x="0" y="245618"/>
                    <a:pt x="245618" y="0"/>
                    <a:pt x="548640" y="0"/>
                  </a:cubicBezTo>
                  <a:cubicBezTo>
                    <a:pt x="851662" y="0"/>
                    <a:pt x="1097280" y="245618"/>
                    <a:pt x="1097280" y="548640"/>
                  </a:cubicBezTo>
                  <a:cubicBezTo>
                    <a:pt x="1097280" y="851662"/>
                    <a:pt x="851662" y="1097280"/>
                    <a:pt x="548640" y="1097280"/>
                  </a:cubicBezTo>
                  <a:cubicBezTo>
                    <a:pt x="245618" y="1097280"/>
                    <a:pt x="0" y="851662"/>
                    <a:pt x="0" y="548640"/>
                  </a:cubicBezTo>
                  <a:close/>
                </a:path>
              </a:pathLst>
            </a:custGeom>
            <a:solidFill>
              <a:srgbClr val="0F7A82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333195" y="2773375"/>
            <a:ext cx="625450" cy="625450"/>
            <a:chOff x="0" y="0"/>
            <a:chExt cx="833933" cy="833933"/>
          </a:xfrm>
        </p:grpSpPr>
        <p:sp>
          <p:nvSpPr>
            <p:cNvPr name="Freeform 13" id="13" descr="preencoded.png"/>
            <p:cNvSpPr/>
            <p:nvPr/>
          </p:nvSpPr>
          <p:spPr>
            <a:xfrm flipH="false" flipV="false" rot="0">
              <a:off x="0" y="0"/>
              <a:ext cx="833882" cy="833882"/>
            </a:xfrm>
            <a:custGeom>
              <a:avLst/>
              <a:gdLst/>
              <a:ahLst/>
              <a:cxnLst/>
              <a:rect r="r" b="b" t="t" l="l"/>
              <a:pathLst>
                <a:path h="833882" w="833882">
                  <a:moveTo>
                    <a:pt x="0" y="0"/>
                  </a:moveTo>
                  <a:lnTo>
                    <a:pt x="833882" y="0"/>
                  </a:lnTo>
                  <a:lnTo>
                    <a:pt x="833882" y="833882"/>
                  </a:lnTo>
                  <a:lnTo>
                    <a:pt x="0" y="83388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6" b="-6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234440" y="3703320"/>
            <a:ext cx="4457700" cy="685800"/>
            <a:chOff x="0" y="0"/>
            <a:chExt cx="5943600" cy="9144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5943600" cy="914400"/>
            </a:xfrm>
            <a:custGeom>
              <a:avLst/>
              <a:gdLst/>
              <a:ahLst/>
              <a:cxnLst/>
              <a:rect r="r" b="b" t="t" l="l"/>
              <a:pathLst>
                <a:path h="914400" w="5943600">
                  <a:moveTo>
                    <a:pt x="0" y="0"/>
                  </a:moveTo>
                  <a:lnTo>
                    <a:pt x="5943600" y="0"/>
                  </a:lnTo>
                  <a:lnTo>
                    <a:pt x="59436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6652" r="0" b="-76652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9525"/>
              <a:ext cx="5943600" cy="9239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70"/>
                </a:lnSpc>
              </a:pPr>
              <a:r>
                <a:rPr lang="en-US" sz="2475" b="true">
                  <a:solidFill>
                    <a:srgbClr val="13262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Pandas (Baseline)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234440" y="4389120"/>
            <a:ext cx="4457700" cy="3703320"/>
            <a:chOff x="0" y="0"/>
            <a:chExt cx="5943600" cy="493776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5943600" cy="4937760"/>
            </a:xfrm>
            <a:custGeom>
              <a:avLst/>
              <a:gdLst/>
              <a:ahLst/>
              <a:cxnLst/>
              <a:rect r="r" b="b" t="t" l="l"/>
              <a:pathLst>
                <a:path h="4937760" w="5943600">
                  <a:moveTo>
                    <a:pt x="0" y="0"/>
                  </a:moveTo>
                  <a:lnTo>
                    <a:pt x="5943600" y="0"/>
                  </a:lnTo>
                  <a:lnTo>
                    <a:pt x="5943600" y="4937760"/>
                  </a:lnTo>
                  <a:lnTo>
                    <a:pt x="0" y="49377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6590" t="0" r="-56590" b="0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85725"/>
              <a:ext cx="5943600" cy="50234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5"/>
                </a:lnSpc>
              </a:pPr>
              <a:r>
                <a:rPr lang="en-US" sz="1800">
                  <a:solidFill>
                    <a:srgbClr val="13262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Standard single-threaded pandas: pd.read_csv → boolean-mask filter → groupby().agg(). Ceiling set by single-core speed.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234440" y="8023860"/>
            <a:ext cx="4457700" cy="548640"/>
            <a:chOff x="0" y="0"/>
            <a:chExt cx="5943600" cy="73152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5943600" cy="731520"/>
            </a:xfrm>
            <a:custGeom>
              <a:avLst/>
              <a:gdLst/>
              <a:ahLst/>
              <a:cxnLst/>
              <a:rect r="r" b="b" t="t" l="l"/>
              <a:pathLst>
                <a:path h="731520" w="5943600">
                  <a:moveTo>
                    <a:pt x="0" y="365760"/>
                  </a:moveTo>
                  <a:cubicBezTo>
                    <a:pt x="0" y="163703"/>
                    <a:pt x="163703" y="0"/>
                    <a:pt x="365760" y="0"/>
                  </a:cubicBezTo>
                  <a:lnTo>
                    <a:pt x="5577840" y="0"/>
                  </a:lnTo>
                  <a:cubicBezTo>
                    <a:pt x="5779897" y="0"/>
                    <a:pt x="5943600" y="163703"/>
                    <a:pt x="5943600" y="365760"/>
                  </a:cubicBezTo>
                  <a:cubicBezTo>
                    <a:pt x="5943600" y="567817"/>
                    <a:pt x="5779897" y="731520"/>
                    <a:pt x="5577840" y="731520"/>
                  </a:cubicBezTo>
                  <a:lnTo>
                    <a:pt x="365760" y="731520"/>
                  </a:lnTo>
                  <a:cubicBezTo>
                    <a:pt x="163703" y="731520"/>
                    <a:pt x="0" y="567817"/>
                    <a:pt x="0" y="365760"/>
                  </a:cubicBezTo>
                  <a:close/>
                </a:path>
              </a:pathLst>
            </a:custGeom>
            <a:solidFill>
              <a:srgbClr val="0F7A82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1234440" y="8023860"/>
            <a:ext cx="4457700" cy="548640"/>
            <a:chOff x="0" y="0"/>
            <a:chExt cx="5943600" cy="73152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5943600" cy="731520"/>
            </a:xfrm>
            <a:custGeom>
              <a:avLst/>
              <a:gdLst/>
              <a:ahLst/>
              <a:cxnLst/>
              <a:rect r="r" b="b" t="t" l="l"/>
              <a:pathLst>
                <a:path h="731520" w="5943600">
                  <a:moveTo>
                    <a:pt x="0" y="0"/>
                  </a:moveTo>
                  <a:lnTo>
                    <a:pt x="5943600" y="0"/>
                  </a:lnTo>
                  <a:lnTo>
                    <a:pt x="59436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8315" r="0" b="-108315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28575"/>
              <a:ext cx="5943600" cy="7600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sz="16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Reference point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6487668" y="2263140"/>
            <a:ext cx="5280660" cy="6652260"/>
            <a:chOff x="0" y="0"/>
            <a:chExt cx="7040880" cy="886968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7040880" cy="8869680"/>
            </a:xfrm>
            <a:custGeom>
              <a:avLst/>
              <a:gdLst/>
              <a:ahLst/>
              <a:cxnLst/>
              <a:rect r="r" b="b" t="t" l="l"/>
              <a:pathLst>
                <a:path h="8869680" w="7040880">
                  <a:moveTo>
                    <a:pt x="0" y="164592"/>
                  </a:moveTo>
                  <a:cubicBezTo>
                    <a:pt x="0" y="73660"/>
                    <a:pt x="73660" y="0"/>
                    <a:pt x="164592" y="0"/>
                  </a:cubicBezTo>
                  <a:lnTo>
                    <a:pt x="6876288" y="0"/>
                  </a:lnTo>
                  <a:cubicBezTo>
                    <a:pt x="6967220" y="0"/>
                    <a:pt x="7040880" y="73660"/>
                    <a:pt x="7040880" y="164592"/>
                  </a:cubicBezTo>
                  <a:lnTo>
                    <a:pt x="7040880" y="8705088"/>
                  </a:lnTo>
                  <a:cubicBezTo>
                    <a:pt x="7040880" y="8796020"/>
                    <a:pt x="6967220" y="8869680"/>
                    <a:pt x="6876288" y="8869680"/>
                  </a:cubicBezTo>
                  <a:lnTo>
                    <a:pt x="164592" y="8869680"/>
                  </a:lnTo>
                  <a:cubicBezTo>
                    <a:pt x="73660" y="8869680"/>
                    <a:pt x="0" y="8796020"/>
                    <a:pt x="0" y="8705088"/>
                  </a:cubicBezTo>
                  <a:close/>
                </a:path>
              </a:pathLst>
            </a:custGeom>
            <a:solidFill>
              <a:srgbClr val="F4F8F8"/>
            </a:soli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6899148" y="2674620"/>
            <a:ext cx="822960" cy="822960"/>
            <a:chOff x="0" y="0"/>
            <a:chExt cx="1097280" cy="109728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0972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97280">
                  <a:moveTo>
                    <a:pt x="0" y="548640"/>
                  </a:moveTo>
                  <a:cubicBezTo>
                    <a:pt x="0" y="245618"/>
                    <a:pt x="245618" y="0"/>
                    <a:pt x="548640" y="0"/>
                  </a:cubicBezTo>
                  <a:cubicBezTo>
                    <a:pt x="851662" y="0"/>
                    <a:pt x="1097280" y="245618"/>
                    <a:pt x="1097280" y="548640"/>
                  </a:cubicBezTo>
                  <a:cubicBezTo>
                    <a:pt x="1097280" y="851662"/>
                    <a:pt x="851662" y="1097280"/>
                    <a:pt x="548640" y="1097280"/>
                  </a:cubicBezTo>
                  <a:cubicBezTo>
                    <a:pt x="245618" y="1097280"/>
                    <a:pt x="0" y="851662"/>
                    <a:pt x="0" y="548640"/>
                  </a:cubicBezTo>
                  <a:close/>
                </a:path>
              </a:pathLst>
            </a:custGeom>
            <a:solidFill>
              <a:srgbClr val="0F7A82"/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6997903" y="2773375"/>
            <a:ext cx="625450" cy="625450"/>
            <a:chOff x="0" y="0"/>
            <a:chExt cx="833933" cy="833933"/>
          </a:xfrm>
        </p:grpSpPr>
        <p:sp>
          <p:nvSpPr>
            <p:cNvPr name="Freeform 30" id="30" descr="preencoded.png"/>
            <p:cNvSpPr/>
            <p:nvPr/>
          </p:nvSpPr>
          <p:spPr>
            <a:xfrm flipH="false" flipV="false" rot="0">
              <a:off x="0" y="0"/>
              <a:ext cx="833882" cy="833882"/>
            </a:xfrm>
            <a:custGeom>
              <a:avLst/>
              <a:gdLst/>
              <a:ahLst/>
              <a:cxnLst/>
              <a:rect r="r" b="b" t="t" l="l"/>
              <a:pathLst>
                <a:path h="833882" w="833882">
                  <a:moveTo>
                    <a:pt x="0" y="0"/>
                  </a:moveTo>
                  <a:lnTo>
                    <a:pt x="833882" y="0"/>
                  </a:lnTo>
                  <a:lnTo>
                    <a:pt x="833882" y="833882"/>
                  </a:lnTo>
                  <a:lnTo>
                    <a:pt x="0" y="83388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-6" b="-6"/>
              </a:stretch>
            </a:blip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6899148" y="3703320"/>
            <a:ext cx="4457700" cy="685800"/>
            <a:chOff x="0" y="0"/>
            <a:chExt cx="5943600" cy="91440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5943600" cy="914400"/>
            </a:xfrm>
            <a:custGeom>
              <a:avLst/>
              <a:gdLst/>
              <a:ahLst/>
              <a:cxnLst/>
              <a:rect r="r" b="b" t="t" l="l"/>
              <a:pathLst>
                <a:path h="914400" w="5943600">
                  <a:moveTo>
                    <a:pt x="0" y="0"/>
                  </a:moveTo>
                  <a:lnTo>
                    <a:pt x="5943600" y="0"/>
                  </a:lnTo>
                  <a:lnTo>
                    <a:pt x="59436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6652" r="0" b="-76652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9525"/>
              <a:ext cx="5943600" cy="9239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70"/>
                </a:lnSpc>
              </a:pPr>
              <a:r>
                <a:rPr lang="en-US" sz="2475" b="true">
                  <a:solidFill>
                    <a:srgbClr val="13262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Multiprocessing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6899148" y="4389120"/>
            <a:ext cx="4457700" cy="3703320"/>
            <a:chOff x="0" y="0"/>
            <a:chExt cx="5943600" cy="493776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5943600" cy="4937760"/>
            </a:xfrm>
            <a:custGeom>
              <a:avLst/>
              <a:gdLst/>
              <a:ahLst/>
              <a:cxnLst/>
              <a:rect r="r" b="b" t="t" l="l"/>
              <a:pathLst>
                <a:path h="4937760" w="5943600">
                  <a:moveTo>
                    <a:pt x="0" y="0"/>
                  </a:moveTo>
                  <a:lnTo>
                    <a:pt x="5943600" y="0"/>
                  </a:lnTo>
                  <a:lnTo>
                    <a:pt x="5943600" y="4937760"/>
                  </a:lnTo>
                  <a:lnTo>
                    <a:pt x="0" y="49377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6590" t="0" r="-56590" b="0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85725"/>
              <a:ext cx="5943600" cy="50234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5"/>
                </a:lnSpc>
              </a:pPr>
              <a:r>
                <a:rPr lang="en-US" sz="1800">
                  <a:solidFill>
                    <a:srgbClr val="13262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Joblib (loky backend) splits the DataFrame into chunks across worker processes to bypass Python's GIL. Worker logic externalized to a standalone module to fix a Windows/Colab notebook recursion bug.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6899148" y="8023860"/>
            <a:ext cx="4457700" cy="548640"/>
            <a:chOff x="0" y="0"/>
            <a:chExt cx="5943600" cy="73152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5943600" cy="731520"/>
            </a:xfrm>
            <a:custGeom>
              <a:avLst/>
              <a:gdLst/>
              <a:ahLst/>
              <a:cxnLst/>
              <a:rect r="r" b="b" t="t" l="l"/>
              <a:pathLst>
                <a:path h="731520" w="5943600">
                  <a:moveTo>
                    <a:pt x="0" y="365760"/>
                  </a:moveTo>
                  <a:cubicBezTo>
                    <a:pt x="0" y="163703"/>
                    <a:pt x="163703" y="0"/>
                    <a:pt x="365760" y="0"/>
                  </a:cubicBezTo>
                  <a:lnTo>
                    <a:pt x="5577840" y="0"/>
                  </a:lnTo>
                  <a:cubicBezTo>
                    <a:pt x="5779897" y="0"/>
                    <a:pt x="5943600" y="163703"/>
                    <a:pt x="5943600" y="365760"/>
                  </a:cubicBezTo>
                  <a:cubicBezTo>
                    <a:pt x="5943600" y="567817"/>
                    <a:pt x="5779897" y="731520"/>
                    <a:pt x="5577840" y="731520"/>
                  </a:cubicBezTo>
                  <a:lnTo>
                    <a:pt x="365760" y="731520"/>
                  </a:lnTo>
                  <a:cubicBezTo>
                    <a:pt x="163703" y="731520"/>
                    <a:pt x="0" y="567817"/>
                    <a:pt x="0" y="365760"/>
                  </a:cubicBezTo>
                  <a:close/>
                </a:path>
              </a:pathLst>
            </a:custGeom>
            <a:solidFill>
              <a:srgbClr val="0F7A82"/>
            </a:solidFill>
          </p:spPr>
        </p:sp>
      </p:grpSp>
      <p:grpSp>
        <p:nvGrpSpPr>
          <p:cNvPr name="Group 39" id="39"/>
          <p:cNvGrpSpPr/>
          <p:nvPr/>
        </p:nvGrpSpPr>
        <p:grpSpPr>
          <a:xfrm rot="0">
            <a:off x="6899148" y="8023860"/>
            <a:ext cx="4457700" cy="548640"/>
            <a:chOff x="0" y="0"/>
            <a:chExt cx="5943600" cy="73152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5943600" cy="731520"/>
            </a:xfrm>
            <a:custGeom>
              <a:avLst/>
              <a:gdLst/>
              <a:ahLst/>
              <a:cxnLst/>
              <a:rect r="r" b="b" t="t" l="l"/>
              <a:pathLst>
                <a:path h="731520" w="5943600">
                  <a:moveTo>
                    <a:pt x="0" y="0"/>
                  </a:moveTo>
                  <a:lnTo>
                    <a:pt x="5943600" y="0"/>
                  </a:lnTo>
                  <a:lnTo>
                    <a:pt x="59436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8315" r="0" b="-108315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28575"/>
              <a:ext cx="5943600" cy="7600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sz="16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GIL workaround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12152376" y="2263140"/>
            <a:ext cx="5280660" cy="6652260"/>
            <a:chOff x="0" y="0"/>
            <a:chExt cx="7040880" cy="886968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7040880" cy="8869680"/>
            </a:xfrm>
            <a:custGeom>
              <a:avLst/>
              <a:gdLst/>
              <a:ahLst/>
              <a:cxnLst/>
              <a:rect r="r" b="b" t="t" l="l"/>
              <a:pathLst>
                <a:path h="8869680" w="7040880">
                  <a:moveTo>
                    <a:pt x="0" y="164592"/>
                  </a:moveTo>
                  <a:cubicBezTo>
                    <a:pt x="0" y="73660"/>
                    <a:pt x="73660" y="0"/>
                    <a:pt x="164592" y="0"/>
                  </a:cubicBezTo>
                  <a:lnTo>
                    <a:pt x="6876288" y="0"/>
                  </a:lnTo>
                  <a:cubicBezTo>
                    <a:pt x="6967220" y="0"/>
                    <a:pt x="7040880" y="73660"/>
                    <a:pt x="7040880" y="164592"/>
                  </a:cubicBezTo>
                  <a:lnTo>
                    <a:pt x="7040880" y="8705088"/>
                  </a:lnTo>
                  <a:cubicBezTo>
                    <a:pt x="7040880" y="8796020"/>
                    <a:pt x="6967220" y="8869680"/>
                    <a:pt x="6876288" y="8869680"/>
                  </a:cubicBezTo>
                  <a:lnTo>
                    <a:pt x="164592" y="8869680"/>
                  </a:lnTo>
                  <a:cubicBezTo>
                    <a:pt x="73660" y="8869680"/>
                    <a:pt x="0" y="8796020"/>
                    <a:pt x="0" y="8705088"/>
                  </a:cubicBezTo>
                  <a:close/>
                </a:path>
              </a:pathLst>
            </a:custGeom>
            <a:solidFill>
              <a:srgbClr val="0F7A82"/>
            </a:solid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12563856" y="2674620"/>
            <a:ext cx="822960" cy="822960"/>
            <a:chOff x="0" y="0"/>
            <a:chExt cx="1097280" cy="109728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10972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97280">
                  <a:moveTo>
                    <a:pt x="0" y="548640"/>
                  </a:moveTo>
                  <a:cubicBezTo>
                    <a:pt x="0" y="245618"/>
                    <a:pt x="245618" y="0"/>
                    <a:pt x="548640" y="0"/>
                  </a:cubicBezTo>
                  <a:cubicBezTo>
                    <a:pt x="851662" y="0"/>
                    <a:pt x="1097280" y="245618"/>
                    <a:pt x="1097280" y="548640"/>
                  </a:cubicBezTo>
                  <a:cubicBezTo>
                    <a:pt x="1097280" y="851662"/>
                    <a:pt x="851662" y="1097280"/>
                    <a:pt x="548640" y="1097280"/>
                  </a:cubicBezTo>
                  <a:cubicBezTo>
                    <a:pt x="245618" y="1097280"/>
                    <a:pt x="0" y="851662"/>
                    <a:pt x="0" y="54864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12662611" y="2773375"/>
            <a:ext cx="625450" cy="625450"/>
            <a:chOff x="0" y="0"/>
            <a:chExt cx="833933" cy="833933"/>
          </a:xfrm>
        </p:grpSpPr>
        <p:sp>
          <p:nvSpPr>
            <p:cNvPr name="Freeform 47" id="47" descr="preencoded.png"/>
            <p:cNvSpPr/>
            <p:nvPr/>
          </p:nvSpPr>
          <p:spPr>
            <a:xfrm flipH="false" flipV="false" rot="0">
              <a:off x="0" y="0"/>
              <a:ext cx="833882" cy="833882"/>
            </a:xfrm>
            <a:custGeom>
              <a:avLst/>
              <a:gdLst/>
              <a:ahLst/>
              <a:cxnLst/>
              <a:rect r="r" b="b" t="t" l="l"/>
              <a:pathLst>
                <a:path h="833882" w="833882">
                  <a:moveTo>
                    <a:pt x="0" y="0"/>
                  </a:moveTo>
                  <a:lnTo>
                    <a:pt x="833882" y="0"/>
                  </a:lnTo>
                  <a:lnTo>
                    <a:pt x="833882" y="833882"/>
                  </a:lnTo>
                  <a:lnTo>
                    <a:pt x="0" y="83388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-6" b="-6"/>
              </a:stretch>
            </a:blipFill>
          </p:spPr>
        </p:sp>
      </p:grpSp>
      <p:grpSp>
        <p:nvGrpSpPr>
          <p:cNvPr name="Group 48" id="48"/>
          <p:cNvGrpSpPr/>
          <p:nvPr/>
        </p:nvGrpSpPr>
        <p:grpSpPr>
          <a:xfrm rot="0">
            <a:off x="12563856" y="3703320"/>
            <a:ext cx="4457700" cy="685800"/>
            <a:chOff x="0" y="0"/>
            <a:chExt cx="5943600" cy="91440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5943600" cy="914400"/>
            </a:xfrm>
            <a:custGeom>
              <a:avLst/>
              <a:gdLst/>
              <a:ahLst/>
              <a:cxnLst/>
              <a:rect r="r" b="b" t="t" l="l"/>
              <a:pathLst>
                <a:path h="914400" w="5943600">
                  <a:moveTo>
                    <a:pt x="0" y="0"/>
                  </a:moveTo>
                  <a:lnTo>
                    <a:pt x="5943600" y="0"/>
                  </a:lnTo>
                  <a:lnTo>
                    <a:pt x="59436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6652" r="0" b="-76652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9525"/>
              <a:ext cx="5943600" cy="9239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70"/>
                </a:lnSpc>
              </a:pPr>
              <a:r>
                <a:rPr lang="en-US" sz="2475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Polars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12563856" y="4389120"/>
            <a:ext cx="4457700" cy="3703320"/>
            <a:chOff x="0" y="0"/>
            <a:chExt cx="5943600" cy="493776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5943600" cy="4937760"/>
            </a:xfrm>
            <a:custGeom>
              <a:avLst/>
              <a:gdLst/>
              <a:ahLst/>
              <a:cxnLst/>
              <a:rect r="r" b="b" t="t" l="l"/>
              <a:pathLst>
                <a:path h="4937760" w="5943600">
                  <a:moveTo>
                    <a:pt x="0" y="0"/>
                  </a:moveTo>
                  <a:lnTo>
                    <a:pt x="5943600" y="0"/>
                  </a:lnTo>
                  <a:lnTo>
                    <a:pt x="5943600" y="4937760"/>
                  </a:lnTo>
                  <a:lnTo>
                    <a:pt x="0" y="49377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6590" t="0" r="-56590" b="0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-85725"/>
              <a:ext cx="5943600" cy="50234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5"/>
                </a:lnSpc>
              </a:pPr>
              <a:r>
                <a:rPr lang="en-US" sz="18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Rust-based, lazy-evaluated engine. pl.scan_csv() builds a query plan; .collect() optimizes and auto-parallelizes across cores using Apache Arrow's columnar format.</a:t>
              </a: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12563856" y="8023860"/>
            <a:ext cx="4457700" cy="548640"/>
            <a:chOff x="0" y="0"/>
            <a:chExt cx="5943600" cy="73152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5943600" cy="731520"/>
            </a:xfrm>
            <a:custGeom>
              <a:avLst/>
              <a:gdLst/>
              <a:ahLst/>
              <a:cxnLst/>
              <a:rect r="r" b="b" t="t" l="l"/>
              <a:pathLst>
                <a:path h="731520" w="5943600">
                  <a:moveTo>
                    <a:pt x="0" y="365760"/>
                  </a:moveTo>
                  <a:cubicBezTo>
                    <a:pt x="0" y="163703"/>
                    <a:pt x="163703" y="0"/>
                    <a:pt x="365760" y="0"/>
                  </a:cubicBezTo>
                  <a:lnTo>
                    <a:pt x="5577840" y="0"/>
                  </a:lnTo>
                  <a:cubicBezTo>
                    <a:pt x="5779897" y="0"/>
                    <a:pt x="5943600" y="163703"/>
                    <a:pt x="5943600" y="365760"/>
                  </a:cubicBezTo>
                  <a:cubicBezTo>
                    <a:pt x="5943600" y="567817"/>
                    <a:pt x="5779897" y="731520"/>
                    <a:pt x="5577840" y="731520"/>
                  </a:cubicBezTo>
                  <a:lnTo>
                    <a:pt x="365760" y="731520"/>
                  </a:lnTo>
                  <a:cubicBezTo>
                    <a:pt x="163703" y="731520"/>
                    <a:pt x="0" y="567817"/>
                    <a:pt x="0" y="365760"/>
                  </a:cubicBezTo>
                  <a:close/>
                </a:path>
              </a:pathLst>
            </a:custGeom>
            <a:solidFill>
              <a:srgbClr val="0B2E36"/>
            </a:solidFill>
          </p:spPr>
        </p:sp>
      </p:grpSp>
      <p:grpSp>
        <p:nvGrpSpPr>
          <p:cNvPr name="Group 56" id="56"/>
          <p:cNvGrpSpPr/>
          <p:nvPr/>
        </p:nvGrpSpPr>
        <p:grpSpPr>
          <a:xfrm rot="0">
            <a:off x="12563856" y="8023860"/>
            <a:ext cx="4457700" cy="548640"/>
            <a:chOff x="0" y="0"/>
            <a:chExt cx="5943600" cy="73152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5943600" cy="731520"/>
            </a:xfrm>
            <a:custGeom>
              <a:avLst/>
              <a:gdLst/>
              <a:ahLst/>
              <a:cxnLst/>
              <a:rect r="r" b="b" t="t" l="l"/>
              <a:pathLst>
                <a:path h="731520" w="5943600">
                  <a:moveTo>
                    <a:pt x="0" y="0"/>
                  </a:moveTo>
                  <a:lnTo>
                    <a:pt x="5943600" y="0"/>
                  </a:lnTo>
                  <a:lnTo>
                    <a:pt x="59436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8315" r="0" b="-108315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28575"/>
              <a:ext cx="5943600" cy="7600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sz="16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Best performer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685800" y="9710928"/>
            <a:ext cx="10972800" cy="411480"/>
            <a:chOff x="0" y="0"/>
            <a:chExt cx="14630400" cy="54864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14630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9601" r="0" b="-469601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28575"/>
              <a:ext cx="146304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5C727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Sparkling Sparkmind  |  SECP3133-02 High Performance Data Processing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17048988" y="9710928"/>
            <a:ext cx="685800" cy="411480"/>
            <a:chOff x="0" y="0"/>
            <a:chExt cx="914400" cy="548640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28575"/>
              <a:ext cx="9144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5C727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7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617220"/>
            <a:ext cx="16459200" cy="1097280"/>
            <a:chOff x="0" y="0"/>
            <a:chExt cx="21945600" cy="14630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9050"/>
              <a:ext cx="21945600" cy="14820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13262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Performance Evaluation: The Results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22960" y="1440180"/>
            <a:ext cx="16596360" cy="548640"/>
            <a:chOff x="0" y="0"/>
            <a:chExt cx="22128480" cy="7315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128480" cy="731520"/>
            </a:xfrm>
            <a:custGeom>
              <a:avLst/>
              <a:gdLst/>
              <a:ahLst/>
              <a:cxnLst/>
              <a:rect r="r" b="b" t="t" l="l"/>
              <a:pathLst>
                <a:path h="731520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9422" r="0" b="-539422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2212848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30"/>
                </a:lnSpc>
              </a:pPr>
              <a:r>
                <a:rPr lang="en-US" sz="2025" i="true">
                  <a:solidFill>
                    <a:srgbClr val="5C7278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Averaged over five independent trials on the cleaned dataset (Table 1)</a:t>
              </a:r>
            </a:p>
          </p:txBody>
        </p:sp>
      </p:grpSp>
      <p:pic>
        <p:nvPicPr>
          <p:cNvPr name="Picture 8" id="8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-54864" y="1316736"/>
            <a:ext cx="10533888" cy="6350508"/>
          </a:xfrm>
          <a:prstGeom prst="rect">
            <a:avLst/>
          </a:prstGeom>
        </p:spPr>
      </p:pic>
      <p:graphicFrame>
        <p:nvGraphicFramePr>
          <p:cNvPr name="Table 9" id="9"/>
          <p:cNvGraphicFramePr>
            <a:graphicFrameLocks noGrp="true"/>
          </p:cNvGraphicFramePr>
          <p:nvPr/>
        </p:nvGraphicFramePr>
        <p:xfrm>
          <a:off x="10012680" y="2194560"/>
          <a:ext cx="7391400" cy="4114800"/>
        </p:xfrm>
        <a:graphic>
          <a:graphicData uri="http://schemas.openxmlformats.org/drawingml/2006/table">
            <a:tbl>
              <a:tblPr/>
              <a:tblGrid>
                <a:gridCol w="1847850"/>
                <a:gridCol w="1847850"/>
                <a:gridCol w="1847850"/>
                <a:gridCol w="1847850"/>
              </a:tblGrid>
              <a:tr h="10287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50"/>
                        </a:lnSpc>
                        <a:defRPr/>
                      </a:pPr>
                      <a:r>
                        <a:rPr lang="en-US" sz="1875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Metric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E3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50"/>
                        </a:lnSpc>
                        <a:defRPr/>
                      </a:pPr>
                      <a:r>
                        <a:rPr lang="en-US" sz="1875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Pandas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E3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50"/>
                        </a:lnSpc>
                        <a:defRPr/>
                      </a:pPr>
                      <a:r>
                        <a:rPr lang="en-US" sz="1875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Multiprocessing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E3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50"/>
                        </a:lnSpc>
                        <a:defRPr/>
                      </a:pPr>
                      <a:r>
                        <a:rPr lang="en-US" sz="1875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Polars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E36"/>
                    </a:solidFill>
                  </a:tcPr>
                </a:tc>
              </a:tr>
              <a:tr h="10287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50"/>
                        </a:lnSpc>
                        <a:defRPr/>
                      </a:pPr>
                      <a:r>
                        <a:rPr lang="en-US" sz="1875">
                          <a:solidFill>
                            <a:srgbClr val="13262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Avg Time (s)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50"/>
                        </a:lnSpc>
                        <a:defRPr/>
                      </a:pPr>
                      <a:r>
                        <a:rPr lang="en-US" sz="1875">
                          <a:solidFill>
                            <a:srgbClr val="13262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0.160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50"/>
                        </a:lnSpc>
                        <a:defRPr/>
                      </a:pPr>
                      <a:r>
                        <a:rPr lang="en-US" sz="1875">
                          <a:solidFill>
                            <a:srgbClr val="13262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0.162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50"/>
                        </a:lnSpc>
                        <a:defRPr/>
                      </a:pPr>
                      <a:r>
                        <a:rPr lang="en-US" sz="1875" b="true">
                          <a:solidFill>
                            <a:srgbClr val="0F7A82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0.031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287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50"/>
                        </a:lnSpc>
                        <a:defRPr/>
                      </a:pPr>
                      <a:r>
                        <a:rPr lang="en-US" sz="1875">
                          <a:solidFill>
                            <a:srgbClr val="13262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Avg Memory (MB)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50"/>
                        </a:lnSpc>
                        <a:defRPr/>
                      </a:pPr>
                      <a:r>
                        <a:rPr lang="en-US" sz="1875">
                          <a:solidFill>
                            <a:srgbClr val="13262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3.931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50"/>
                        </a:lnSpc>
                        <a:defRPr/>
                      </a:pPr>
                      <a:r>
                        <a:rPr lang="en-US" sz="1875">
                          <a:solidFill>
                            <a:srgbClr val="13262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6.581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50"/>
                        </a:lnSpc>
                        <a:defRPr/>
                      </a:pPr>
                      <a:r>
                        <a:rPr lang="en-US" sz="1875" b="true">
                          <a:solidFill>
                            <a:srgbClr val="0F7A82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0.193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287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50"/>
                        </a:lnSpc>
                        <a:defRPr/>
                      </a:pPr>
                      <a:r>
                        <a:rPr lang="en-US" sz="1875">
                          <a:solidFill>
                            <a:srgbClr val="13262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Avg CPU (%)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50"/>
                        </a:lnSpc>
                        <a:defRPr/>
                      </a:pPr>
                      <a:r>
                        <a:rPr lang="en-US" sz="1875" b="true">
                          <a:solidFill>
                            <a:srgbClr val="13262A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91.220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50"/>
                        </a:lnSpc>
                        <a:defRPr/>
                      </a:pPr>
                      <a:r>
                        <a:rPr lang="en-US" sz="1875">
                          <a:solidFill>
                            <a:srgbClr val="13262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47.407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50"/>
                        </a:lnSpc>
                        <a:defRPr/>
                      </a:pPr>
                      <a:r>
                        <a:rPr lang="en-US" sz="1875">
                          <a:solidFill>
                            <a:srgbClr val="13262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25.780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pSp>
        <p:nvGrpSpPr>
          <p:cNvPr name="Group 10" id="10"/>
          <p:cNvGrpSpPr/>
          <p:nvPr/>
        </p:nvGrpSpPr>
        <p:grpSpPr>
          <a:xfrm rot="0">
            <a:off x="822960" y="7132320"/>
            <a:ext cx="16596360" cy="2057400"/>
            <a:chOff x="0" y="0"/>
            <a:chExt cx="22128480" cy="27432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2128480" cy="2743200"/>
            </a:xfrm>
            <a:custGeom>
              <a:avLst/>
              <a:gdLst/>
              <a:ahLst/>
              <a:cxnLst/>
              <a:rect r="r" b="b" t="t" l="l"/>
              <a:pathLst>
                <a:path h="2743200" w="2212848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21982176" y="0"/>
                  </a:lnTo>
                  <a:cubicBezTo>
                    <a:pt x="22062948" y="0"/>
                    <a:pt x="22128480" y="65532"/>
                    <a:pt x="22128480" y="146304"/>
                  </a:cubicBezTo>
                  <a:lnTo>
                    <a:pt x="22128480" y="2596896"/>
                  </a:lnTo>
                  <a:cubicBezTo>
                    <a:pt x="22128480" y="2677668"/>
                    <a:pt x="22062948" y="2743200"/>
                    <a:pt x="21982176" y="2743200"/>
                  </a:cubicBezTo>
                  <a:lnTo>
                    <a:pt x="146304" y="2743200"/>
                  </a:lnTo>
                  <a:cubicBezTo>
                    <a:pt x="65532" y="2743200"/>
                    <a:pt x="0" y="2677668"/>
                    <a:pt x="0" y="2596896"/>
                  </a:cubicBezTo>
                  <a:close/>
                </a:path>
              </a:pathLst>
            </a:custGeom>
            <a:solidFill>
              <a:srgbClr val="0B2E36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234440" y="7338060"/>
            <a:ext cx="15773400" cy="754380"/>
            <a:chOff x="0" y="0"/>
            <a:chExt cx="21031200" cy="100584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1031200" cy="1005840"/>
            </a:xfrm>
            <a:custGeom>
              <a:avLst/>
              <a:gdLst/>
              <a:ahLst/>
              <a:cxnLst/>
              <a:rect r="r" b="b" t="t" l="l"/>
              <a:pathLst>
                <a:path h="1005840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57414" r="0" b="-357414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21031200" cy="10439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30"/>
                </a:lnSpc>
              </a:pPr>
              <a:r>
                <a:rPr lang="en-US" sz="2025" b="true">
                  <a:solidFill>
                    <a:srgbClr val="5FB8B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Polars: </a:t>
              </a:r>
              <a:r>
                <a:rPr lang="en-US" sz="2025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5.16× faster and 20.4× more memory-efficient than Pandas, using less CPU while doing more work.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234440" y="8161020"/>
            <a:ext cx="15773400" cy="822960"/>
            <a:chOff x="0" y="0"/>
            <a:chExt cx="21031200" cy="109728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10312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23463" r="0" b="-323463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21031200" cy="11353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30"/>
                </a:lnSpc>
              </a:pPr>
              <a:r>
                <a:rPr lang="en-US" sz="2025" b="true">
                  <a:solidFill>
                    <a:srgbClr val="5FB8B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Multiprocessing: </a:t>
              </a:r>
              <a:r>
                <a:rPr lang="en-US" sz="2025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only 1.25% faster than baseline — process overhead (packing/copying chunks) outweighs the parallelization benefit at this scale.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685800" y="9710928"/>
            <a:ext cx="10972800" cy="411480"/>
            <a:chOff x="0" y="0"/>
            <a:chExt cx="14630400" cy="54864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4630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9601" r="0" b="-469601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28575"/>
              <a:ext cx="146304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5C727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Sparkling Sparkmind  |  SECP3133-02 High Performance Data Processing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7048988" y="9710928"/>
            <a:ext cx="685800" cy="411480"/>
            <a:chOff x="0" y="0"/>
            <a:chExt cx="914400" cy="54864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28575"/>
              <a:ext cx="9144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5C727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8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617220"/>
            <a:ext cx="16459200" cy="1097280"/>
            <a:chOff x="0" y="0"/>
            <a:chExt cx="21945600" cy="14630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9050"/>
              <a:ext cx="21945600" cy="14820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13262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Detailed Findings &amp; Interpretation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22960" y="1851660"/>
            <a:ext cx="8092440" cy="3086100"/>
            <a:chOff x="0" y="0"/>
            <a:chExt cx="10789920" cy="4114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0789920" cy="4114800"/>
            </a:xfrm>
            <a:custGeom>
              <a:avLst/>
              <a:gdLst/>
              <a:ahLst/>
              <a:cxnLst/>
              <a:rect r="r" b="b" t="t" l="l"/>
              <a:pathLst>
                <a:path h="4114800" w="1078992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10643616" y="0"/>
                  </a:lnTo>
                  <a:cubicBezTo>
                    <a:pt x="10724388" y="0"/>
                    <a:pt x="10789920" y="65532"/>
                    <a:pt x="10789920" y="146304"/>
                  </a:cubicBezTo>
                  <a:lnTo>
                    <a:pt x="10789920" y="3968496"/>
                  </a:lnTo>
                  <a:cubicBezTo>
                    <a:pt x="10789920" y="4049268"/>
                    <a:pt x="10724388" y="4114800"/>
                    <a:pt x="10643616" y="4114800"/>
                  </a:cubicBezTo>
                  <a:lnTo>
                    <a:pt x="146304" y="4114800"/>
                  </a:lnTo>
                  <a:cubicBezTo>
                    <a:pt x="65532" y="4114800"/>
                    <a:pt x="0" y="4049268"/>
                    <a:pt x="0" y="3968496"/>
                  </a:cubicBezTo>
                  <a:close/>
                </a:path>
              </a:pathLst>
            </a:custGeom>
            <a:solidFill>
              <a:srgbClr val="F4F8F8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1165860" y="2194560"/>
            <a:ext cx="754380" cy="754380"/>
            <a:chOff x="0" y="0"/>
            <a:chExt cx="1005840" cy="100584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00584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005840">
                  <a:moveTo>
                    <a:pt x="0" y="502920"/>
                  </a:moveTo>
                  <a:cubicBezTo>
                    <a:pt x="0" y="225171"/>
                    <a:pt x="225171" y="0"/>
                    <a:pt x="502920" y="0"/>
                  </a:cubicBezTo>
                  <a:cubicBezTo>
                    <a:pt x="780669" y="0"/>
                    <a:pt x="1005840" y="225171"/>
                    <a:pt x="1005840" y="502920"/>
                  </a:cubicBezTo>
                  <a:cubicBezTo>
                    <a:pt x="1005840" y="780669"/>
                    <a:pt x="780669" y="1005840"/>
                    <a:pt x="502920" y="1005840"/>
                  </a:cubicBezTo>
                  <a:cubicBezTo>
                    <a:pt x="225171" y="1005840"/>
                    <a:pt x="0" y="780669"/>
                    <a:pt x="0" y="502920"/>
                  </a:cubicBezTo>
                  <a:close/>
                </a:path>
              </a:pathLst>
            </a:custGeom>
            <a:solidFill>
              <a:srgbClr val="0F7A82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1256386" y="2285086"/>
            <a:ext cx="573329" cy="573329"/>
            <a:chOff x="0" y="0"/>
            <a:chExt cx="764438" cy="764438"/>
          </a:xfrm>
        </p:grpSpPr>
        <p:sp>
          <p:nvSpPr>
            <p:cNvPr name="Freeform 10" id="10" descr="preencoded.png"/>
            <p:cNvSpPr/>
            <p:nvPr/>
          </p:nvSpPr>
          <p:spPr>
            <a:xfrm flipH="false" flipV="false" rot="0">
              <a:off x="0" y="0"/>
              <a:ext cx="764413" cy="764413"/>
            </a:xfrm>
            <a:custGeom>
              <a:avLst/>
              <a:gdLst/>
              <a:ahLst/>
              <a:cxnLst/>
              <a:rect r="r" b="b" t="t" l="l"/>
              <a:pathLst>
                <a:path h="764413" w="764413">
                  <a:moveTo>
                    <a:pt x="0" y="0"/>
                  </a:moveTo>
                  <a:lnTo>
                    <a:pt x="764413" y="0"/>
                  </a:lnTo>
                  <a:lnTo>
                    <a:pt x="764413" y="764413"/>
                  </a:lnTo>
                  <a:lnTo>
                    <a:pt x="0" y="76441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3" b="-3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2125980" y="2153412"/>
            <a:ext cx="6446520" cy="822960"/>
            <a:chOff x="0" y="0"/>
            <a:chExt cx="8595360" cy="109728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595360" cy="1097280"/>
            </a:xfrm>
            <a:custGeom>
              <a:avLst/>
              <a:gdLst/>
              <a:ahLst/>
              <a:cxnLst/>
              <a:rect r="r" b="b" t="t" l="l"/>
              <a:pathLst>
                <a:path h="1097280" w="8595360">
                  <a:moveTo>
                    <a:pt x="0" y="0"/>
                  </a:moveTo>
                  <a:lnTo>
                    <a:pt x="8595360" y="0"/>
                  </a:lnTo>
                  <a:lnTo>
                    <a:pt x="859536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2632" r="0" b="-102632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19050"/>
              <a:ext cx="8595360" cy="11163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 b="true">
                  <a:solidFill>
                    <a:srgbClr val="13262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Execution Speed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165860" y="3154680"/>
            <a:ext cx="7406640" cy="1645920"/>
            <a:chOff x="0" y="0"/>
            <a:chExt cx="9875520" cy="219456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9875520" cy="2194560"/>
            </a:xfrm>
            <a:custGeom>
              <a:avLst/>
              <a:gdLst/>
              <a:ahLst/>
              <a:cxnLst/>
              <a:rect r="r" b="b" t="t" l="l"/>
              <a:pathLst>
                <a:path h="2194560" w="9875520">
                  <a:moveTo>
                    <a:pt x="0" y="0"/>
                  </a:moveTo>
                  <a:lnTo>
                    <a:pt x="9875520" y="0"/>
                  </a:lnTo>
                  <a:lnTo>
                    <a:pt x="987552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7682" r="0" b="-37682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76200"/>
              <a:ext cx="9875520" cy="22707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84"/>
                </a:lnSpc>
              </a:pPr>
              <a:r>
                <a:rPr lang="en-US" sz="1725">
                  <a:solidFill>
                    <a:srgbClr val="5C727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Polars: 0.031s (5.16× faster). Multiprocessing overhead outweighs parallel benefit at ~112K rows — hardware parallelism only pays off at much larger scale.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9326880" y="1851660"/>
            <a:ext cx="8092440" cy="3086100"/>
            <a:chOff x="0" y="0"/>
            <a:chExt cx="10789920" cy="4114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0789920" cy="4114800"/>
            </a:xfrm>
            <a:custGeom>
              <a:avLst/>
              <a:gdLst/>
              <a:ahLst/>
              <a:cxnLst/>
              <a:rect r="r" b="b" t="t" l="l"/>
              <a:pathLst>
                <a:path h="4114800" w="1078992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10643616" y="0"/>
                  </a:lnTo>
                  <a:cubicBezTo>
                    <a:pt x="10724388" y="0"/>
                    <a:pt x="10789920" y="65532"/>
                    <a:pt x="10789920" y="146304"/>
                  </a:cubicBezTo>
                  <a:lnTo>
                    <a:pt x="10789920" y="3968496"/>
                  </a:lnTo>
                  <a:cubicBezTo>
                    <a:pt x="10789920" y="4049268"/>
                    <a:pt x="10724388" y="4114800"/>
                    <a:pt x="10643616" y="4114800"/>
                  </a:cubicBezTo>
                  <a:lnTo>
                    <a:pt x="146304" y="4114800"/>
                  </a:lnTo>
                  <a:cubicBezTo>
                    <a:pt x="65532" y="4114800"/>
                    <a:pt x="0" y="4049268"/>
                    <a:pt x="0" y="3968496"/>
                  </a:cubicBezTo>
                  <a:close/>
                </a:path>
              </a:pathLst>
            </a:custGeom>
            <a:solidFill>
              <a:srgbClr val="F4F8F8"/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9669780" y="2194560"/>
            <a:ext cx="754380" cy="754380"/>
            <a:chOff x="0" y="0"/>
            <a:chExt cx="1005840" cy="100584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00584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005840">
                  <a:moveTo>
                    <a:pt x="0" y="502920"/>
                  </a:moveTo>
                  <a:cubicBezTo>
                    <a:pt x="0" y="225171"/>
                    <a:pt x="225171" y="0"/>
                    <a:pt x="502920" y="0"/>
                  </a:cubicBezTo>
                  <a:cubicBezTo>
                    <a:pt x="780669" y="0"/>
                    <a:pt x="1005840" y="225171"/>
                    <a:pt x="1005840" y="502920"/>
                  </a:cubicBezTo>
                  <a:cubicBezTo>
                    <a:pt x="1005840" y="780669"/>
                    <a:pt x="780669" y="1005840"/>
                    <a:pt x="502920" y="1005840"/>
                  </a:cubicBezTo>
                  <a:cubicBezTo>
                    <a:pt x="225171" y="1005840"/>
                    <a:pt x="0" y="780669"/>
                    <a:pt x="0" y="502920"/>
                  </a:cubicBezTo>
                  <a:close/>
                </a:path>
              </a:pathLst>
            </a:custGeom>
            <a:solidFill>
              <a:srgbClr val="0F7A82"/>
            </a:solid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9760306" y="2285086"/>
            <a:ext cx="573329" cy="573329"/>
            <a:chOff x="0" y="0"/>
            <a:chExt cx="764438" cy="764438"/>
          </a:xfrm>
        </p:grpSpPr>
        <p:sp>
          <p:nvSpPr>
            <p:cNvPr name="Freeform 22" id="22" descr="preencoded.png"/>
            <p:cNvSpPr/>
            <p:nvPr/>
          </p:nvSpPr>
          <p:spPr>
            <a:xfrm flipH="false" flipV="false" rot="0">
              <a:off x="0" y="0"/>
              <a:ext cx="764413" cy="764413"/>
            </a:xfrm>
            <a:custGeom>
              <a:avLst/>
              <a:gdLst/>
              <a:ahLst/>
              <a:cxnLst/>
              <a:rect r="r" b="b" t="t" l="l"/>
              <a:pathLst>
                <a:path h="764413" w="764413">
                  <a:moveTo>
                    <a:pt x="0" y="0"/>
                  </a:moveTo>
                  <a:lnTo>
                    <a:pt x="764413" y="0"/>
                  </a:lnTo>
                  <a:lnTo>
                    <a:pt x="764413" y="764413"/>
                  </a:lnTo>
                  <a:lnTo>
                    <a:pt x="0" y="76441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-3" b="-3"/>
              </a:stretch>
            </a:blip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10629900" y="2153412"/>
            <a:ext cx="6446520" cy="822960"/>
            <a:chOff x="0" y="0"/>
            <a:chExt cx="8595360" cy="109728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595360" cy="1097280"/>
            </a:xfrm>
            <a:custGeom>
              <a:avLst/>
              <a:gdLst/>
              <a:ahLst/>
              <a:cxnLst/>
              <a:rect r="r" b="b" t="t" l="l"/>
              <a:pathLst>
                <a:path h="1097280" w="8595360">
                  <a:moveTo>
                    <a:pt x="0" y="0"/>
                  </a:moveTo>
                  <a:lnTo>
                    <a:pt x="8595360" y="0"/>
                  </a:lnTo>
                  <a:lnTo>
                    <a:pt x="859536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2632" r="0" b="-102632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19050"/>
              <a:ext cx="8595360" cy="11163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 b="true">
                  <a:solidFill>
                    <a:srgbClr val="13262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Memory Efficiency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9669780" y="3154680"/>
            <a:ext cx="7406640" cy="1645920"/>
            <a:chOff x="0" y="0"/>
            <a:chExt cx="9875520" cy="219456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9875520" cy="2194560"/>
            </a:xfrm>
            <a:custGeom>
              <a:avLst/>
              <a:gdLst/>
              <a:ahLst/>
              <a:cxnLst/>
              <a:rect r="r" b="b" t="t" l="l"/>
              <a:pathLst>
                <a:path h="2194560" w="9875520">
                  <a:moveTo>
                    <a:pt x="0" y="0"/>
                  </a:moveTo>
                  <a:lnTo>
                    <a:pt x="9875520" y="0"/>
                  </a:lnTo>
                  <a:lnTo>
                    <a:pt x="987552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7682" r="0" b="-37682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76200"/>
              <a:ext cx="9875520" cy="22707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84"/>
                </a:lnSpc>
              </a:pPr>
              <a:r>
                <a:rPr lang="en-US" sz="1725">
                  <a:solidFill>
                    <a:srgbClr val="5C727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Polars uses 20.4× less memory via lazy evaluation (filters before materializing). Multiprocessing uses more than Pandas — 16 workers replicate data across separate memory spaces.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822960" y="5280660"/>
            <a:ext cx="8092440" cy="3086100"/>
            <a:chOff x="0" y="0"/>
            <a:chExt cx="10789920" cy="41148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0789920" cy="4114800"/>
            </a:xfrm>
            <a:custGeom>
              <a:avLst/>
              <a:gdLst/>
              <a:ahLst/>
              <a:cxnLst/>
              <a:rect r="r" b="b" t="t" l="l"/>
              <a:pathLst>
                <a:path h="4114800" w="1078992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10643616" y="0"/>
                  </a:lnTo>
                  <a:cubicBezTo>
                    <a:pt x="10724388" y="0"/>
                    <a:pt x="10789920" y="65532"/>
                    <a:pt x="10789920" y="146304"/>
                  </a:cubicBezTo>
                  <a:lnTo>
                    <a:pt x="10789920" y="3968496"/>
                  </a:lnTo>
                  <a:cubicBezTo>
                    <a:pt x="10789920" y="4049268"/>
                    <a:pt x="10724388" y="4114800"/>
                    <a:pt x="10643616" y="4114800"/>
                  </a:cubicBezTo>
                  <a:lnTo>
                    <a:pt x="146304" y="4114800"/>
                  </a:lnTo>
                  <a:cubicBezTo>
                    <a:pt x="65532" y="4114800"/>
                    <a:pt x="0" y="4049268"/>
                    <a:pt x="0" y="3968496"/>
                  </a:cubicBezTo>
                  <a:close/>
                </a:path>
              </a:pathLst>
            </a:custGeom>
            <a:solidFill>
              <a:srgbClr val="F4F8F8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1165860" y="5623560"/>
            <a:ext cx="754380" cy="754380"/>
            <a:chOff x="0" y="0"/>
            <a:chExt cx="1005840" cy="100584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00584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005840">
                  <a:moveTo>
                    <a:pt x="0" y="502920"/>
                  </a:moveTo>
                  <a:cubicBezTo>
                    <a:pt x="0" y="225171"/>
                    <a:pt x="225171" y="0"/>
                    <a:pt x="502920" y="0"/>
                  </a:cubicBezTo>
                  <a:cubicBezTo>
                    <a:pt x="780669" y="0"/>
                    <a:pt x="1005840" y="225171"/>
                    <a:pt x="1005840" y="502920"/>
                  </a:cubicBezTo>
                  <a:cubicBezTo>
                    <a:pt x="1005840" y="780669"/>
                    <a:pt x="780669" y="1005840"/>
                    <a:pt x="502920" y="1005840"/>
                  </a:cubicBezTo>
                  <a:cubicBezTo>
                    <a:pt x="225171" y="1005840"/>
                    <a:pt x="0" y="780669"/>
                    <a:pt x="0" y="502920"/>
                  </a:cubicBezTo>
                  <a:close/>
                </a:path>
              </a:pathLst>
            </a:custGeom>
            <a:solidFill>
              <a:srgbClr val="0F7A82"/>
            </a:solid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1256386" y="5714086"/>
            <a:ext cx="573329" cy="573329"/>
            <a:chOff x="0" y="0"/>
            <a:chExt cx="764438" cy="764438"/>
          </a:xfrm>
        </p:grpSpPr>
        <p:sp>
          <p:nvSpPr>
            <p:cNvPr name="Freeform 34" id="34" descr="preencoded.png"/>
            <p:cNvSpPr/>
            <p:nvPr/>
          </p:nvSpPr>
          <p:spPr>
            <a:xfrm flipH="false" flipV="false" rot="0">
              <a:off x="0" y="0"/>
              <a:ext cx="764413" cy="764413"/>
            </a:xfrm>
            <a:custGeom>
              <a:avLst/>
              <a:gdLst/>
              <a:ahLst/>
              <a:cxnLst/>
              <a:rect r="r" b="b" t="t" l="l"/>
              <a:pathLst>
                <a:path h="764413" w="764413">
                  <a:moveTo>
                    <a:pt x="0" y="0"/>
                  </a:moveTo>
                  <a:lnTo>
                    <a:pt x="764413" y="0"/>
                  </a:lnTo>
                  <a:lnTo>
                    <a:pt x="764413" y="764413"/>
                  </a:lnTo>
                  <a:lnTo>
                    <a:pt x="0" y="76441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-3" b="-3"/>
              </a:stretch>
            </a:blip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2125980" y="5582412"/>
            <a:ext cx="6446520" cy="822960"/>
            <a:chOff x="0" y="0"/>
            <a:chExt cx="8595360" cy="109728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8595360" cy="1097280"/>
            </a:xfrm>
            <a:custGeom>
              <a:avLst/>
              <a:gdLst/>
              <a:ahLst/>
              <a:cxnLst/>
              <a:rect r="r" b="b" t="t" l="l"/>
              <a:pathLst>
                <a:path h="1097280" w="8595360">
                  <a:moveTo>
                    <a:pt x="0" y="0"/>
                  </a:moveTo>
                  <a:lnTo>
                    <a:pt x="8595360" y="0"/>
                  </a:lnTo>
                  <a:lnTo>
                    <a:pt x="859536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2632" r="0" b="-102632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19050"/>
              <a:ext cx="8595360" cy="11163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 b="true">
                  <a:solidFill>
                    <a:srgbClr val="13262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CPU Utilization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1165860" y="6583680"/>
            <a:ext cx="7406640" cy="1645920"/>
            <a:chOff x="0" y="0"/>
            <a:chExt cx="9875520" cy="219456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9875520" cy="2194560"/>
            </a:xfrm>
            <a:custGeom>
              <a:avLst/>
              <a:gdLst/>
              <a:ahLst/>
              <a:cxnLst/>
              <a:rect r="r" b="b" t="t" l="l"/>
              <a:pathLst>
                <a:path h="2194560" w="9875520">
                  <a:moveTo>
                    <a:pt x="0" y="0"/>
                  </a:moveTo>
                  <a:lnTo>
                    <a:pt x="9875520" y="0"/>
                  </a:lnTo>
                  <a:lnTo>
                    <a:pt x="987552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7682" r="0" b="-37682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76200"/>
              <a:ext cx="9875520" cy="22707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84"/>
                </a:lnSpc>
              </a:pPr>
              <a:r>
                <a:rPr lang="en-US" sz="1725">
                  <a:solidFill>
                    <a:srgbClr val="5C727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Pandas hits 91.2% CPU (compute-bound). Polars needs only 25.8% CPU to do more work — algorithmic optimization beats raw processor power.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9326880" y="5280660"/>
            <a:ext cx="8092440" cy="3086100"/>
            <a:chOff x="0" y="0"/>
            <a:chExt cx="10789920" cy="411480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10789920" cy="4114800"/>
            </a:xfrm>
            <a:custGeom>
              <a:avLst/>
              <a:gdLst/>
              <a:ahLst/>
              <a:cxnLst/>
              <a:rect r="r" b="b" t="t" l="l"/>
              <a:pathLst>
                <a:path h="4114800" w="1078992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10643616" y="0"/>
                  </a:lnTo>
                  <a:cubicBezTo>
                    <a:pt x="10724388" y="0"/>
                    <a:pt x="10789920" y="65532"/>
                    <a:pt x="10789920" y="146304"/>
                  </a:cubicBezTo>
                  <a:lnTo>
                    <a:pt x="10789920" y="3968496"/>
                  </a:lnTo>
                  <a:cubicBezTo>
                    <a:pt x="10789920" y="4049268"/>
                    <a:pt x="10724388" y="4114800"/>
                    <a:pt x="10643616" y="4114800"/>
                  </a:cubicBezTo>
                  <a:lnTo>
                    <a:pt x="146304" y="4114800"/>
                  </a:lnTo>
                  <a:cubicBezTo>
                    <a:pt x="65532" y="4114800"/>
                    <a:pt x="0" y="4049268"/>
                    <a:pt x="0" y="3968496"/>
                  </a:cubicBezTo>
                  <a:close/>
                </a:path>
              </a:pathLst>
            </a:custGeom>
            <a:solidFill>
              <a:srgbClr val="F4F8F8"/>
            </a:solidFill>
          </p:spPr>
        </p:sp>
      </p:grpSp>
      <p:grpSp>
        <p:nvGrpSpPr>
          <p:cNvPr name="Group 43" id="43"/>
          <p:cNvGrpSpPr/>
          <p:nvPr/>
        </p:nvGrpSpPr>
        <p:grpSpPr>
          <a:xfrm rot="0">
            <a:off x="9669780" y="5623560"/>
            <a:ext cx="754380" cy="754380"/>
            <a:chOff x="0" y="0"/>
            <a:chExt cx="1005840" cy="100584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100584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005840">
                  <a:moveTo>
                    <a:pt x="0" y="502920"/>
                  </a:moveTo>
                  <a:cubicBezTo>
                    <a:pt x="0" y="225171"/>
                    <a:pt x="225171" y="0"/>
                    <a:pt x="502920" y="0"/>
                  </a:cubicBezTo>
                  <a:cubicBezTo>
                    <a:pt x="780669" y="0"/>
                    <a:pt x="1005840" y="225171"/>
                    <a:pt x="1005840" y="502920"/>
                  </a:cubicBezTo>
                  <a:cubicBezTo>
                    <a:pt x="1005840" y="780669"/>
                    <a:pt x="780669" y="1005840"/>
                    <a:pt x="502920" y="1005840"/>
                  </a:cubicBezTo>
                  <a:cubicBezTo>
                    <a:pt x="225171" y="1005840"/>
                    <a:pt x="0" y="780669"/>
                    <a:pt x="0" y="502920"/>
                  </a:cubicBezTo>
                  <a:close/>
                </a:path>
              </a:pathLst>
            </a:custGeom>
            <a:solidFill>
              <a:srgbClr val="0F7A82"/>
            </a:solidFill>
          </p:spPr>
        </p:sp>
      </p:grpSp>
      <p:grpSp>
        <p:nvGrpSpPr>
          <p:cNvPr name="Group 45" id="45"/>
          <p:cNvGrpSpPr/>
          <p:nvPr/>
        </p:nvGrpSpPr>
        <p:grpSpPr>
          <a:xfrm rot="0">
            <a:off x="9760306" y="5714086"/>
            <a:ext cx="573329" cy="573329"/>
            <a:chOff x="0" y="0"/>
            <a:chExt cx="764438" cy="764438"/>
          </a:xfrm>
        </p:grpSpPr>
        <p:sp>
          <p:nvSpPr>
            <p:cNvPr name="Freeform 46" id="46" descr="preencoded.png"/>
            <p:cNvSpPr/>
            <p:nvPr/>
          </p:nvSpPr>
          <p:spPr>
            <a:xfrm flipH="false" flipV="false" rot="0">
              <a:off x="0" y="0"/>
              <a:ext cx="764413" cy="764413"/>
            </a:xfrm>
            <a:custGeom>
              <a:avLst/>
              <a:gdLst/>
              <a:ahLst/>
              <a:cxnLst/>
              <a:rect r="r" b="b" t="t" l="l"/>
              <a:pathLst>
                <a:path h="764413" w="764413">
                  <a:moveTo>
                    <a:pt x="0" y="0"/>
                  </a:moveTo>
                  <a:lnTo>
                    <a:pt x="764413" y="0"/>
                  </a:lnTo>
                  <a:lnTo>
                    <a:pt x="764413" y="764413"/>
                  </a:lnTo>
                  <a:lnTo>
                    <a:pt x="0" y="76441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-3" b="-3"/>
              </a:stretch>
            </a:blip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10629900" y="5582412"/>
            <a:ext cx="6446520" cy="822960"/>
            <a:chOff x="0" y="0"/>
            <a:chExt cx="8595360" cy="109728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8595360" cy="1097280"/>
            </a:xfrm>
            <a:custGeom>
              <a:avLst/>
              <a:gdLst/>
              <a:ahLst/>
              <a:cxnLst/>
              <a:rect r="r" b="b" t="t" l="l"/>
              <a:pathLst>
                <a:path h="1097280" w="8595360">
                  <a:moveTo>
                    <a:pt x="0" y="0"/>
                  </a:moveTo>
                  <a:lnTo>
                    <a:pt x="8595360" y="0"/>
                  </a:lnTo>
                  <a:lnTo>
                    <a:pt x="859536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2632" r="0" b="-102632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19050"/>
              <a:ext cx="8595360" cy="11163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 b="true">
                  <a:solidFill>
                    <a:srgbClr val="13262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Throughput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9669780" y="6583680"/>
            <a:ext cx="7406640" cy="1645920"/>
            <a:chOff x="0" y="0"/>
            <a:chExt cx="9875520" cy="219456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9875520" cy="2194560"/>
            </a:xfrm>
            <a:custGeom>
              <a:avLst/>
              <a:gdLst/>
              <a:ahLst/>
              <a:cxnLst/>
              <a:rect r="r" b="b" t="t" l="l"/>
              <a:pathLst>
                <a:path h="2194560" w="9875520">
                  <a:moveTo>
                    <a:pt x="0" y="0"/>
                  </a:moveTo>
                  <a:lnTo>
                    <a:pt x="9875520" y="0"/>
                  </a:lnTo>
                  <a:lnTo>
                    <a:pt x="987552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7682" r="0" b="-37682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76200"/>
              <a:ext cx="9875520" cy="22707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84"/>
                </a:lnSpc>
              </a:pPr>
              <a:r>
                <a:rPr lang="en-US" sz="1725">
                  <a:solidFill>
                    <a:srgbClr val="5C727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Polars: 223,653 jobs/s vs Pandas' 43,395 and Multiprocessing's 44,723 — confirming minimal benefit from parallel workers at this dataset scale.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685800" y="9710928"/>
            <a:ext cx="10972800" cy="411480"/>
            <a:chOff x="0" y="0"/>
            <a:chExt cx="14630400" cy="54864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14630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9601" r="0" b="-469601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28575"/>
              <a:ext cx="146304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5C727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Sparkling Sparkmind  |  SECP3133-02 High Performance Data Processing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17048988" y="9710928"/>
            <a:ext cx="685800" cy="411480"/>
            <a:chOff x="0" y="0"/>
            <a:chExt cx="914400" cy="54864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28575"/>
              <a:ext cx="9144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5C727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9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617220"/>
            <a:ext cx="16459200" cy="1097280"/>
            <a:chOff x="0" y="0"/>
            <a:chExt cx="21945600" cy="14630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9050"/>
              <a:ext cx="21945600" cy="14820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13262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Challenges &amp; Limitations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22960" y="2057400"/>
            <a:ext cx="5280660" cy="6858000"/>
            <a:chOff x="0" y="0"/>
            <a:chExt cx="7040880" cy="9144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7040880" cy="9144000"/>
            </a:xfrm>
            <a:custGeom>
              <a:avLst/>
              <a:gdLst/>
              <a:ahLst/>
              <a:cxnLst/>
              <a:rect r="r" b="b" t="t" l="l"/>
              <a:pathLst>
                <a:path h="9144000" w="7040880">
                  <a:moveTo>
                    <a:pt x="0" y="164592"/>
                  </a:moveTo>
                  <a:cubicBezTo>
                    <a:pt x="0" y="73660"/>
                    <a:pt x="73660" y="0"/>
                    <a:pt x="164592" y="0"/>
                  </a:cubicBezTo>
                  <a:lnTo>
                    <a:pt x="6876288" y="0"/>
                  </a:lnTo>
                  <a:cubicBezTo>
                    <a:pt x="6967220" y="0"/>
                    <a:pt x="7040880" y="73660"/>
                    <a:pt x="7040880" y="164592"/>
                  </a:cubicBezTo>
                  <a:lnTo>
                    <a:pt x="7040880" y="8979408"/>
                  </a:lnTo>
                  <a:cubicBezTo>
                    <a:pt x="7040880" y="9070339"/>
                    <a:pt x="6967220" y="9144000"/>
                    <a:pt x="6876288" y="9144000"/>
                  </a:cubicBezTo>
                  <a:lnTo>
                    <a:pt x="164592" y="9144000"/>
                  </a:lnTo>
                  <a:cubicBezTo>
                    <a:pt x="73660" y="9144000"/>
                    <a:pt x="0" y="9070340"/>
                    <a:pt x="0" y="8979408"/>
                  </a:cubicBezTo>
                  <a:close/>
                </a:path>
              </a:pathLst>
            </a:custGeom>
            <a:solidFill>
              <a:srgbClr val="0B2E36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1234440" y="2468880"/>
            <a:ext cx="822960" cy="822960"/>
            <a:chOff x="0" y="0"/>
            <a:chExt cx="1097280" cy="109728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0972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97280">
                  <a:moveTo>
                    <a:pt x="0" y="548640"/>
                  </a:moveTo>
                  <a:cubicBezTo>
                    <a:pt x="0" y="245618"/>
                    <a:pt x="245618" y="0"/>
                    <a:pt x="548640" y="0"/>
                  </a:cubicBezTo>
                  <a:cubicBezTo>
                    <a:pt x="851662" y="0"/>
                    <a:pt x="1097280" y="245618"/>
                    <a:pt x="1097280" y="548640"/>
                  </a:cubicBezTo>
                  <a:cubicBezTo>
                    <a:pt x="1097280" y="851662"/>
                    <a:pt x="851662" y="1097280"/>
                    <a:pt x="548640" y="1097280"/>
                  </a:cubicBezTo>
                  <a:cubicBezTo>
                    <a:pt x="245618" y="1097280"/>
                    <a:pt x="0" y="851662"/>
                    <a:pt x="0" y="548640"/>
                  </a:cubicBezTo>
                  <a:close/>
                </a:path>
              </a:pathLst>
            </a:custGeom>
            <a:solidFill>
              <a:srgbClr val="5FB8B0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1333195" y="2567635"/>
            <a:ext cx="625450" cy="625450"/>
            <a:chOff x="0" y="0"/>
            <a:chExt cx="833933" cy="833933"/>
          </a:xfrm>
        </p:grpSpPr>
        <p:sp>
          <p:nvSpPr>
            <p:cNvPr name="Freeform 10" id="10" descr="preencoded.png"/>
            <p:cNvSpPr/>
            <p:nvPr/>
          </p:nvSpPr>
          <p:spPr>
            <a:xfrm flipH="false" flipV="false" rot="0">
              <a:off x="0" y="0"/>
              <a:ext cx="833882" cy="833882"/>
            </a:xfrm>
            <a:custGeom>
              <a:avLst/>
              <a:gdLst/>
              <a:ahLst/>
              <a:cxnLst/>
              <a:rect r="r" b="b" t="t" l="l"/>
              <a:pathLst>
                <a:path h="833882" w="833882">
                  <a:moveTo>
                    <a:pt x="0" y="0"/>
                  </a:moveTo>
                  <a:lnTo>
                    <a:pt x="833882" y="0"/>
                  </a:lnTo>
                  <a:lnTo>
                    <a:pt x="833882" y="833882"/>
                  </a:lnTo>
                  <a:lnTo>
                    <a:pt x="0" y="83388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6" b="-6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234440" y="3566160"/>
            <a:ext cx="4457700" cy="1371600"/>
            <a:chOff x="0" y="0"/>
            <a:chExt cx="5943600" cy="1828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943600" cy="1828800"/>
            </a:xfrm>
            <a:custGeom>
              <a:avLst/>
              <a:gdLst/>
              <a:ahLst/>
              <a:cxnLst/>
              <a:rect r="r" b="b" t="t" l="l"/>
              <a:pathLst>
                <a:path h="1828800" w="5943600">
                  <a:moveTo>
                    <a:pt x="0" y="0"/>
                  </a:moveTo>
                  <a:lnTo>
                    <a:pt x="5943600" y="0"/>
                  </a:lnTo>
                  <a:lnTo>
                    <a:pt x="594360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326" r="0" b="-13326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5943600" cy="18669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1"/>
                </a:lnSpc>
              </a:pPr>
              <a:r>
                <a:rPr lang="en-US" sz="2175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Multiprocessing broke in Jupyter on Windows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234440" y="5006340"/>
            <a:ext cx="4457700" cy="3703320"/>
            <a:chOff x="0" y="0"/>
            <a:chExt cx="5943600" cy="493776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5943600" cy="4937760"/>
            </a:xfrm>
            <a:custGeom>
              <a:avLst/>
              <a:gdLst/>
              <a:ahLst/>
              <a:cxnLst/>
              <a:rect r="r" b="b" t="t" l="l"/>
              <a:pathLst>
                <a:path h="4937760" w="5943600">
                  <a:moveTo>
                    <a:pt x="0" y="0"/>
                  </a:moveTo>
                  <a:lnTo>
                    <a:pt x="5943600" y="0"/>
                  </a:lnTo>
                  <a:lnTo>
                    <a:pt x="5943600" y="4937760"/>
                  </a:lnTo>
                  <a:lnTo>
                    <a:pt x="0" y="49377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6590" t="0" r="-56590" b="0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85725"/>
              <a:ext cx="5943600" cy="50234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87"/>
                </a:lnSpc>
              </a:pPr>
              <a:r>
                <a:rPr lang="en-US" sz="1725">
                  <a:solidFill>
                    <a:srgbClr val="EAF4F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Windows re-imports the parent script for each worker — caused infinite recursion. Fixed by moving the worker function into a standalone job_mp_worker.py module.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6487668" y="2057400"/>
            <a:ext cx="5280660" cy="6858000"/>
            <a:chOff x="0" y="0"/>
            <a:chExt cx="7040880" cy="91440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7040880" cy="9144000"/>
            </a:xfrm>
            <a:custGeom>
              <a:avLst/>
              <a:gdLst/>
              <a:ahLst/>
              <a:cxnLst/>
              <a:rect r="r" b="b" t="t" l="l"/>
              <a:pathLst>
                <a:path h="9144000" w="7040880">
                  <a:moveTo>
                    <a:pt x="0" y="164592"/>
                  </a:moveTo>
                  <a:cubicBezTo>
                    <a:pt x="0" y="73660"/>
                    <a:pt x="73660" y="0"/>
                    <a:pt x="164592" y="0"/>
                  </a:cubicBezTo>
                  <a:lnTo>
                    <a:pt x="6876288" y="0"/>
                  </a:lnTo>
                  <a:cubicBezTo>
                    <a:pt x="6967220" y="0"/>
                    <a:pt x="7040880" y="73660"/>
                    <a:pt x="7040880" y="164592"/>
                  </a:cubicBezTo>
                  <a:lnTo>
                    <a:pt x="7040880" y="8979408"/>
                  </a:lnTo>
                  <a:cubicBezTo>
                    <a:pt x="7040880" y="9070339"/>
                    <a:pt x="6967220" y="9144000"/>
                    <a:pt x="6876288" y="9144000"/>
                  </a:cubicBezTo>
                  <a:lnTo>
                    <a:pt x="164592" y="9144000"/>
                  </a:lnTo>
                  <a:cubicBezTo>
                    <a:pt x="73660" y="9144000"/>
                    <a:pt x="0" y="9070340"/>
                    <a:pt x="0" y="8979408"/>
                  </a:cubicBezTo>
                  <a:close/>
                </a:path>
              </a:pathLst>
            </a:custGeom>
            <a:solidFill>
              <a:srgbClr val="0B2E36"/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6899148" y="2468880"/>
            <a:ext cx="822960" cy="822960"/>
            <a:chOff x="0" y="0"/>
            <a:chExt cx="1097280" cy="109728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0972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97280">
                  <a:moveTo>
                    <a:pt x="0" y="548640"/>
                  </a:moveTo>
                  <a:cubicBezTo>
                    <a:pt x="0" y="245618"/>
                    <a:pt x="245618" y="0"/>
                    <a:pt x="548640" y="0"/>
                  </a:cubicBezTo>
                  <a:cubicBezTo>
                    <a:pt x="851662" y="0"/>
                    <a:pt x="1097280" y="245618"/>
                    <a:pt x="1097280" y="548640"/>
                  </a:cubicBezTo>
                  <a:cubicBezTo>
                    <a:pt x="1097280" y="851662"/>
                    <a:pt x="851662" y="1097280"/>
                    <a:pt x="548640" y="1097280"/>
                  </a:cubicBezTo>
                  <a:cubicBezTo>
                    <a:pt x="245618" y="1097280"/>
                    <a:pt x="0" y="851662"/>
                    <a:pt x="0" y="548640"/>
                  </a:cubicBezTo>
                  <a:close/>
                </a:path>
              </a:pathLst>
            </a:custGeom>
            <a:solidFill>
              <a:srgbClr val="5FB8B0"/>
            </a:solid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6997903" y="2567635"/>
            <a:ext cx="625450" cy="625450"/>
            <a:chOff x="0" y="0"/>
            <a:chExt cx="833933" cy="833933"/>
          </a:xfrm>
        </p:grpSpPr>
        <p:sp>
          <p:nvSpPr>
            <p:cNvPr name="Freeform 22" id="22" descr="preencoded.png"/>
            <p:cNvSpPr/>
            <p:nvPr/>
          </p:nvSpPr>
          <p:spPr>
            <a:xfrm flipH="false" flipV="false" rot="0">
              <a:off x="0" y="0"/>
              <a:ext cx="833882" cy="833882"/>
            </a:xfrm>
            <a:custGeom>
              <a:avLst/>
              <a:gdLst/>
              <a:ahLst/>
              <a:cxnLst/>
              <a:rect r="r" b="b" t="t" l="l"/>
              <a:pathLst>
                <a:path h="833882" w="833882">
                  <a:moveTo>
                    <a:pt x="0" y="0"/>
                  </a:moveTo>
                  <a:lnTo>
                    <a:pt x="833882" y="0"/>
                  </a:lnTo>
                  <a:lnTo>
                    <a:pt x="833882" y="833882"/>
                  </a:lnTo>
                  <a:lnTo>
                    <a:pt x="0" y="83388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-6" b="-6"/>
              </a:stretch>
            </a:blip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6899148" y="3566160"/>
            <a:ext cx="4457700" cy="1371600"/>
            <a:chOff x="0" y="0"/>
            <a:chExt cx="5943600" cy="18288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5943600" cy="1828800"/>
            </a:xfrm>
            <a:custGeom>
              <a:avLst/>
              <a:gdLst/>
              <a:ahLst/>
              <a:cxnLst/>
              <a:rect r="r" b="b" t="t" l="l"/>
              <a:pathLst>
                <a:path h="1828800" w="5943600">
                  <a:moveTo>
                    <a:pt x="0" y="0"/>
                  </a:moveTo>
                  <a:lnTo>
                    <a:pt x="5943600" y="0"/>
                  </a:lnTo>
                  <a:lnTo>
                    <a:pt x="594360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326" r="0" b="-13326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5943600" cy="18669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1"/>
                </a:lnSpc>
              </a:pPr>
              <a:r>
                <a:rPr lang="en-US" sz="2175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Multiprocessing was slower than baseline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6899148" y="5006340"/>
            <a:ext cx="4457700" cy="3703320"/>
            <a:chOff x="0" y="0"/>
            <a:chExt cx="5943600" cy="493776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5943600" cy="4937760"/>
            </a:xfrm>
            <a:custGeom>
              <a:avLst/>
              <a:gdLst/>
              <a:ahLst/>
              <a:cxnLst/>
              <a:rect r="r" b="b" t="t" l="l"/>
              <a:pathLst>
                <a:path h="4937760" w="5943600">
                  <a:moveTo>
                    <a:pt x="0" y="0"/>
                  </a:moveTo>
                  <a:lnTo>
                    <a:pt x="5943600" y="0"/>
                  </a:lnTo>
                  <a:lnTo>
                    <a:pt x="5943600" y="4937760"/>
                  </a:lnTo>
                  <a:lnTo>
                    <a:pt x="0" y="49377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6590" t="0" r="-56590" b="0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85725"/>
              <a:ext cx="5943600" cy="50234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87"/>
                </a:lnSpc>
              </a:pPr>
              <a:r>
                <a:rPr lang="en-US" sz="1725">
                  <a:solidFill>
                    <a:srgbClr val="EAF4F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Only 2 CPU cores available on Colab; splitting/copying chunks between processes cost more than the 2-core speed-up on this lightweight task (used ~104MB vs 62.5MB memory).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2152376" y="2057400"/>
            <a:ext cx="5280660" cy="6858000"/>
            <a:chOff x="0" y="0"/>
            <a:chExt cx="7040880" cy="91440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7040880" cy="9144000"/>
            </a:xfrm>
            <a:custGeom>
              <a:avLst/>
              <a:gdLst/>
              <a:ahLst/>
              <a:cxnLst/>
              <a:rect r="r" b="b" t="t" l="l"/>
              <a:pathLst>
                <a:path h="9144000" w="7040880">
                  <a:moveTo>
                    <a:pt x="0" y="164592"/>
                  </a:moveTo>
                  <a:cubicBezTo>
                    <a:pt x="0" y="73660"/>
                    <a:pt x="73660" y="0"/>
                    <a:pt x="164592" y="0"/>
                  </a:cubicBezTo>
                  <a:lnTo>
                    <a:pt x="6876288" y="0"/>
                  </a:lnTo>
                  <a:cubicBezTo>
                    <a:pt x="6967220" y="0"/>
                    <a:pt x="7040880" y="73660"/>
                    <a:pt x="7040880" y="164592"/>
                  </a:cubicBezTo>
                  <a:lnTo>
                    <a:pt x="7040880" y="8979408"/>
                  </a:lnTo>
                  <a:cubicBezTo>
                    <a:pt x="7040880" y="9070339"/>
                    <a:pt x="6967220" y="9144000"/>
                    <a:pt x="6876288" y="9144000"/>
                  </a:cubicBezTo>
                  <a:lnTo>
                    <a:pt x="164592" y="9144000"/>
                  </a:lnTo>
                  <a:cubicBezTo>
                    <a:pt x="73660" y="9144000"/>
                    <a:pt x="0" y="9070340"/>
                    <a:pt x="0" y="8979408"/>
                  </a:cubicBezTo>
                  <a:close/>
                </a:path>
              </a:pathLst>
            </a:custGeom>
            <a:solidFill>
              <a:srgbClr val="0B2E36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12563856" y="2468880"/>
            <a:ext cx="822960" cy="822960"/>
            <a:chOff x="0" y="0"/>
            <a:chExt cx="1097280" cy="109728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0972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97280">
                  <a:moveTo>
                    <a:pt x="0" y="548640"/>
                  </a:moveTo>
                  <a:cubicBezTo>
                    <a:pt x="0" y="245618"/>
                    <a:pt x="245618" y="0"/>
                    <a:pt x="548640" y="0"/>
                  </a:cubicBezTo>
                  <a:cubicBezTo>
                    <a:pt x="851662" y="0"/>
                    <a:pt x="1097280" y="245618"/>
                    <a:pt x="1097280" y="548640"/>
                  </a:cubicBezTo>
                  <a:cubicBezTo>
                    <a:pt x="1097280" y="851662"/>
                    <a:pt x="851662" y="1097280"/>
                    <a:pt x="548640" y="1097280"/>
                  </a:cubicBezTo>
                  <a:cubicBezTo>
                    <a:pt x="245618" y="1097280"/>
                    <a:pt x="0" y="851662"/>
                    <a:pt x="0" y="548640"/>
                  </a:cubicBezTo>
                  <a:close/>
                </a:path>
              </a:pathLst>
            </a:custGeom>
            <a:solidFill>
              <a:srgbClr val="5FB8B0"/>
            </a:solid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12662611" y="2567635"/>
            <a:ext cx="625450" cy="625450"/>
            <a:chOff x="0" y="0"/>
            <a:chExt cx="833933" cy="833933"/>
          </a:xfrm>
        </p:grpSpPr>
        <p:sp>
          <p:nvSpPr>
            <p:cNvPr name="Freeform 34" id="34" descr="preencoded.png"/>
            <p:cNvSpPr/>
            <p:nvPr/>
          </p:nvSpPr>
          <p:spPr>
            <a:xfrm flipH="false" flipV="false" rot="0">
              <a:off x="0" y="0"/>
              <a:ext cx="833882" cy="833882"/>
            </a:xfrm>
            <a:custGeom>
              <a:avLst/>
              <a:gdLst/>
              <a:ahLst/>
              <a:cxnLst/>
              <a:rect r="r" b="b" t="t" l="l"/>
              <a:pathLst>
                <a:path h="833882" w="833882">
                  <a:moveTo>
                    <a:pt x="0" y="0"/>
                  </a:moveTo>
                  <a:lnTo>
                    <a:pt x="833882" y="0"/>
                  </a:lnTo>
                  <a:lnTo>
                    <a:pt x="833882" y="833882"/>
                  </a:lnTo>
                  <a:lnTo>
                    <a:pt x="0" y="83388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-6" b="-6"/>
              </a:stretch>
            </a:blip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12563856" y="3566160"/>
            <a:ext cx="4457700" cy="1371600"/>
            <a:chOff x="0" y="0"/>
            <a:chExt cx="5943600" cy="182880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5943600" cy="1828800"/>
            </a:xfrm>
            <a:custGeom>
              <a:avLst/>
              <a:gdLst/>
              <a:ahLst/>
              <a:cxnLst/>
              <a:rect r="r" b="b" t="t" l="l"/>
              <a:pathLst>
                <a:path h="1828800" w="5943600">
                  <a:moveTo>
                    <a:pt x="0" y="0"/>
                  </a:moveTo>
                  <a:lnTo>
                    <a:pt x="5943600" y="0"/>
                  </a:lnTo>
                  <a:lnTo>
                    <a:pt x="594360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326" r="0" b="-13326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38100"/>
              <a:ext cx="5943600" cy="18669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1"/>
                </a:lnSpc>
              </a:pPr>
              <a:r>
                <a:rPr lang="en-US" sz="2175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CPU measurement was unreliable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12563856" y="5006340"/>
            <a:ext cx="4457700" cy="3703320"/>
            <a:chOff x="0" y="0"/>
            <a:chExt cx="5943600" cy="493776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5943600" cy="4937760"/>
            </a:xfrm>
            <a:custGeom>
              <a:avLst/>
              <a:gdLst/>
              <a:ahLst/>
              <a:cxnLst/>
              <a:rect r="r" b="b" t="t" l="l"/>
              <a:pathLst>
                <a:path h="4937760" w="5943600">
                  <a:moveTo>
                    <a:pt x="0" y="0"/>
                  </a:moveTo>
                  <a:lnTo>
                    <a:pt x="5943600" y="0"/>
                  </a:lnTo>
                  <a:lnTo>
                    <a:pt x="5943600" y="4937760"/>
                  </a:lnTo>
                  <a:lnTo>
                    <a:pt x="0" y="49377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6590" t="0" r="-56590" b="0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85725"/>
              <a:ext cx="5943600" cy="50234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87"/>
                </a:lnSpc>
              </a:pPr>
              <a:r>
                <a:rPr lang="en-US" sz="1725">
                  <a:solidFill>
                    <a:srgbClr val="EAF4F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psutil measures whole-machine usage, not per-worker; Colab's shared CPU caused inconsistent readings run to run (e.g. Pandas: 95–96% → 55–64% across trials).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685800" y="9710928"/>
            <a:ext cx="10972800" cy="411480"/>
            <a:chOff x="0" y="0"/>
            <a:chExt cx="14630400" cy="54864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14630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9601" r="0" b="-469601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28575"/>
              <a:ext cx="146304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5C727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Sparkling Sparkmind  |  SECP3133-02 High Performance Data Processing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17048988" y="9710928"/>
            <a:ext cx="685800" cy="411480"/>
            <a:chOff x="0" y="0"/>
            <a:chExt cx="914400" cy="54864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28575"/>
              <a:ext cx="9144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5C727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10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617220"/>
            <a:ext cx="16459200" cy="1097280"/>
            <a:chOff x="0" y="0"/>
            <a:chExt cx="21945600" cy="14630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9050"/>
              <a:ext cx="21945600" cy="14820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13262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Conclusion &amp; Future Work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22960" y="1508760"/>
            <a:ext cx="9601200" cy="548640"/>
            <a:chOff x="0" y="0"/>
            <a:chExt cx="12801600" cy="7315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2801600" cy="731520"/>
            </a:xfrm>
            <a:custGeom>
              <a:avLst/>
              <a:gdLst/>
              <a:ahLst/>
              <a:cxnLst/>
              <a:rect r="r" b="b" t="t" l="l"/>
              <a:pathLst>
                <a:path h="731520" w="12801600">
                  <a:moveTo>
                    <a:pt x="0" y="0"/>
                  </a:moveTo>
                  <a:lnTo>
                    <a:pt x="12801600" y="0"/>
                  </a:lnTo>
                  <a:lnTo>
                    <a:pt x="128016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0988" r="0" b="-290988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1280160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1326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Final Comparison (Table 7.2, 5-run average)</a:t>
              </a:r>
            </a:p>
          </p:txBody>
        </p:sp>
      </p:grpSp>
      <p:graphicFrame>
        <p:nvGraphicFramePr>
          <p:cNvPr name="Table 8" id="8"/>
          <p:cNvGraphicFramePr>
            <a:graphicFrameLocks noGrp="true"/>
          </p:cNvGraphicFramePr>
          <p:nvPr/>
        </p:nvGraphicFramePr>
        <p:xfrm>
          <a:off x="822960" y="2125980"/>
          <a:ext cx="9525000" cy="2514600"/>
        </p:xfrm>
        <a:graphic>
          <a:graphicData uri="http://schemas.openxmlformats.org/drawingml/2006/table">
            <a:tbl>
              <a:tblPr/>
              <a:tblGrid>
                <a:gridCol w="1905000"/>
                <a:gridCol w="1905000"/>
                <a:gridCol w="1905000"/>
                <a:gridCol w="1905000"/>
                <a:gridCol w="1905000"/>
              </a:tblGrid>
              <a:tr h="62865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70"/>
                        </a:lnSpc>
                        <a:defRPr/>
                      </a:pPr>
                      <a:r>
                        <a:rPr lang="en-US" sz="1725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Method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E3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70"/>
                        </a:lnSpc>
                        <a:defRPr/>
                      </a:pPr>
                      <a:r>
                        <a:rPr lang="en-US" sz="1725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Time (s)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E3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70"/>
                        </a:lnSpc>
                        <a:defRPr/>
                      </a:pPr>
                      <a:r>
                        <a:rPr lang="en-US" sz="1725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Memory (MB)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E3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70"/>
                        </a:lnSpc>
                        <a:defRPr/>
                      </a:pPr>
                      <a:r>
                        <a:rPr lang="en-US" sz="1725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CPU %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E3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70"/>
                        </a:lnSpc>
                        <a:defRPr/>
                      </a:pPr>
                      <a:r>
                        <a:rPr lang="en-US" sz="1725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Throughput (rows/s)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E36"/>
                    </a:solidFill>
                  </a:tcPr>
                </a:tc>
              </a:tr>
              <a:tr h="62865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70"/>
                        </a:lnSpc>
                        <a:defRPr/>
                      </a:pPr>
                      <a:r>
                        <a:rPr lang="en-US" sz="1725">
                          <a:solidFill>
                            <a:srgbClr val="13262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Pandas (Baseline)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70"/>
                        </a:lnSpc>
                        <a:defRPr/>
                      </a:pPr>
                      <a:r>
                        <a:rPr lang="en-US" sz="1725">
                          <a:solidFill>
                            <a:srgbClr val="13262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1.327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70"/>
                        </a:lnSpc>
                        <a:defRPr/>
                      </a:pPr>
                      <a:r>
                        <a:rPr lang="en-US" sz="1725">
                          <a:solidFill>
                            <a:srgbClr val="13262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62.5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70"/>
                        </a:lnSpc>
                        <a:defRPr/>
                      </a:pPr>
                      <a:r>
                        <a:rPr lang="en-US" sz="1725">
                          <a:solidFill>
                            <a:srgbClr val="13262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81.4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70"/>
                        </a:lnSpc>
                        <a:defRPr/>
                      </a:pPr>
                      <a:r>
                        <a:rPr lang="en-US" sz="1725">
                          <a:solidFill>
                            <a:srgbClr val="13262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87,734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865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70"/>
                        </a:lnSpc>
                        <a:defRPr/>
                      </a:pPr>
                      <a:r>
                        <a:rPr lang="en-US" sz="1725">
                          <a:solidFill>
                            <a:srgbClr val="13262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Multiprocessing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70"/>
                        </a:lnSpc>
                        <a:defRPr/>
                      </a:pPr>
                      <a:r>
                        <a:rPr lang="en-US" sz="1725">
                          <a:solidFill>
                            <a:srgbClr val="13262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1.697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70"/>
                        </a:lnSpc>
                        <a:defRPr/>
                      </a:pPr>
                      <a:r>
                        <a:rPr lang="en-US" sz="1725">
                          <a:solidFill>
                            <a:srgbClr val="13262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104.4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70"/>
                        </a:lnSpc>
                        <a:defRPr/>
                      </a:pPr>
                      <a:r>
                        <a:rPr lang="en-US" sz="1725">
                          <a:solidFill>
                            <a:srgbClr val="13262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59.0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70"/>
                        </a:lnSpc>
                        <a:defRPr/>
                      </a:pPr>
                      <a:r>
                        <a:rPr lang="en-US" sz="1725">
                          <a:solidFill>
                            <a:srgbClr val="13262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66,313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865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70"/>
                        </a:lnSpc>
                        <a:defRPr/>
                      </a:pPr>
                      <a:r>
                        <a:rPr lang="en-US" sz="1725" b="true">
                          <a:solidFill>
                            <a:srgbClr val="0F7A82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Polars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70"/>
                        </a:lnSpc>
                        <a:defRPr/>
                      </a:pPr>
                      <a:r>
                        <a:rPr lang="en-US" sz="1725" b="true">
                          <a:solidFill>
                            <a:srgbClr val="0F7A82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0.326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70"/>
                        </a:lnSpc>
                        <a:defRPr/>
                      </a:pPr>
                      <a:r>
                        <a:rPr lang="en-US" sz="1725" b="true">
                          <a:solidFill>
                            <a:srgbClr val="0F7A82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10.7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70"/>
                        </a:lnSpc>
                        <a:defRPr/>
                      </a:pPr>
                      <a:r>
                        <a:rPr lang="en-US" sz="1725" b="true">
                          <a:solidFill>
                            <a:srgbClr val="0F7A82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89.6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70"/>
                        </a:lnSpc>
                        <a:defRPr/>
                      </a:pPr>
                      <a:r>
                        <a:rPr lang="en-US" sz="1725" b="true">
                          <a:solidFill>
                            <a:srgbClr val="0F7A82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345,663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C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pSp>
        <p:nvGrpSpPr>
          <p:cNvPr name="Group 9" id="9"/>
          <p:cNvGrpSpPr/>
          <p:nvPr/>
        </p:nvGrpSpPr>
        <p:grpSpPr>
          <a:xfrm rot="0">
            <a:off x="822960" y="5006340"/>
            <a:ext cx="9601200" cy="1165860"/>
            <a:chOff x="0" y="0"/>
            <a:chExt cx="12801600" cy="155448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2801600" cy="1554480"/>
            </a:xfrm>
            <a:custGeom>
              <a:avLst/>
              <a:gdLst/>
              <a:ahLst/>
              <a:cxnLst/>
              <a:rect r="r" b="b" t="t" l="l"/>
              <a:pathLst>
                <a:path h="1554480" w="12801600">
                  <a:moveTo>
                    <a:pt x="0" y="0"/>
                  </a:moveTo>
                  <a:lnTo>
                    <a:pt x="12801600" y="0"/>
                  </a:lnTo>
                  <a:lnTo>
                    <a:pt x="12801600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0465" r="0" b="-110465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85725"/>
              <a:ext cx="12801600" cy="16402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1875" b="true">
                  <a:solidFill>
                    <a:srgbClr val="0F7A8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Polars wins: </a:t>
              </a:r>
              <a:r>
                <a:rPr lang="en-US" sz="1875">
                  <a:solidFill>
                    <a:srgbClr val="13262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~4× faster than Pandas, ~5× faster than multiprocessing, using far less memory — lazy evaluation + internal parallelization beats manual process-splitting.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0904220" y="1508760"/>
            <a:ext cx="6556248" cy="7612380"/>
            <a:chOff x="0" y="0"/>
            <a:chExt cx="8741664" cy="1014984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741664" cy="10149840"/>
            </a:xfrm>
            <a:custGeom>
              <a:avLst/>
              <a:gdLst/>
              <a:ahLst/>
              <a:cxnLst/>
              <a:rect r="r" b="b" t="t" l="l"/>
              <a:pathLst>
                <a:path h="10149840" w="8741664">
                  <a:moveTo>
                    <a:pt x="0" y="164592"/>
                  </a:moveTo>
                  <a:cubicBezTo>
                    <a:pt x="0" y="73660"/>
                    <a:pt x="73660" y="0"/>
                    <a:pt x="164592" y="0"/>
                  </a:cubicBezTo>
                  <a:lnTo>
                    <a:pt x="8577073" y="0"/>
                  </a:lnTo>
                  <a:cubicBezTo>
                    <a:pt x="8668004" y="0"/>
                    <a:pt x="8741664" y="73660"/>
                    <a:pt x="8741664" y="164592"/>
                  </a:cubicBezTo>
                  <a:lnTo>
                    <a:pt x="8741664" y="9985248"/>
                  </a:lnTo>
                  <a:cubicBezTo>
                    <a:pt x="8741664" y="10076180"/>
                    <a:pt x="8668004" y="10149840"/>
                    <a:pt x="8577073" y="10149840"/>
                  </a:cubicBezTo>
                  <a:lnTo>
                    <a:pt x="164592" y="10149840"/>
                  </a:lnTo>
                  <a:cubicBezTo>
                    <a:pt x="73660" y="10149840"/>
                    <a:pt x="0" y="10076180"/>
                    <a:pt x="0" y="9985248"/>
                  </a:cubicBezTo>
                  <a:close/>
                </a:path>
              </a:pathLst>
            </a:custGeom>
            <a:solidFill>
              <a:srgbClr val="0B2E36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1315700" y="1851660"/>
            <a:ext cx="685800" cy="685800"/>
            <a:chOff x="0" y="0"/>
            <a:chExt cx="914400" cy="9144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457200"/>
                  </a:moveTo>
                  <a:cubicBezTo>
                    <a:pt x="0" y="204724"/>
                    <a:pt x="204724" y="0"/>
                    <a:pt x="457200" y="0"/>
                  </a:cubicBezTo>
                  <a:cubicBezTo>
                    <a:pt x="709676" y="0"/>
                    <a:pt x="914400" y="204724"/>
                    <a:pt x="914400" y="457200"/>
                  </a:cubicBezTo>
                  <a:cubicBezTo>
                    <a:pt x="914400" y="709676"/>
                    <a:pt x="709676" y="914400"/>
                    <a:pt x="457200" y="914400"/>
                  </a:cubicBezTo>
                  <a:cubicBezTo>
                    <a:pt x="204724" y="914400"/>
                    <a:pt x="0" y="709676"/>
                    <a:pt x="0" y="457200"/>
                  </a:cubicBezTo>
                  <a:close/>
                </a:path>
              </a:pathLst>
            </a:custGeom>
            <a:solidFill>
              <a:srgbClr val="5FB8B0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1397996" y="1933956"/>
            <a:ext cx="521208" cy="521208"/>
            <a:chOff x="0" y="0"/>
            <a:chExt cx="694944" cy="694944"/>
          </a:xfrm>
        </p:grpSpPr>
        <p:sp>
          <p:nvSpPr>
            <p:cNvPr name="Freeform 17" id="17" descr="preencoded.png"/>
            <p:cNvSpPr/>
            <p:nvPr/>
          </p:nvSpPr>
          <p:spPr>
            <a:xfrm flipH="false" flipV="false" rot="0">
              <a:off x="0" y="0"/>
              <a:ext cx="694944" cy="694944"/>
            </a:xfrm>
            <a:custGeom>
              <a:avLst/>
              <a:gdLst/>
              <a:ahLst/>
              <a:cxnLst/>
              <a:rect r="r" b="b" t="t" l="l"/>
              <a:pathLst>
                <a:path h="694944" w="694944">
                  <a:moveTo>
                    <a:pt x="0" y="0"/>
                  </a:moveTo>
                  <a:lnTo>
                    <a:pt x="694944" y="0"/>
                  </a:lnTo>
                  <a:lnTo>
                    <a:pt x="694944" y="694944"/>
                  </a:lnTo>
                  <a:lnTo>
                    <a:pt x="0" y="6949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12207240" y="1851660"/>
            <a:ext cx="5074920" cy="685800"/>
            <a:chOff x="0" y="0"/>
            <a:chExt cx="6766560" cy="9144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6766560" cy="914400"/>
            </a:xfrm>
            <a:custGeom>
              <a:avLst/>
              <a:gdLst/>
              <a:ahLst/>
              <a:cxnLst/>
              <a:rect r="r" b="b" t="t" l="l"/>
              <a:pathLst>
                <a:path h="914400" w="6766560">
                  <a:moveTo>
                    <a:pt x="0" y="0"/>
                  </a:moveTo>
                  <a:lnTo>
                    <a:pt x="6766560" y="0"/>
                  </a:lnTo>
                  <a:lnTo>
                    <a:pt x="676656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4189" r="0" b="-94189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9525"/>
              <a:ext cx="6766560" cy="9239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Future Work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1315700" y="2811780"/>
            <a:ext cx="5897880" cy="5897880"/>
            <a:chOff x="0" y="0"/>
            <a:chExt cx="7863840" cy="786384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7863840" cy="7863840"/>
            </a:xfrm>
            <a:custGeom>
              <a:avLst/>
              <a:gdLst/>
              <a:ahLst/>
              <a:cxnLst/>
              <a:rect r="r" b="b" t="t" l="l"/>
              <a:pathLst>
                <a:path h="7863840" w="7863840">
                  <a:moveTo>
                    <a:pt x="0" y="0"/>
                  </a:moveTo>
                  <a:lnTo>
                    <a:pt x="7863840" y="0"/>
                  </a:lnTo>
                  <a:lnTo>
                    <a:pt x="7863840" y="7863840"/>
                  </a:lnTo>
                  <a:lnTo>
                    <a:pt x="0" y="7863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38100"/>
              <a:ext cx="7863840" cy="79019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339328" indent="-169664" lvl="1">
                <a:lnSpc>
                  <a:spcPts val="2250"/>
                </a:lnSpc>
                <a:buFont typeface="Arial"/>
                <a:buChar char="•"/>
              </a:pPr>
              <a:r>
                <a:rPr lang="en-US" sz="1875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Test with more CPU cores (4–8+) to give multiprocessing a fairer chance</a:t>
              </a:r>
            </a:p>
            <a:p>
              <a:pPr algn="l" marL="339328" indent="-169664" lvl="1">
                <a:lnSpc>
                  <a:spcPts val="2250"/>
                </a:lnSpc>
                <a:buFont typeface="Arial"/>
                <a:buChar char="•"/>
              </a:pPr>
              <a:r>
                <a:rPr lang="en-US" sz="1875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Benchmark a heavier per-row computation to reveal parallelism benefits</a:t>
              </a:r>
            </a:p>
            <a:p>
              <a:pPr algn="l" marL="339328" indent="-169664" lvl="1">
                <a:lnSpc>
                  <a:spcPts val="2250"/>
                </a:lnSpc>
                <a:buFont typeface="Arial"/>
                <a:buChar char="•"/>
              </a:pPr>
              <a:r>
                <a:rPr lang="en-US" sz="1875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Add async/threaded crawling to speed up the collection stage itself</a:t>
              </a:r>
            </a:p>
            <a:p>
              <a:pPr algn="l" marL="339328" indent="-169664" lvl="1">
                <a:lnSpc>
                  <a:spcPts val="2250"/>
                </a:lnSpc>
                <a:buFont typeface="Arial"/>
                <a:buChar char="•"/>
              </a:pPr>
              <a:r>
                <a:rPr lang="en-US" sz="1875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Measure CPU per worker process on a dedicated, non-shared machine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685800" y="9710928"/>
            <a:ext cx="10972800" cy="411480"/>
            <a:chOff x="0" y="0"/>
            <a:chExt cx="14630400" cy="54864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4630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9601" r="0" b="-469601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28575"/>
              <a:ext cx="146304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5C727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Sparkling Sparkmind  |  SECP3133-02 High Performance Data Processing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7048988" y="9710928"/>
            <a:ext cx="685800" cy="411480"/>
            <a:chOff x="0" y="0"/>
            <a:chExt cx="914400" cy="54864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28575"/>
              <a:ext cx="9144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5C727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11</a:t>
              </a:r>
            </a:p>
          </p:txBody>
        </p:sp>
      </p:grp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2E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4538960" y="-2194560"/>
            <a:ext cx="6858000" cy="6858000"/>
            <a:chOff x="0" y="0"/>
            <a:chExt cx="9144000" cy="9144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144000" cy="9144000"/>
            </a:xfrm>
            <a:custGeom>
              <a:avLst/>
              <a:gdLst/>
              <a:ahLst/>
              <a:cxnLst/>
              <a:rect r="r" b="b" t="t" l="l"/>
              <a:pathLst>
                <a:path h="9144000" w="9144000">
                  <a:moveTo>
                    <a:pt x="0" y="4572000"/>
                  </a:moveTo>
                  <a:cubicBezTo>
                    <a:pt x="0" y="2046986"/>
                    <a:pt x="2046986" y="0"/>
                    <a:pt x="4572000" y="0"/>
                  </a:cubicBezTo>
                  <a:cubicBezTo>
                    <a:pt x="7097014" y="0"/>
                    <a:pt x="9144000" y="2046986"/>
                    <a:pt x="9144000" y="4572000"/>
                  </a:cubicBezTo>
                  <a:cubicBezTo>
                    <a:pt x="9144000" y="7097014"/>
                    <a:pt x="7097014" y="9144000"/>
                    <a:pt x="4572000" y="9144000"/>
                  </a:cubicBezTo>
                  <a:cubicBezTo>
                    <a:pt x="2046986" y="9144000"/>
                    <a:pt x="0" y="7097014"/>
                    <a:pt x="0" y="4572000"/>
                  </a:cubicBezTo>
                  <a:close/>
                </a:path>
              </a:pathLst>
            </a:custGeom>
            <a:solidFill>
              <a:srgbClr val="123B44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-2468880" y="7132320"/>
            <a:ext cx="5760720" cy="5760720"/>
            <a:chOff x="0" y="0"/>
            <a:chExt cx="7680960" cy="768096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680960" cy="7680960"/>
            </a:xfrm>
            <a:custGeom>
              <a:avLst/>
              <a:gdLst/>
              <a:ahLst/>
              <a:cxnLst/>
              <a:rect r="r" b="b" t="t" l="l"/>
              <a:pathLst>
                <a:path h="7680960" w="7680960">
                  <a:moveTo>
                    <a:pt x="0" y="3840480"/>
                  </a:moveTo>
                  <a:cubicBezTo>
                    <a:pt x="0" y="1719453"/>
                    <a:pt x="1719453" y="0"/>
                    <a:pt x="3840480" y="0"/>
                  </a:cubicBezTo>
                  <a:cubicBezTo>
                    <a:pt x="5961507" y="0"/>
                    <a:pt x="7680960" y="1719453"/>
                    <a:pt x="7680960" y="3840480"/>
                  </a:cubicBezTo>
                  <a:cubicBezTo>
                    <a:pt x="7680960" y="5961507"/>
                    <a:pt x="5961507" y="7680960"/>
                    <a:pt x="3840480" y="7680960"/>
                  </a:cubicBezTo>
                  <a:cubicBezTo>
                    <a:pt x="1719453" y="7680960"/>
                    <a:pt x="0" y="5961507"/>
                    <a:pt x="0" y="3840480"/>
                  </a:cubicBezTo>
                  <a:close/>
                </a:path>
              </a:pathLst>
            </a:custGeom>
            <a:solidFill>
              <a:srgbClr val="123B44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8661654" y="2948940"/>
            <a:ext cx="960120" cy="960120"/>
            <a:chOff x="0" y="0"/>
            <a:chExt cx="1280160" cy="128016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28016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280160">
                  <a:moveTo>
                    <a:pt x="0" y="640080"/>
                  </a:moveTo>
                  <a:cubicBezTo>
                    <a:pt x="0" y="286512"/>
                    <a:pt x="286512" y="0"/>
                    <a:pt x="640080" y="0"/>
                  </a:cubicBezTo>
                  <a:cubicBezTo>
                    <a:pt x="993648" y="0"/>
                    <a:pt x="1280160" y="286512"/>
                    <a:pt x="1280160" y="640080"/>
                  </a:cubicBezTo>
                  <a:cubicBezTo>
                    <a:pt x="1280160" y="993648"/>
                    <a:pt x="993648" y="1280160"/>
                    <a:pt x="640080" y="1280160"/>
                  </a:cubicBezTo>
                  <a:cubicBezTo>
                    <a:pt x="286512" y="1280160"/>
                    <a:pt x="0" y="993648"/>
                    <a:pt x="0" y="640080"/>
                  </a:cubicBezTo>
                  <a:close/>
                </a:path>
              </a:pathLst>
            </a:custGeom>
            <a:solidFill>
              <a:srgbClr val="5FB8B0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8776868" y="3064154"/>
            <a:ext cx="729691" cy="729691"/>
            <a:chOff x="0" y="0"/>
            <a:chExt cx="972922" cy="972922"/>
          </a:xfrm>
        </p:grpSpPr>
        <p:sp>
          <p:nvSpPr>
            <p:cNvPr name="Freeform 9" id="9" descr="preencoded.png"/>
            <p:cNvSpPr/>
            <p:nvPr/>
          </p:nvSpPr>
          <p:spPr>
            <a:xfrm flipH="false" flipV="false" rot="0">
              <a:off x="0" y="0"/>
              <a:ext cx="972947" cy="972947"/>
            </a:xfrm>
            <a:custGeom>
              <a:avLst/>
              <a:gdLst/>
              <a:ahLst/>
              <a:cxnLst/>
              <a:rect r="r" b="b" t="t" l="l"/>
              <a:pathLst>
                <a:path h="972947" w="972947">
                  <a:moveTo>
                    <a:pt x="0" y="0"/>
                  </a:moveTo>
                  <a:lnTo>
                    <a:pt x="972947" y="0"/>
                  </a:lnTo>
                  <a:lnTo>
                    <a:pt x="972947" y="972947"/>
                  </a:lnTo>
                  <a:lnTo>
                    <a:pt x="0" y="9729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2" b="2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0" y="4114800"/>
            <a:ext cx="18283428" cy="1234440"/>
            <a:chOff x="0" y="0"/>
            <a:chExt cx="24377904" cy="164592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4377904" cy="1645920"/>
            </a:xfrm>
            <a:custGeom>
              <a:avLst/>
              <a:gdLst/>
              <a:ahLst/>
              <a:cxnLst/>
              <a:rect r="r" b="b" t="t" l="l"/>
              <a:pathLst>
                <a:path h="1645920" w="24377904">
                  <a:moveTo>
                    <a:pt x="0" y="0"/>
                  </a:moveTo>
                  <a:lnTo>
                    <a:pt x="24377904" y="0"/>
                  </a:lnTo>
                  <a:lnTo>
                    <a:pt x="24377904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38595" r="0" b="-238595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19050"/>
              <a:ext cx="24377904" cy="16649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7559"/>
                </a:lnSpc>
              </a:pPr>
              <a:r>
                <a:rPr lang="en-US" sz="63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Thank You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0" y="5143500"/>
            <a:ext cx="18283428" cy="685800"/>
            <a:chOff x="0" y="0"/>
            <a:chExt cx="24377904" cy="9144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4377904" cy="914400"/>
            </a:xfrm>
            <a:custGeom>
              <a:avLst/>
              <a:gdLst/>
              <a:ahLst/>
              <a:cxnLst/>
              <a:rect r="r" b="b" t="t" l="l"/>
              <a:pathLst>
                <a:path h="914400" w="24377904">
                  <a:moveTo>
                    <a:pt x="0" y="0"/>
                  </a:moveTo>
                  <a:lnTo>
                    <a:pt x="24377904" y="0"/>
                  </a:lnTo>
                  <a:lnTo>
                    <a:pt x="24377904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69471" r="0" b="-469471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57150"/>
              <a:ext cx="24377904" cy="9715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40"/>
                </a:lnSpc>
              </a:pPr>
              <a:r>
                <a:rPr lang="en-US" sz="2700" i="true">
                  <a:solidFill>
                    <a:srgbClr val="5FB8B0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Questions &amp; Discussion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0" y="9052560"/>
            <a:ext cx="18283428" cy="548640"/>
            <a:chOff x="0" y="0"/>
            <a:chExt cx="24377904" cy="73152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4377904" cy="731520"/>
            </a:xfrm>
            <a:custGeom>
              <a:avLst/>
              <a:gdLst/>
              <a:ahLst/>
              <a:cxnLst/>
              <a:rect r="r" b="b" t="t" l="l"/>
              <a:pathLst>
                <a:path h="731520" w="24377904">
                  <a:moveTo>
                    <a:pt x="0" y="0"/>
                  </a:moveTo>
                  <a:lnTo>
                    <a:pt x="24377904" y="0"/>
                  </a:lnTo>
                  <a:lnTo>
                    <a:pt x="24377904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599338" r="0" b="-599338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24377904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9FC4C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Group Sparkling Sparkmind  •  SECP3133-02 High Performance Data Processing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DAHPAVtVlJ8</dc:identifier>
  <dcterms:modified xsi:type="dcterms:W3CDTF">2011-08-01T06:04:30Z</dcterms:modified>
  <cp:revision>1</cp:revision>
  <dc:title>Presentation_Slides</dc:title>
</cp:coreProperties>
</file>